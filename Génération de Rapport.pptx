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5000"/>
              </a:lnSpc>
              <a:defRPr sz="7200" b="1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AF60A-713C-41BA-9788-4C493DDC0A9C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1"/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C08AF-84E6-4329-8E67-FEA434B47075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5000"/>
              </a:lnSpc>
              <a:defRPr sz="7200" b="1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4F6EE328-6AFF-436B-881F-213D56084544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2069A-09EE-4C7C-86A4-2314A404921D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EE7F1-171E-411F-96CA-A251A21496E7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2C98D-A273-4547-9B92-97D7769F71A6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7CD67-0644-446C-B2AD-1C09BF34F286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80828-6983-48AD-9E27-CBD3696F837E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EFB91-0324-450E-B17F-36DC0ECCE413}" type="datetimeFigureOut">
              <a:rPr lang="en-US" dirty="0"/>
              <a:t>10/30/2025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E0FA7-C445-42F7-AF66-A4F5A6FC8A9C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AC5C5-1A57-4420-8AFB-CE41693A794B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52E37674-C1BA-4107-9B06-6D4CAC3A3DF5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n-lt"/>
              </a:defRPr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fr-FR" sz="6000" dirty="0" smtClean="0"/>
              <a:t>Génération de Rapport</a:t>
            </a:r>
            <a:endParaRPr lang="fr-FR" sz="6000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 err="1" smtClean="0"/>
              <a:t>JasperReport</a:t>
            </a: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8144" y="5138522"/>
            <a:ext cx="2613792" cy="11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707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48827" y="116769"/>
            <a:ext cx="10058400" cy="925090"/>
          </a:xfrm>
        </p:spPr>
        <p:txBody>
          <a:bodyPr/>
          <a:lstStyle/>
          <a:p>
            <a:pPr algn="ctr"/>
            <a:r>
              <a:rPr lang="fr-FR" dirty="0" smtClean="0"/>
              <a:t>Générer des rapports</a:t>
            </a:r>
            <a:endParaRPr lang="fr-FR" dirty="0"/>
          </a:p>
        </p:txBody>
      </p:sp>
      <p:pic>
        <p:nvPicPr>
          <p:cNvPr id="5" name="Picture 2" descr="mhtml:file://C:\Users\TABpc\Desktop\IREPORT\Initiation%20à%20JasperReports%20-%20iReport%20-%20Présentation%20des%20concepts%20généraux%20-%20Club%20des%20décideurs%20et%20professionnels%20en%20Informatique.mht!http://jpg.developpez.com/bi/tutoriels/jasperreports/initiation/images/cycleDeVie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17986" y="1041859"/>
            <a:ext cx="8797159" cy="51625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39112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7467600" cy="939784"/>
          </a:xfrm>
        </p:spPr>
        <p:txBody>
          <a:bodyPr>
            <a:normAutofit/>
          </a:bodyPr>
          <a:lstStyle/>
          <a:p>
            <a:pPr algn="ctr"/>
            <a:r>
              <a:rPr lang="fr-FR" sz="4800" dirty="0"/>
              <a:t>Source de Données</a:t>
            </a:r>
          </a:p>
        </p:txBody>
      </p:sp>
      <p:pic>
        <p:nvPicPr>
          <p:cNvPr id="18434" name="Picture 2" descr="mhtml:file://C:\Users\TABpc\Desktop\IREPORT\Initiation%20à%20JasperReports%20-%20iReport%20-%20Présentation%20des%20concepts%20généraux%20-%20Club%20des%20décideurs%20et%20professionnels%20en%20Informatique.mht!http://jpg.developpez.com/bi/tutoriels/jasperreports/initiation/images/SourcesDeDonnees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81158" y="1285860"/>
            <a:ext cx="7786742" cy="500066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16577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/>
          <p:cNvSpPr txBox="1">
            <a:spLocks/>
          </p:cNvSpPr>
          <p:nvPr/>
        </p:nvSpPr>
        <p:spPr>
          <a:xfrm>
            <a:off x="3238480" y="500042"/>
            <a:ext cx="4714908" cy="571504"/>
          </a:xfrm>
          <a:prstGeom prst="rect">
            <a:avLst/>
          </a:prstGeom>
        </p:spPr>
        <p:txBody>
          <a:bodyPr vert="horz" anchor="b">
            <a:normAutofit fontScale="97500"/>
          </a:bodyPr>
          <a:lstStyle/>
          <a:p>
            <a:pPr algn="ctr" defTabSz="914400">
              <a:spcBef>
                <a:spcPct val="0"/>
              </a:spcBef>
              <a:defRPr/>
            </a:pPr>
            <a:r>
              <a:rPr lang="fr-FR" sz="3000" cap="small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ATELIER N° 1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>
              <a:lnSpc>
                <a:spcPct val="300000"/>
              </a:lnSpc>
            </a:pPr>
            <a:r>
              <a:rPr lang="fr-FR" dirty="0" smtClean="0"/>
              <a:t>Créer un rapport qui Afficher tous les enregistrements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60653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/>
          <p:cNvSpPr txBox="1">
            <a:spLocks/>
          </p:cNvSpPr>
          <p:nvPr/>
        </p:nvSpPr>
        <p:spPr>
          <a:xfrm>
            <a:off x="3238480" y="500042"/>
            <a:ext cx="4714908" cy="571504"/>
          </a:xfrm>
          <a:prstGeom prst="rect">
            <a:avLst/>
          </a:prstGeom>
        </p:spPr>
        <p:txBody>
          <a:bodyPr vert="horz" anchor="b">
            <a:normAutofit fontScale="97500"/>
          </a:bodyPr>
          <a:lstStyle/>
          <a:p>
            <a:pPr algn="ctr" defTabSz="914400">
              <a:spcBef>
                <a:spcPct val="0"/>
              </a:spcBef>
              <a:defRPr/>
            </a:pPr>
            <a:r>
              <a:rPr lang="fr-FR" sz="3000" cap="small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ATELIER N° 2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>
              <a:lnSpc>
                <a:spcPct val="300000"/>
              </a:lnSpc>
            </a:pPr>
            <a:r>
              <a:rPr lang="fr-FR" dirty="0" smtClean="0"/>
              <a:t>Créer un rapport qui Afficher le résultat d’une requête paramétrée.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37383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7467600" cy="654032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/>
              <a:t>ATELIER N° 3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981200" y="1357298"/>
            <a:ext cx="7467600" cy="4786346"/>
          </a:xfrm>
        </p:spPr>
        <p:txBody>
          <a:bodyPr>
            <a:normAutofit/>
          </a:bodyPr>
          <a:lstStyle/>
          <a:p>
            <a:pPr>
              <a:buNone/>
            </a:pPr>
            <a:endParaRPr lang="fr-FR" dirty="0" smtClean="0"/>
          </a:p>
          <a:p>
            <a:pPr algn="just">
              <a:lnSpc>
                <a:spcPct val="300000"/>
              </a:lnSpc>
              <a:buNone/>
            </a:pPr>
            <a:r>
              <a:rPr lang="fr-FR" dirty="0" smtClean="0"/>
              <a:t>    Charger un rapport à partir d’une application JAVA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24437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116770"/>
            <a:ext cx="10058400" cy="871202"/>
          </a:xfrm>
        </p:spPr>
        <p:txBody>
          <a:bodyPr/>
          <a:lstStyle/>
          <a:p>
            <a:pPr algn="ctr"/>
            <a:r>
              <a:rPr lang="fr-FR" dirty="0" smtClean="0"/>
              <a:t>Démarche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069848" y="1093075"/>
            <a:ext cx="10058400" cy="5507421"/>
          </a:xfrm>
        </p:spPr>
        <p:txBody>
          <a:bodyPr>
            <a:normAutofit fontScale="85000" lnSpcReduction="10000"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fr-FR" sz="1800" b="1" dirty="0" smtClean="0"/>
              <a:t>Création d’un projet </a:t>
            </a:r>
            <a:r>
              <a:rPr lang="fr-FR" sz="1800" b="1" dirty="0" err="1" smtClean="0"/>
              <a:t>Maven</a:t>
            </a:r>
            <a:endParaRPr lang="fr-FR" sz="1800" b="1" dirty="0" smtClean="0"/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fr-FR" sz="1800" b="1" dirty="0" smtClean="0"/>
              <a:t>Chargement de pilote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fr-FR" sz="1800" b="1" dirty="0" smtClean="0"/>
              <a:t>Création des classes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fr-FR" sz="1800" b="1" dirty="0" smtClean="0"/>
              <a:t>Etablissement </a:t>
            </a:r>
            <a:r>
              <a:rPr lang="fr-FR" sz="1800" b="1" dirty="0"/>
              <a:t>de la connexion avec la base de données.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fr-FR" sz="1800" b="1" dirty="0"/>
              <a:t>Chargement et compilation de l’état.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fr-FR" sz="1800" b="1" dirty="0"/>
              <a:t>Envoi de paramètres.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fr-FR" sz="1800" b="1" dirty="0"/>
              <a:t>Exécution de l’état.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fr-FR" sz="1800" b="1" dirty="0"/>
              <a:t>Création du rapport au format voulu.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fr-FR" sz="1800" b="1" dirty="0"/>
              <a:t>Ouverture de l’état.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endParaRPr lang="fr-FR" sz="1800" b="1" dirty="0"/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endParaRPr lang="fr-FR" sz="1800" b="1" dirty="0"/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endParaRPr lang="fr-FR" sz="1800" b="1" dirty="0"/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endParaRPr lang="fr-FR" sz="1800" b="1" dirty="0"/>
          </a:p>
        </p:txBody>
      </p:sp>
    </p:spTree>
    <p:extLst>
      <p:ext uri="{BB962C8B-B14F-4D97-AF65-F5344CB8AC3E}">
        <p14:creationId xmlns:p14="http://schemas.microsoft.com/office/powerpoint/2010/main" val="2283324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95362" y="0"/>
            <a:ext cx="10058400" cy="1609344"/>
          </a:xfrm>
        </p:spPr>
        <p:txBody>
          <a:bodyPr>
            <a:normAutofit/>
          </a:bodyPr>
          <a:lstStyle/>
          <a:p>
            <a:pPr algn="ctr"/>
            <a:r>
              <a:rPr lang="fr-FR" sz="4000" dirty="0" smtClean="0"/>
              <a:t>Chargement, Compilation et exécution du rapport</a:t>
            </a:r>
            <a:endParaRPr lang="fr-FR" sz="4000" dirty="0"/>
          </a:p>
        </p:txBody>
      </p:sp>
      <p:sp>
        <p:nvSpPr>
          <p:cNvPr id="4" name="Rectangle 3"/>
          <p:cNvSpPr/>
          <p:nvPr/>
        </p:nvSpPr>
        <p:spPr>
          <a:xfrm>
            <a:off x="2274309" y="1229039"/>
            <a:ext cx="8572560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dirty="0"/>
              <a:t> </a:t>
            </a:r>
            <a:r>
              <a:rPr lang="fr-FR" sz="1400" b="1" u="sng" dirty="0">
                <a:solidFill>
                  <a:srgbClr val="FF0000"/>
                </a:solidFill>
              </a:rPr>
              <a:t>// Chargement et compilation du rapport</a:t>
            </a:r>
          </a:p>
          <a:p>
            <a:endParaRPr lang="fr-FR" sz="1400" dirty="0"/>
          </a:p>
          <a:p>
            <a:r>
              <a:rPr lang="fr-FR" sz="1400" b="1" dirty="0"/>
              <a:t>            </a:t>
            </a:r>
            <a:r>
              <a:rPr lang="fr-FR" sz="1400" b="1" dirty="0" err="1"/>
              <a:t>JasperDesign</a:t>
            </a:r>
            <a:r>
              <a:rPr lang="fr-FR" sz="1400" b="1" dirty="0"/>
              <a:t> </a:t>
            </a:r>
            <a:r>
              <a:rPr lang="fr-FR" sz="1400" b="1" dirty="0" err="1"/>
              <a:t>jasperDesign</a:t>
            </a:r>
            <a:r>
              <a:rPr lang="fr-FR" sz="1400" b="1" dirty="0"/>
              <a:t> = </a:t>
            </a:r>
            <a:r>
              <a:rPr lang="fr-FR" sz="1400" b="1" dirty="0" err="1"/>
              <a:t>JRXmlLoader.load</a:t>
            </a:r>
            <a:r>
              <a:rPr lang="fr-FR" sz="1400" b="1" dirty="0"/>
              <a:t>("</a:t>
            </a:r>
            <a:r>
              <a:rPr lang="fr-FR" sz="1400" b="1" dirty="0" err="1"/>
              <a:t>rapport.jrxml</a:t>
            </a:r>
            <a:r>
              <a:rPr lang="fr-FR" sz="1400" b="1" dirty="0"/>
              <a:t>");</a:t>
            </a:r>
          </a:p>
          <a:p>
            <a:r>
              <a:rPr lang="fr-FR" sz="1400" b="1" dirty="0"/>
              <a:t>            </a:t>
            </a:r>
            <a:r>
              <a:rPr lang="fr-FR" sz="1400" b="1" dirty="0" err="1"/>
              <a:t>JasperReport</a:t>
            </a:r>
            <a:r>
              <a:rPr lang="fr-FR" sz="1400" b="1" dirty="0"/>
              <a:t> </a:t>
            </a:r>
            <a:r>
              <a:rPr lang="fr-FR" sz="1400" b="1" dirty="0" err="1"/>
              <a:t>jasperReport</a:t>
            </a:r>
            <a:r>
              <a:rPr lang="fr-FR" sz="1400" b="1" dirty="0"/>
              <a:t> = </a:t>
            </a:r>
            <a:r>
              <a:rPr lang="fr-FR" sz="1400" b="1" dirty="0" err="1"/>
              <a:t>JasperCompileManager.compileReport</a:t>
            </a:r>
            <a:r>
              <a:rPr lang="fr-FR" sz="1400" b="1" dirty="0"/>
              <a:t>(</a:t>
            </a:r>
            <a:r>
              <a:rPr lang="fr-FR" sz="1400" b="1" dirty="0" err="1"/>
              <a:t>jasperDesign</a:t>
            </a:r>
            <a:r>
              <a:rPr lang="fr-FR" sz="1400" b="1" dirty="0"/>
              <a:t>);</a:t>
            </a:r>
          </a:p>
          <a:p>
            <a:r>
              <a:rPr lang="fr-FR" sz="1400" dirty="0"/>
              <a:t>            </a:t>
            </a:r>
          </a:p>
          <a:p>
            <a:r>
              <a:rPr lang="fr-FR" sz="1400" b="1" u="sng" dirty="0">
                <a:solidFill>
                  <a:srgbClr val="FF0000"/>
                </a:solidFill>
              </a:rPr>
              <a:t>// Paramètres à envoyer au rapport</a:t>
            </a:r>
          </a:p>
          <a:p>
            <a:r>
              <a:rPr lang="fr-FR" sz="1400" b="1" dirty="0"/>
              <a:t>          </a:t>
            </a:r>
            <a:r>
              <a:rPr lang="fr-FR" sz="1400" b="1" dirty="0" err="1"/>
              <a:t>Map</a:t>
            </a:r>
            <a:r>
              <a:rPr lang="fr-FR" sz="1400" b="1" dirty="0"/>
              <a:t> </a:t>
            </a:r>
            <a:r>
              <a:rPr lang="fr-FR" sz="1400" b="1" dirty="0" err="1"/>
              <a:t>parameters</a:t>
            </a:r>
            <a:r>
              <a:rPr lang="fr-FR" sz="1400" b="1" dirty="0"/>
              <a:t> = new </a:t>
            </a:r>
            <a:r>
              <a:rPr lang="fr-FR" sz="1400" b="1" dirty="0" err="1"/>
              <a:t>HashMap</a:t>
            </a:r>
            <a:r>
              <a:rPr lang="fr-FR" sz="1400" b="1" dirty="0"/>
              <a:t>();</a:t>
            </a:r>
          </a:p>
          <a:p>
            <a:r>
              <a:rPr lang="fr-FR" sz="1400" b="1" dirty="0"/>
              <a:t>           </a:t>
            </a:r>
            <a:r>
              <a:rPr lang="fr-FR" sz="1400" b="1" dirty="0" err="1"/>
              <a:t>parameters.put</a:t>
            </a:r>
            <a:r>
              <a:rPr lang="fr-FR" sz="1400" b="1" dirty="0"/>
              <a:t>("</a:t>
            </a:r>
            <a:r>
              <a:rPr lang="fr-FR" sz="1400" b="1" dirty="0" err="1"/>
              <a:t>mat",mat</a:t>
            </a:r>
            <a:r>
              <a:rPr lang="fr-FR" sz="1400" b="1" dirty="0"/>
              <a:t>));</a:t>
            </a:r>
          </a:p>
          <a:p>
            <a:endParaRPr lang="fr-FR" sz="1400" dirty="0"/>
          </a:p>
          <a:p>
            <a:r>
              <a:rPr lang="fr-FR" sz="1400" b="1" u="sng" dirty="0">
                <a:solidFill>
                  <a:srgbClr val="FF0000"/>
                </a:solidFill>
              </a:rPr>
              <a:t>// Exécution du rapport</a:t>
            </a:r>
          </a:p>
          <a:p>
            <a:endParaRPr lang="fr-FR" sz="1400" dirty="0"/>
          </a:p>
          <a:p>
            <a:r>
              <a:rPr lang="fr-FR" sz="1400" dirty="0"/>
              <a:t>       </a:t>
            </a:r>
            <a:r>
              <a:rPr lang="fr-FR" sz="1200" b="1" dirty="0" err="1"/>
              <a:t>JasperPrint</a:t>
            </a:r>
            <a:r>
              <a:rPr lang="fr-FR" sz="1200" b="1" dirty="0"/>
              <a:t> </a:t>
            </a:r>
            <a:r>
              <a:rPr lang="fr-FR" sz="1200" b="1" dirty="0" err="1"/>
              <a:t>jasperPrint</a:t>
            </a:r>
            <a:r>
              <a:rPr lang="fr-FR" sz="1200" b="1" dirty="0"/>
              <a:t> = </a:t>
            </a:r>
            <a:r>
              <a:rPr lang="fr-FR" sz="1050" b="1" dirty="0" err="1"/>
              <a:t>JasperFillManager.fillReport</a:t>
            </a:r>
            <a:r>
              <a:rPr lang="fr-FR" sz="1050" b="1" dirty="0"/>
              <a:t>(</a:t>
            </a:r>
            <a:r>
              <a:rPr lang="fr-FR" sz="1050" b="1" dirty="0" err="1"/>
              <a:t>jasperReport</a:t>
            </a:r>
            <a:r>
              <a:rPr lang="fr-FR" sz="1050" b="1" dirty="0"/>
              <a:t>, </a:t>
            </a:r>
            <a:r>
              <a:rPr lang="fr-FR" sz="1050" b="1" dirty="0" err="1"/>
              <a:t>parameters</a:t>
            </a:r>
            <a:r>
              <a:rPr lang="fr-FR" sz="1050" b="1" dirty="0"/>
              <a:t>, </a:t>
            </a:r>
            <a:r>
              <a:rPr lang="fr-FR" sz="1050" b="1" dirty="0" err="1"/>
              <a:t>cnx.geton</a:t>
            </a:r>
            <a:r>
              <a:rPr lang="fr-FR" sz="1050" b="1" dirty="0"/>
              <a:t>());</a:t>
            </a:r>
          </a:p>
          <a:p>
            <a:endParaRPr lang="fr-FR" sz="1400" dirty="0"/>
          </a:p>
          <a:p>
            <a:r>
              <a:rPr lang="fr-FR" sz="1400" b="1" u="sng" dirty="0">
                <a:solidFill>
                  <a:srgbClr val="FF0000"/>
                </a:solidFill>
              </a:rPr>
              <a:t>// Création du rapport au format PDF</a:t>
            </a:r>
          </a:p>
          <a:p>
            <a:endParaRPr lang="fr-FR" sz="1400" dirty="0"/>
          </a:p>
          <a:p>
            <a:r>
              <a:rPr lang="fr-FR" sz="1400" dirty="0"/>
              <a:t>            </a:t>
            </a:r>
            <a:r>
              <a:rPr lang="fr-FR" sz="1400" b="1" dirty="0" err="1"/>
              <a:t>JasperExportManager.exportReportToPdfFile</a:t>
            </a:r>
            <a:r>
              <a:rPr lang="fr-FR" sz="1400" b="1" dirty="0"/>
              <a:t>(</a:t>
            </a:r>
            <a:r>
              <a:rPr lang="fr-FR" sz="1400" b="1" dirty="0" err="1"/>
              <a:t>jasperPrint</a:t>
            </a:r>
            <a:r>
              <a:rPr lang="fr-FR" sz="1400" b="1" dirty="0"/>
              <a:t>, "etat.pdf");</a:t>
            </a:r>
          </a:p>
          <a:p>
            <a:pPr algn="ctr"/>
            <a:endParaRPr lang="fr-FR" sz="1400" b="1" dirty="0"/>
          </a:p>
          <a:p>
            <a:r>
              <a:rPr lang="fr-FR" sz="1400" b="1" u="sng" dirty="0">
                <a:solidFill>
                  <a:srgbClr val="FF0000"/>
                </a:solidFill>
              </a:rPr>
              <a:t>// Ouverture du rapport</a:t>
            </a:r>
          </a:p>
          <a:p>
            <a:endParaRPr lang="fr-FR" sz="1400" b="1" dirty="0"/>
          </a:p>
          <a:p>
            <a:r>
              <a:rPr lang="fr-FR" sz="1400" b="1" dirty="0" err="1"/>
              <a:t>Runtime.getRuntime</a:t>
            </a:r>
            <a:r>
              <a:rPr lang="fr-FR" sz="1400" b="1" dirty="0"/>
              <a:t>().</a:t>
            </a:r>
            <a:r>
              <a:rPr lang="fr-FR" sz="1400" b="1" dirty="0" err="1"/>
              <a:t>exec</a:t>
            </a:r>
            <a:r>
              <a:rPr lang="fr-FR" sz="1400" b="1" dirty="0"/>
              <a:t>("</a:t>
            </a:r>
            <a:r>
              <a:rPr lang="fr-FR" sz="900" b="1" dirty="0"/>
              <a:t>C:/Program Files/Adobe/Acrobat8.0/Acrobat/Acrobat.exe </a:t>
            </a:r>
            <a:r>
              <a:rPr lang="fr-FR" sz="1400" b="1" dirty="0"/>
              <a:t>etat.pdf");</a:t>
            </a:r>
          </a:p>
          <a:p>
            <a:endParaRPr lang="fr-FR" sz="1400" b="1" dirty="0"/>
          </a:p>
          <a:p>
            <a:r>
              <a:rPr lang="fr-FR" sz="1400" b="1" dirty="0"/>
              <a:t>Ou bien</a:t>
            </a:r>
          </a:p>
          <a:p>
            <a:pPr>
              <a:lnSpc>
                <a:spcPct val="300000"/>
              </a:lnSpc>
            </a:pPr>
            <a:r>
              <a:rPr lang="fr-FR" sz="1400" b="1" dirty="0"/>
              <a:t>Desktop </a:t>
            </a:r>
            <a:r>
              <a:rPr lang="fr-FR" sz="1400" b="1" dirty="0" err="1"/>
              <a:t>run</a:t>
            </a:r>
            <a:r>
              <a:rPr lang="fr-FR" sz="1400" b="1" dirty="0"/>
              <a:t> = </a:t>
            </a:r>
            <a:r>
              <a:rPr lang="fr-FR" sz="1400" b="1" dirty="0" err="1"/>
              <a:t>Desktop.getDesktop</a:t>
            </a:r>
            <a:r>
              <a:rPr lang="fr-FR" sz="1400" b="1" dirty="0"/>
              <a:t>(); </a:t>
            </a:r>
            <a:r>
              <a:rPr lang="fr-FR" sz="1400" b="1" dirty="0" err="1"/>
              <a:t>run.open</a:t>
            </a:r>
            <a:r>
              <a:rPr lang="fr-FR" sz="1400" b="1" dirty="0"/>
              <a:t>(</a:t>
            </a:r>
            <a:r>
              <a:rPr lang="fr-FR" sz="1400" b="1" dirty="0">
                <a:solidFill>
                  <a:srgbClr val="0000FF"/>
                </a:solidFill>
              </a:rPr>
              <a:t>new</a:t>
            </a:r>
            <a:r>
              <a:rPr lang="fr-FR" sz="1400" b="1" dirty="0"/>
              <a:t> File(</a:t>
            </a:r>
            <a:r>
              <a:rPr lang="fr-FR" sz="1400" b="1" dirty="0">
                <a:solidFill>
                  <a:srgbClr val="FF0000"/>
                </a:solidFill>
              </a:rPr>
              <a:t>"MonFichier.pdf"</a:t>
            </a:r>
            <a:r>
              <a:rPr lang="fr-FR" sz="1400" b="1" dirty="0"/>
              <a:t>));</a:t>
            </a:r>
          </a:p>
          <a:p>
            <a:endParaRPr lang="fr-FR" sz="1400" b="1" dirty="0"/>
          </a:p>
          <a:p>
            <a:endParaRPr lang="fr-FR" sz="1400" b="1" dirty="0"/>
          </a:p>
          <a:p>
            <a:r>
              <a:rPr lang="fr-FR" sz="1400" dirty="0"/>
              <a:t>            </a:t>
            </a:r>
          </a:p>
        </p:txBody>
      </p:sp>
    </p:spTree>
    <p:extLst>
      <p:ext uri="{BB962C8B-B14F-4D97-AF65-F5344CB8AC3E}">
        <p14:creationId xmlns:p14="http://schemas.microsoft.com/office/powerpoint/2010/main" val="1968691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 descr="Piste de course bleue">
            <a:extLst>
              <a:ext uri="{FF2B5EF4-FFF2-40B4-BE49-F238E27FC236}">
                <a16:creationId xmlns:a16="http://schemas.microsoft.com/office/drawing/2014/main" id="{1D373385-B96A-EE3F-AB28-9B5E6DE1C09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06" r="19963" b="-1"/>
          <a:stretch/>
        </p:blipFill>
        <p:spPr>
          <a:xfrm>
            <a:off x="1" y="2"/>
            <a:ext cx="6095695" cy="6857997"/>
          </a:xfrm>
          <a:custGeom>
            <a:avLst/>
            <a:gdLst/>
            <a:ahLst/>
            <a:cxnLst/>
            <a:rect l="l" t="t" r="r" b="b"/>
            <a:pathLst>
              <a:path w="6095695" h="6857997">
                <a:moveTo>
                  <a:pt x="3435036" y="0"/>
                </a:moveTo>
                <a:lnTo>
                  <a:pt x="4198562" y="0"/>
                </a:lnTo>
                <a:lnTo>
                  <a:pt x="4365987" y="128761"/>
                </a:lnTo>
                <a:cubicBezTo>
                  <a:pt x="5422363" y="981944"/>
                  <a:pt x="6095695" y="2273123"/>
                  <a:pt x="6095695" y="3718209"/>
                </a:cubicBezTo>
                <a:cubicBezTo>
                  <a:pt x="6095695" y="4922447"/>
                  <a:pt x="5628104" y="6019805"/>
                  <a:pt x="4860911" y="6845880"/>
                </a:cubicBezTo>
                <a:lnTo>
                  <a:pt x="4849107" y="6857997"/>
                </a:lnTo>
                <a:lnTo>
                  <a:pt x="4253869" y="6857997"/>
                </a:lnTo>
                <a:lnTo>
                  <a:pt x="4409441" y="6719623"/>
                </a:lnTo>
                <a:cubicBezTo>
                  <a:pt x="5194330" y="5951494"/>
                  <a:pt x="5679794" y="4890334"/>
                  <a:pt x="5679794" y="3718209"/>
                </a:cubicBezTo>
                <a:cubicBezTo>
                  <a:pt x="5679794" y="2179795"/>
                  <a:pt x="4843506" y="832535"/>
                  <a:pt x="3591563" y="88079"/>
                </a:cubicBezTo>
                <a:close/>
                <a:moveTo>
                  <a:pt x="0" y="0"/>
                </a:moveTo>
                <a:lnTo>
                  <a:pt x="3177466" y="0"/>
                </a:lnTo>
                <a:lnTo>
                  <a:pt x="3353291" y="88129"/>
                </a:lnTo>
                <a:cubicBezTo>
                  <a:pt x="4668281" y="787221"/>
                  <a:pt x="5560965" y="2150692"/>
                  <a:pt x="5560965" y="3718209"/>
                </a:cubicBezTo>
                <a:cubicBezTo>
                  <a:pt x="5560965" y="4858221"/>
                  <a:pt x="5088802" y="5890308"/>
                  <a:pt x="4325417" y="6637392"/>
                </a:cubicBezTo>
                <a:lnTo>
                  <a:pt x="4077394" y="6857997"/>
                </a:lnTo>
                <a:lnTo>
                  <a:pt x="0" y="6857997"/>
                </a:lnTo>
                <a:close/>
              </a:path>
            </a:pathLst>
          </a:cu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008" y="782201"/>
            <a:ext cx="5402316" cy="466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577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Fichier </a:t>
            </a:r>
            <a:r>
              <a:rPr lang="fr-FR" dirty="0" err="1"/>
              <a:t>report.jrxml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fr-FR" sz="2800" dirty="0"/>
              <a:t>Crée un fichier </a:t>
            </a:r>
            <a:r>
              <a:rPr lang="fr-FR" sz="2800" dirty="0" err="1"/>
              <a:t>employee_report.jrxml</a:t>
            </a:r>
            <a:r>
              <a:rPr lang="fr-FR" sz="2800" dirty="0"/>
              <a:t> dans </a:t>
            </a:r>
            <a:r>
              <a:rPr lang="fr-FR" sz="2800" dirty="0" err="1"/>
              <a:t>src</a:t>
            </a:r>
            <a:r>
              <a:rPr lang="fr-FR" sz="2800" dirty="0"/>
              <a:t>/main/</a:t>
            </a:r>
            <a:r>
              <a:rPr lang="fr-FR" sz="2800" dirty="0" err="1"/>
              <a:t>resources</a:t>
            </a:r>
            <a:r>
              <a:rPr lang="fr-FR" sz="2800" dirty="0"/>
              <a:t>/reports/.</a:t>
            </a:r>
          </a:p>
        </p:txBody>
      </p:sp>
    </p:spTree>
    <p:extLst>
      <p:ext uri="{BB962C8B-B14F-4D97-AF65-F5344CB8AC3E}">
        <p14:creationId xmlns:p14="http://schemas.microsoft.com/office/powerpoint/2010/main" val="38078129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dépendance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66306" y="2493819"/>
            <a:ext cx="8229600" cy="319446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96873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73852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Service Jasper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61901" y="1413164"/>
            <a:ext cx="10307782" cy="485700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499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Mise à jour du contrôleur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84415" y="2093976"/>
            <a:ext cx="9120249" cy="422369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62189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Test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3600" b="1" dirty="0"/>
              <a:t>http://</a:t>
            </a:r>
            <a:r>
              <a:rPr lang="fr-FR" sz="3600" b="1" dirty="0" smtClean="0"/>
              <a:t>localhost:8081/api/employe/report</a:t>
            </a:r>
            <a:endParaRPr lang="fr-FR" sz="3600" b="1" dirty="0"/>
          </a:p>
        </p:txBody>
      </p:sp>
    </p:spTree>
    <p:extLst>
      <p:ext uri="{BB962C8B-B14F-4D97-AF65-F5344CB8AC3E}">
        <p14:creationId xmlns:p14="http://schemas.microsoft.com/office/powerpoint/2010/main" val="3215662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ype de bois">
  <a:themeElements>
    <a:clrScheme name="Wood Type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Wood Type">
      <a:maj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C6AE0645-98FF-411B-B0E9-59ABD78A0CC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Type de bois</Template>
  <TotalTime>101</TotalTime>
  <Words>220</Words>
  <Application>Microsoft Office PowerPoint</Application>
  <PresentationFormat>Grand écran</PresentationFormat>
  <Paragraphs>57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Georgia</vt:lpstr>
      <vt:lpstr>Trebuchet MS</vt:lpstr>
      <vt:lpstr>Wingdings</vt:lpstr>
      <vt:lpstr>Type de bois</vt:lpstr>
      <vt:lpstr>Génération de Rapport</vt:lpstr>
      <vt:lpstr>Générer des rapports</vt:lpstr>
      <vt:lpstr>Source de Données</vt:lpstr>
      <vt:lpstr>Présentation PowerPoint</vt:lpstr>
      <vt:lpstr>Présentation PowerPoint</vt:lpstr>
      <vt:lpstr>ATELIER N° 3</vt:lpstr>
      <vt:lpstr>Démarche</vt:lpstr>
      <vt:lpstr>Chargement, Compilation et exécution du rapport</vt:lpstr>
      <vt:lpstr>Présentation PowerPoint</vt:lpstr>
      <vt:lpstr>Fichier report.jrxml</vt:lpstr>
      <vt:lpstr>dépendance</vt:lpstr>
      <vt:lpstr>Service Jasper</vt:lpstr>
      <vt:lpstr>Mise à jour du contrôleur</vt:lpstr>
      <vt:lpstr>Test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Génération de Rapport</dc:title>
  <dc:creator>admin</dc:creator>
  <cp:lastModifiedBy>admin</cp:lastModifiedBy>
  <cp:revision>4</cp:revision>
  <dcterms:created xsi:type="dcterms:W3CDTF">2025-10-30T07:20:42Z</dcterms:created>
  <dcterms:modified xsi:type="dcterms:W3CDTF">2025-10-30T09:02:06Z</dcterms:modified>
</cp:coreProperties>
</file>