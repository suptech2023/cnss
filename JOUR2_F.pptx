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82"/>
  </p:notesMasterIdLst>
  <p:sldIdLst>
    <p:sldId id="256" r:id="rId2"/>
    <p:sldId id="279" r:id="rId3"/>
    <p:sldId id="529" r:id="rId4"/>
    <p:sldId id="364" r:id="rId5"/>
    <p:sldId id="530" r:id="rId6"/>
    <p:sldId id="365" r:id="rId7"/>
    <p:sldId id="366" r:id="rId8"/>
    <p:sldId id="367" r:id="rId9"/>
    <p:sldId id="368" r:id="rId10"/>
    <p:sldId id="369" r:id="rId11"/>
    <p:sldId id="531" r:id="rId12"/>
    <p:sldId id="370" r:id="rId13"/>
    <p:sldId id="371" r:id="rId14"/>
    <p:sldId id="372" r:id="rId15"/>
    <p:sldId id="373" r:id="rId16"/>
    <p:sldId id="374" r:id="rId17"/>
    <p:sldId id="375" r:id="rId18"/>
    <p:sldId id="376" r:id="rId19"/>
    <p:sldId id="377" r:id="rId20"/>
    <p:sldId id="378" r:id="rId21"/>
    <p:sldId id="379" r:id="rId22"/>
    <p:sldId id="380" r:id="rId23"/>
    <p:sldId id="381" r:id="rId24"/>
    <p:sldId id="297" r:id="rId25"/>
    <p:sldId id="382" r:id="rId26"/>
    <p:sldId id="383" r:id="rId27"/>
    <p:sldId id="384" r:id="rId28"/>
    <p:sldId id="386" r:id="rId29"/>
    <p:sldId id="387" r:id="rId30"/>
    <p:sldId id="388" r:id="rId31"/>
    <p:sldId id="325" r:id="rId32"/>
    <p:sldId id="326" r:id="rId33"/>
    <p:sldId id="327" r:id="rId34"/>
    <p:sldId id="328" r:id="rId35"/>
    <p:sldId id="329" r:id="rId36"/>
    <p:sldId id="330" r:id="rId37"/>
    <p:sldId id="331" r:id="rId38"/>
    <p:sldId id="332" r:id="rId39"/>
    <p:sldId id="333" r:id="rId40"/>
    <p:sldId id="334" r:id="rId41"/>
    <p:sldId id="335" r:id="rId42"/>
    <p:sldId id="341" r:id="rId43"/>
    <p:sldId id="342" r:id="rId44"/>
    <p:sldId id="343" r:id="rId45"/>
    <p:sldId id="344" r:id="rId46"/>
    <p:sldId id="345" r:id="rId47"/>
    <p:sldId id="336" r:id="rId48"/>
    <p:sldId id="337" r:id="rId49"/>
    <p:sldId id="338" r:id="rId50"/>
    <p:sldId id="339" r:id="rId51"/>
    <p:sldId id="340" r:id="rId52"/>
    <p:sldId id="548" r:id="rId53"/>
    <p:sldId id="549" r:id="rId54"/>
    <p:sldId id="385" r:id="rId55"/>
    <p:sldId id="550" r:id="rId56"/>
    <p:sldId id="551" r:id="rId57"/>
    <p:sldId id="532" r:id="rId58"/>
    <p:sldId id="533" r:id="rId59"/>
    <p:sldId id="534" r:id="rId60"/>
    <p:sldId id="535" r:id="rId61"/>
    <p:sldId id="536" r:id="rId62"/>
    <p:sldId id="537" r:id="rId63"/>
    <p:sldId id="538" r:id="rId64"/>
    <p:sldId id="426" r:id="rId65"/>
    <p:sldId id="427" r:id="rId66"/>
    <p:sldId id="428" r:id="rId67"/>
    <p:sldId id="429" r:id="rId68"/>
    <p:sldId id="430" r:id="rId69"/>
    <p:sldId id="431" r:id="rId70"/>
    <p:sldId id="346" r:id="rId71"/>
    <p:sldId id="347" r:id="rId72"/>
    <p:sldId id="352" r:id="rId73"/>
    <p:sldId id="351" r:id="rId74"/>
    <p:sldId id="350" r:id="rId75"/>
    <p:sldId id="349" r:id="rId76"/>
    <p:sldId id="348" r:id="rId77"/>
    <p:sldId id="353" r:id="rId78"/>
    <p:sldId id="355" r:id="rId79"/>
    <p:sldId id="356" r:id="rId80"/>
    <p:sldId id="357" r:id="rId81"/>
    <p:sldId id="358" r:id="rId82"/>
    <p:sldId id="359" r:id="rId83"/>
    <p:sldId id="360" r:id="rId84"/>
    <p:sldId id="361" r:id="rId85"/>
    <p:sldId id="362" r:id="rId86"/>
    <p:sldId id="363" r:id="rId87"/>
    <p:sldId id="354" r:id="rId88"/>
    <p:sldId id="301" r:id="rId89"/>
    <p:sldId id="436" r:id="rId90"/>
    <p:sldId id="539" r:id="rId91"/>
    <p:sldId id="540" r:id="rId92"/>
    <p:sldId id="543" r:id="rId93"/>
    <p:sldId id="541" r:id="rId94"/>
    <p:sldId id="544" r:id="rId95"/>
    <p:sldId id="542" r:id="rId96"/>
    <p:sldId id="545" r:id="rId97"/>
    <p:sldId id="546" r:id="rId98"/>
    <p:sldId id="547" r:id="rId99"/>
    <p:sldId id="447" r:id="rId100"/>
    <p:sldId id="448" r:id="rId101"/>
    <p:sldId id="449" r:id="rId102"/>
    <p:sldId id="450" r:id="rId103"/>
    <p:sldId id="451" r:id="rId104"/>
    <p:sldId id="452" r:id="rId105"/>
    <p:sldId id="453" r:id="rId106"/>
    <p:sldId id="454" r:id="rId107"/>
    <p:sldId id="455" r:id="rId108"/>
    <p:sldId id="456" r:id="rId109"/>
    <p:sldId id="457" r:id="rId110"/>
    <p:sldId id="458" r:id="rId111"/>
    <p:sldId id="459" r:id="rId112"/>
    <p:sldId id="460" r:id="rId113"/>
    <p:sldId id="461" r:id="rId114"/>
    <p:sldId id="462" r:id="rId115"/>
    <p:sldId id="463" r:id="rId116"/>
    <p:sldId id="464" r:id="rId117"/>
    <p:sldId id="465" r:id="rId118"/>
    <p:sldId id="466" r:id="rId119"/>
    <p:sldId id="467" r:id="rId120"/>
    <p:sldId id="468" r:id="rId121"/>
    <p:sldId id="469" r:id="rId122"/>
    <p:sldId id="470" r:id="rId123"/>
    <p:sldId id="471" r:id="rId124"/>
    <p:sldId id="472" r:id="rId125"/>
    <p:sldId id="473" r:id="rId126"/>
    <p:sldId id="474" r:id="rId127"/>
    <p:sldId id="475" r:id="rId128"/>
    <p:sldId id="476" r:id="rId129"/>
    <p:sldId id="477" r:id="rId130"/>
    <p:sldId id="478" r:id="rId131"/>
    <p:sldId id="479" r:id="rId132"/>
    <p:sldId id="480" r:id="rId133"/>
    <p:sldId id="481" r:id="rId134"/>
    <p:sldId id="482" r:id="rId135"/>
    <p:sldId id="483" r:id="rId136"/>
    <p:sldId id="484" r:id="rId137"/>
    <p:sldId id="485" r:id="rId138"/>
    <p:sldId id="486" r:id="rId139"/>
    <p:sldId id="487" r:id="rId140"/>
    <p:sldId id="488" r:id="rId141"/>
    <p:sldId id="489" r:id="rId142"/>
    <p:sldId id="490" r:id="rId143"/>
    <p:sldId id="491" r:id="rId144"/>
    <p:sldId id="492" r:id="rId145"/>
    <p:sldId id="493" r:id="rId146"/>
    <p:sldId id="494" r:id="rId147"/>
    <p:sldId id="495" r:id="rId148"/>
    <p:sldId id="496" r:id="rId149"/>
    <p:sldId id="497" r:id="rId150"/>
    <p:sldId id="498" r:id="rId151"/>
    <p:sldId id="499" r:id="rId152"/>
    <p:sldId id="513" r:id="rId153"/>
    <p:sldId id="514" r:id="rId154"/>
    <p:sldId id="515" r:id="rId155"/>
    <p:sldId id="516" r:id="rId156"/>
    <p:sldId id="517" r:id="rId157"/>
    <p:sldId id="518" r:id="rId158"/>
    <p:sldId id="519" r:id="rId159"/>
    <p:sldId id="520" r:id="rId160"/>
    <p:sldId id="521" r:id="rId161"/>
    <p:sldId id="522" r:id="rId162"/>
    <p:sldId id="523" r:id="rId163"/>
    <p:sldId id="524" r:id="rId164"/>
    <p:sldId id="525" r:id="rId165"/>
    <p:sldId id="526" r:id="rId166"/>
    <p:sldId id="527" r:id="rId167"/>
    <p:sldId id="500" r:id="rId168"/>
    <p:sldId id="501" r:id="rId169"/>
    <p:sldId id="502" r:id="rId170"/>
    <p:sldId id="503" r:id="rId171"/>
    <p:sldId id="504" r:id="rId172"/>
    <p:sldId id="505" r:id="rId173"/>
    <p:sldId id="506" r:id="rId174"/>
    <p:sldId id="507" r:id="rId175"/>
    <p:sldId id="508" r:id="rId176"/>
    <p:sldId id="509" r:id="rId177"/>
    <p:sldId id="510" r:id="rId178"/>
    <p:sldId id="511" r:id="rId179"/>
    <p:sldId id="528" r:id="rId180"/>
    <p:sldId id="512" r:id="rId18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notesMaster" Target="notesMasters/notesMaster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1098FF-0894-40A0-AD14-CF3105397A50}" type="datetimeFigureOut">
              <a:rPr lang="fr-FR" smtClean="0"/>
              <a:t>16/09/2025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DEE988-0DE3-474C-81F3-7EE4CF05D1EB}" type="slidenum">
              <a:rPr lang="fr-FR" smtClean="0"/>
              <a:t>‹N°›</a:t>
            </a:fld>
            <a:endParaRPr lang="fr-FR"/>
          </a:p>
        </p:txBody>
      </p:sp>
    </p:spTree>
    <p:extLst>
      <p:ext uri="{BB962C8B-B14F-4D97-AF65-F5344CB8AC3E}">
        <p14:creationId xmlns:p14="http://schemas.microsoft.com/office/powerpoint/2010/main" val="2211543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ABDEE988-0DE3-474C-81F3-7EE4CF05D1EB}" type="slidenum">
              <a:rPr lang="fr-FR" smtClean="0"/>
              <a:t>30</a:t>
            </a:fld>
            <a:endParaRPr lang="fr-FR"/>
          </a:p>
        </p:txBody>
      </p:sp>
    </p:spTree>
    <p:extLst>
      <p:ext uri="{BB962C8B-B14F-4D97-AF65-F5344CB8AC3E}">
        <p14:creationId xmlns:p14="http://schemas.microsoft.com/office/powerpoint/2010/main" val="364220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smtClean="0"/>
              <a:t>Modifiez le style du titre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16/09/2025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926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16/09/2025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4229738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smtClean="0"/>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E1A177EF-A8B2-4D01-92A9-E9DED3ABB528}" type="datetimeFigureOut">
              <a:rPr lang="fr-FR" smtClean="0"/>
              <a:t>16/09/2025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0601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E1A177EF-A8B2-4D01-92A9-E9DED3ABB528}" type="datetimeFigureOut">
              <a:rPr lang="fr-FR" smtClean="0"/>
              <a:t>16/09/2025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2332289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09728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217920" y="2582334"/>
            <a:ext cx="4937760" cy="33782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E1A177EF-A8B2-4D01-92A9-E9DED3ABB528}" type="datetimeFigureOut">
              <a:rPr lang="fr-FR" smtClean="0"/>
              <a:t>16/09/2025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218399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E1A177EF-A8B2-4D01-92A9-E9DED3ABB528}" type="datetimeFigureOut">
              <a:rPr lang="fr-FR" smtClean="0"/>
              <a:t>16/09/2025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80185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1A177EF-A8B2-4D01-92A9-E9DED3ABB528}" type="datetimeFigureOut">
              <a:rPr lang="fr-FR" smtClean="0"/>
              <a:t>16/09/2025</a:t>
            </a:fld>
            <a:endParaRPr lang="fr-F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fr-FR"/>
          </a:p>
        </p:txBody>
      </p:sp>
      <p:sp>
        <p:nvSpPr>
          <p:cNvPr id="9" name="Slide Number Placeholder 8"/>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4071880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smtClean="0"/>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1A177EF-A8B2-4D01-92A9-E9DED3ABB528}" type="datetimeFigureOut">
              <a:rPr lang="fr-FR" smtClean="0"/>
              <a:t>16/09/2025</a:t>
            </a:fld>
            <a:endParaRPr lang="fr-F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fr-F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09CF309-9D65-4C4C-83E1-586A56AD6C78}" type="slidenum">
              <a:rPr lang="fr-FR" smtClean="0"/>
              <a:t>‹N°›</a:t>
            </a:fld>
            <a:endParaRPr lang="fr-FR"/>
          </a:p>
        </p:txBody>
      </p:sp>
    </p:spTree>
    <p:extLst>
      <p:ext uri="{BB962C8B-B14F-4D97-AF65-F5344CB8AC3E}">
        <p14:creationId xmlns:p14="http://schemas.microsoft.com/office/powerpoint/2010/main" val="312741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E1A177EF-A8B2-4D01-92A9-E9DED3ABB528}" type="datetimeFigureOut">
              <a:rPr lang="fr-FR" smtClean="0"/>
              <a:t>16/09/2025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3819550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16/09/2025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1678477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E1A177EF-A8B2-4D01-92A9-E9DED3ABB528}" type="datetimeFigureOut">
              <a:rPr lang="fr-FR" smtClean="0"/>
              <a:t>16/09/2025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09CF309-9D65-4C4C-83E1-586A56AD6C78}" type="slidenum">
              <a:rPr lang="fr-FR" smtClean="0"/>
              <a:t>‹N°›</a:t>
            </a:fld>
            <a:endParaRPr lang="fr-FR"/>
          </a:p>
        </p:txBody>
      </p:sp>
    </p:spTree>
    <p:extLst>
      <p:ext uri="{BB962C8B-B14F-4D97-AF65-F5344CB8AC3E}">
        <p14:creationId xmlns:p14="http://schemas.microsoft.com/office/powerpoint/2010/main" val="1526376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smtClean="0"/>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1A177EF-A8B2-4D01-92A9-E9DED3ABB528}" type="datetimeFigureOut">
              <a:rPr lang="fr-FR" smtClean="0"/>
              <a:t>16/09/2025</a:t>
            </a:fld>
            <a:endParaRPr lang="fr-F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fr-F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09CF309-9D65-4C4C-83E1-586A56AD6C78}" type="slidenum">
              <a:rPr lang="fr-FR" smtClean="0"/>
              <a:t>‹N°›</a:t>
            </a:fld>
            <a:endParaRPr lang="fr-F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41179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5.xml"/></Relationships>
</file>

<file path=ppt/slides/_rels/slide17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5.xml"/></Relationships>
</file>

<file path=ppt/slides/_rels/slide17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5.xml"/></Relationships>
</file>

<file path=ppt/slides/_rels/slide17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9.png"/></Relationships>
</file>

<file path=ppt/slides/_rels/slide17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 Id="rId4" Type="http://schemas.microsoft.com/office/2007/relationships/hdphoto" Target="../media/hdphoto12.wdp"/></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pPr algn="ctr"/>
            <a:r>
              <a:rPr lang="fr-FR" b="1" dirty="0"/>
              <a:t>Java - Nouveautés des versions 8 à 22</a:t>
            </a:r>
          </a:p>
        </p:txBody>
      </p:sp>
      <p:sp>
        <p:nvSpPr>
          <p:cNvPr id="3" name="Sous-titre 2"/>
          <p:cNvSpPr>
            <a:spLocks noGrp="1"/>
          </p:cNvSpPr>
          <p:nvPr>
            <p:ph type="subTitle" idx="1"/>
          </p:nvPr>
        </p:nvSpPr>
        <p:spPr/>
        <p:txBody>
          <a:bodyPr/>
          <a:lstStyle/>
          <a:p>
            <a:r>
              <a:rPr lang="fr-FR" dirty="0" smtClean="0"/>
              <a:t>M2I</a:t>
            </a:r>
            <a:endParaRPr lang="fr-FR" dirty="0"/>
          </a:p>
        </p:txBody>
      </p:sp>
    </p:spTree>
    <p:extLst>
      <p:ext uri="{BB962C8B-B14F-4D97-AF65-F5344CB8AC3E}">
        <p14:creationId xmlns:p14="http://schemas.microsoft.com/office/powerpoint/2010/main" val="1101700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7200" b="1" dirty="0" smtClean="0"/>
              <a:t>Concepts Jour </a:t>
            </a:r>
            <a:r>
              <a:rPr lang="fr-FR" sz="7200" b="1" dirty="0"/>
              <a:t>2</a:t>
            </a:r>
          </a:p>
        </p:txBody>
      </p:sp>
      <p:sp>
        <p:nvSpPr>
          <p:cNvPr id="3" name="Espace réservé du contenu 2"/>
          <p:cNvSpPr>
            <a:spLocks noGrp="1"/>
          </p:cNvSpPr>
          <p:nvPr>
            <p:ph idx="1"/>
          </p:nvPr>
        </p:nvSpPr>
        <p:spPr>
          <a:xfrm>
            <a:off x="626533" y="1845734"/>
            <a:ext cx="10529147" cy="4023360"/>
          </a:xfrm>
        </p:spPr>
        <p:txBody>
          <a:bodyPr>
            <a:noAutofit/>
          </a:bodyPr>
          <a:lstStyle/>
          <a:p>
            <a:pPr>
              <a:lnSpc>
                <a:spcPct val="150000"/>
              </a:lnSpc>
              <a:buFont typeface="Wingdings" panose="05000000000000000000" pitchFamily="2" charset="2"/>
              <a:buChar char="Ø"/>
            </a:pPr>
            <a:r>
              <a:rPr lang="fr-FR" sz="3600" b="1" dirty="0" err="1" smtClean="0"/>
              <a:t>JShell</a:t>
            </a:r>
            <a:r>
              <a:rPr lang="fr-FR" sz="3600" dirty="0" smtClean="0"/>
              <a:t> </a:t>
            </a:r>
            <a:r>
              <a:rPr lang="fr-FR" sz="3600" dirty="0"/>
              <a:t>(</a:t>
            </a:r>
            <a:r>
              <a:rPr lang="fr-FR" sz="3600" dirty="0">
                <a:solidFill>
                  <a:srgbClr val="FF0000"/>
                </a:solidFill>
              </a:rPr>
              <a:t>JDK 9 et plus</a:t>
            </a:r>
            <a:r>
              <a:rPr lang="fr-FR" sz="3600" dirty="0" smtClean="0"/>
              <a:t>)</a:t>
            </a:r>
          </a:p>
          <a:p>
            <a:pPr>
              <a:lnSpc>
                <a:spcPct val="150000"/>
              </a:lnSpc>
              <a:buFont typeface="Wingdings" panose="05000000000000000000" pitchFamily="2" charset="2"/>
              <a:buChar char="Ø"/>
            </a:pPr>
            <a:r>
              <a:rPr lang="fr-FR" sz="3600" b="1" dirty="0"/>
              <a:t> </a:t>
            </a:r>
            <a:r>
              <a:rPr lang="fr-FR" sz="3600" dirty="0"/>
              <a:t>L'API </a:t>
            </a:r>
            <a:r>
              <a:rPr lang="fr-FR" sz="3600" b="1" dirty="0" err="1"/>
              <a:t>Optional</a:t>
            </a:r>
            <a:r>
              <a:rPr lang="fr-FR" sz="3600" dirty="0"/>
              <a:t> (</a:t>
            </a:r>
            <a:r>
              <a:rPr lang="fr-FR" sz="3600" dirty="0">
                <a:solidFill>
                  <a:srgbClr val="FF0000"/>
                </a:solidFill>
              </a:rPr>
              <a:t>JDK 9 et plus</a:t>
            </a:r>
            <a:r>
              <a:rPr lang="fr-FR" sz="3600" dirty="0" smtClean="0"/>
              <a:t>)</a:t>
            </a:r>
          </a:p>
          <a:p>
            <a:pPr>
              <a:lnSpc>
                <a:spcPct val="150000"/>
              </a:lnSpc>
              <a:buFont typeface="Wingdings" panose="05000000000000000000" pitchFamily="2" charset="2"/>
              <a:buChar char="Ø"/>
            </a:pPr>
            <a:r>
              <a:rPr lang="fr-FR" sz="3600" b="1" dirty="0"/>
              <a:t> </a:t>
            </a:r>
            <a:r>
              <a:rPr lang="fr-FR" sz="3600" dirty="0"/>
              <a:t>L'API </a:t>
            </a:r>
            <a:r>
              <a:rPr lang="fr-FR" sz="3600" b="1" dirty="0" err="1"/>
              <a:t>Process</a:t>
            </a:r>
            <a:r>
              <a:rPr lang="fr-FR" sz="3600" dirty="0"/>
              <a:t> (</a:t>
            </a:r>
            <a:r>
              <a:rPr lang="fr-FR" sz="3600" dirty="0">
                <a:solidFill>
                  <a:srgbClr val="FF0000"/>
                </a:solidFill>
              </a:rPr>
              <a:t>JDK 9 et plus</a:t>
            </a:r>
            <a:r>
              <a:rPr lang="fr-FR" sz="3600" dirty="0" smtClean="0"/>
              <a:t>)</a:t>
            </a:r>
          </a:p>
          <a:p>
            <a:pPr>
              <a:lnSpc>
                <a:spcPct val="150000"/>
              </a:lnSpc>
              <a:buFont typeface="Wingdings" panose="05000000000000000000" pitchFamily="2" charset="2"/>
              <a:buChar char="Ø"/>
            </a:pPr>
            <a:r>
              <a:rPr lang="fr-FR" sz="3600" dirty="0"/>
              <a:t> Le système de modules (</a:t>
            </a:r>
            <a:r>
              <a:rPr lang="fr-FR" sz="3600" dirty="0">
                <a:solidFill>
                  <a:srgbClr val="FF0000"/>
                </a:solidFill>
              </a:rPr>
              <a:t>JDK 9 et plus</a:t>
            </a:r>
            <a:r>
              <a:rPr lang="fr-FR" sz="3600" dirty="0"/>
              <a:t>)</a:t>
            </a:r>
          </a:p>
          <a:p>
            <a:pPr>
              <a:lnSpc>
                <a:spcPct val="150000"/>
              </a:lnSpc>
              <a:buFont typeface="Wingdings" panose="05000000000000000000" pitchFamily="2" charset="2"/>
              <a:buChar char="Ø"/>
            </a:pPr>
            <a:endParaRPr lang="fr-FR" sz="3600" dirty="0" smtClean="0"/>
          </a:p>
          <a:p>
            <a:pPr>
              <a:lnSpc>
                <a:spcPct val="150000"/>
              </a:lnSpc>
              <a:buFont typeface="Wingdings" panose="05000000000000000000" pitchFamily="2" charset="2"/>
              <a:buChar char="Ø"/>
            </a:pPr>
            <a:endParaRPr lang="fr-FR" sz="3600" b="1" dirty="0" smtClean="0"/>
          </a:p>
          <a:p>
            <a:pPr>
              <a:lnSpc>
                <a:spcPct val="150000"/>
              </a:lnSpc>
              <a:buFont typeface="Wingdings" panose="05000000000000000000" pitchFamily="2" charset="2"/>
              <a:buChar char="Ø"/>
            </a:pPr>
            <a:endParaRPr lang="fr-FR" sz="3600" b="1" dirty="0" smtClean="0"/>
          </a:p>
          <a:p>
            <a:pPr>
              <a:lnSpc>
                <a:spcPct val="150000"/>
              </a:lnSpc>
              <a:buFont typeface="Wingdings" panose="05000000000000000000" pitchFamily="2" charset="2"/>
              <a:buChar char="Ø"/>
            </a:pPr>
            <a:endParaRPr lang="fr-FR" sz="3600" b="1" dirty="0"/>
          </a:p>
        </p:txBody>
      </p:sp>
    </p:spTree>
    <p:extLst>
      <p:ext uri="{BB962C8B-B14F-4D97-AF65-F5344CB8AC3E}">
        <p14:creationId xmlns:p14="http://schemas.microsoft.com/office/powerpoint/2010/main" val="1856702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Objectifs</a:t>
            </a:r>
            <a:endParaRPr lang="fr-FR" b="1" dirty="0"/>
          </a:p>
        </p:txBody>
      </p:sp>
      <p:sp>
        <p:nvSpPr>
          <p:cNvPr id="3" name="Espace réservé du contenu 2"/>
          <p:cNvSpPr>
            <a:spLocks noGrp="1"/>
          </p:cNvSpPr>
          <p:nvPr>
            <p:ph idx="1"/>
          </p:nvPr>
        </p:nvSpPr>
        <p:spPr/>
        <p:txBody>
          <a:bodyPr>
            <a:normAutofit/>
          </a:bodyPr>
          <a:lstStyle/>
          <a:p>
            <a:pPr marL="457200" indent="-457200" algn="just">
              <a:lnSpc>
                <a:spcPct val="150000"/>
              </a:lnSpc>
              <a:buFont typeface="+mj-lt"/>
              <a:buAutoNum type="arabicPeriod"/>
            </a:pPr>
            <a:r>
              <a:rPr lang="fr-FR" sz="2800" dirty="0"/>
              <a:t>Découvrir </a:t>
            </a:r>
            <a:r>
              <a:rPr lang="fr-FR" sz="2800" b="1" dirty="0" err="1"/>
              <a:t>JShell</a:t>
            </a:r>
            <a:r>
              <a:rPr lang="fr-FR" sz="2800" dirty="0"/>
              <a:t> pour tester rapidement du </a:t>
            </a:r>
            <a:r>
              <a:rPr lang="fr-FR" sz="2800" dirty="0" smtClean="0"/>
              <a:t>code</a:t>
            </a:r>
          </a:p>
          <a:p>
            <a:pPr marL="457200" indent="-457200" algn="just">
              <a:lnSpc>
                <a:spcPct val="150000"/>
              </a:lnSpc>
              <a:buFont typeface="+mj-lt"/>
              <a:buAutoNum type="arabicPeriod"/>
            </a:pPr>
            <a:r>
              <a:rPr lang="fr-FR" sz="2800" dirty="0"/>
              <a:t>Maîtriser l'API </a:t>
            </a:r>
            <a:r>
              <a:rPr lang="fr-FR" sz="2800" b="1" dirty="0" err="1"/>
              <a:t>Optional</a:t>
            </a:r>
            <a:r>
              <a:rPr lang="fr-FR" sz="2800" dirty="0"/>
              <a:t> pour éviter les </a:t>
            </a:r>
            <a:r>
              <a:rPr lang="fr-FR" sz="2800" b="1" dirty="0" err="1" smtClean="0"/>
              <a:t>NullPointerException</a:t>
            </a:r>
            <a:endParaRPr lang="fr-FR" sz="2800" b="1" dirty="0" smtClean="0"/>
          </a:p>
          <a:p>
            <a:pPr marL="457200" indent="-457200" algn="just">
              <a:lnSpc>
                <a:spcPct val="150000"/>
              </a:lnSpc>
              <a:buFont typeface="+mj-lt"/>
              <a:buAutoNum type="arabicPeriod"/>
            </a:pPr>
            <a:r>
              <a:rPr lang="fr-FR" sz="2800" dirty="0"/>
              <a:t>Gérer les processus système avec l'API </a:t>
            </a:r>
            <a:r>
              <a:rPr lang="fr-FR" sz="2800" b="1" dirty="0" err="1" smtClean="0"/>
              <a:t>Process</a:t>
            </a:r>
            <a:endParaRPr lang="fr-FR" sz="2800" b="1" dirty="0" smtClean="0"/>
          </a:p>
          <a:p>
            <a:pPr marL="457200" indent="-457200" algn="just">
              <a:lnSpc>
                <a:spcPct val="150000"/>
              </a:lnSpc>
              <a:buFont typeface="+mj-lt"/>
              <a:buAutoNum type="arabicPeriod"/>
            </a:pPr>
            <a:r>
              <a:rPr lang="fr-FR" sz="2800" dirty="0"/>
              <a:t>Comprendre le système de </a:t>
            </a:r>
            <a:r>
              <a:rPr lang="fr-FR" sz="2800" b="1" dirty="0"/>
              <a:t>modules</a:t>
            </a:r>
            <a:r>
              <a:rPr lang="fr-FR" sz="2800" dirty="0"/>
              <a:t> introduit par le </a:t>
            </a:r>
            <a:r>
              <a:rPr lang="fr-FR" sz="2800" b="1" dirty="0"/>
              <a:t>JDK 9</a:t>
            </a:r>
          </a:p>
        </p:txBody>
      </p:sp>
    </p:spTree>
    <p:extLst>
      <p:ext uri="{BB962C8B-B14F-4D97-AF65-F5344CB8AC3E}">
        <p14:creationId xmlns:p14="http://schemas.microsoft.com/office/powerpoint/2010/main" val="14416020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err="1"/>
              <a:t>JShell</a:t>
            </a:r>
            <a:r>
              <a:rPr lang="fr-FR" b="1" dirty="0"/>
              <a:t> (JDK 9 et plus</a:t>
            </a:r>
            <a:r>
              <a:rPr lang="fr-FR" b="1" dirty="0" smtClean="0"/>
              <a:t>)</a:t>
            </a:r>
            <a:br>
              <a:rPr lang="fr-FR" b="1" dirty="0" smtClean="0"/>
            </a:br>
            <a:r>
              <a:rPr lang="fr-FR" b="1" dirty="0" smtClean="0"/>
              <a:t>Introduction</a:t>
            </a:r>
            <a:endParaRPr lang="fr-FR"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smtClean="0"/>
              <a:t> </a:t>
            </a:r>
            <a:r>
              <a:rPr lang="fr-FR" sz="3200" b="1" dirty="0" err="1"/>
              <a:t>JShell</a:t>
            </a:r>
            <a:r>
              <a:rPr lang="fr-FR" sz="3200" dirty="0"/>
              <a:t>, introduit dans JDK 9, est un </a:t>
            </a:r>
            <a:r>
              <a:rPr lang="fr-FR" sz="3200" b="1" dirty="0"/>
              <a:t>REPL</a:t>
            </a:r>
            <a:r>
              <a:rPr lang="fr-FR" sz="3200" dirty="0"/>
              <a:t> (</a:t>
            </a:r>
            <a:r>
              <a:rPr lang="fr-FR" sz="3200" b="1" dirty="0"/>
              <a:t>Read-</a:t>
            </a:r>
            <a:r>
              <a:rPr lang="fr-FR" sz="3200" b="1" dirty="0" err="1"/>
              <a:t>Eval</a:t>
            </a:r>
            <a:r>
              <a:rPr lang="fr-FR" sz="3200" b="1" dirty="0"/>
              <a:t>-</a:t>
            </a:r>
            <a:r>
              <a:rPr lang="fr-FR" sz="3200" b="1" dirty="0" err="1"/>
              <a:t>Print</a:t>
            </a:r>
            <a:r>
              <a:rPr lang="fr-FR" sz="3200" b="1" dirty="0"/>
              <a:t> Loop</a:t>
            </a:r>
            <a:r>
              <a:rPr lang="fr-FR" sz="3200" dirty="0"/>
              <a:t>) pour Java. Il permet d'exécuter des commandes et des morceaux de code Java de manière interactive, sans avoir à créer des classes ou des fichiers source. C'est un outil très utile pour expérimenter rapidement du code, </a:t>
            </a:r>
          </a:p>
        </p:txBody>
      </p:sp>
    </p:spTree>
    <p:extLst>
      <p:ext uri="{BB962C8B-B14F-4D97-AF65-F5344CB8AC3E}">
        <p14:creationId xmlns:p14="http://schemas.microsoft.com/office/powerpoint/2010/main" val="14891789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JShell</a:t>
            </a:r>
            <a:r>
              <a:rPr lang="fr-FR" b="1" dirty="0"/>
              <a:t> : introduction</a:t>
            </a:r>
          </a:p>
        </p:txBody>
      </p:sp>
      <p:sp>
        <p:nvSpPr>
          <p:cNvPr id="3" name="Espace réservé du contenu 2"/>
          <p:cNvSpPr>
            <a:spLocks noGrp="1"/>
          </p:cNvSpPr>
          <p:nvPr>
            <p:ph idx="1"/>
          </p:nvPr>
        </p:nvSpPr>
        <p:spPr/>
        <p:txBody>
          <a:bodyPr>
            <a:normAutofit/>
          </a:bodyPr>
          <a:lstStyle/>
          <a:p>
            <a:pPr marL="457200" indent="-457200" algn="just">
              <a:lnSpc>
                <a:spcPct val="200000"/>
              </a:lnSpc>
              <a:buFont typeface="+mj-lt"/>
              <a:buAutoNum type="arabicPeriod"/>
            </a:pPr>
            <a:r>
              <a:rPr lang="fr-FR" sz="3200" dirty="0"/>
              <a:t>Outil </a:t>
            </a:r>
            <a:r>
              <a:rPr lang="fr-FR" sz="3200" dirty="0" smtClean="0"/>
              <a:t>REPL</a:t>
            </a:r>
          </a:p>
          <a:p>
            <a:pPr marL="457200" indent="-457200" algn="just">
              <a:lnSpc>
                <a:spcPct val="200000"/>
              </a:lnSpc>
              <a:buFont typeface="+mj-lt"/>
              <a:buAutoNum type="arabicPeriod"/>
            </a:pPr>
            <a:r>
              <a:rPr lang="fr-FR" sz="3200" dirty="0"/>
              <a:t>Exécution </a:t>
            </a:r>
            <a:r>
              <a:rPr lang="fr-FR" sz="3200" dirty="0" smtClean="0"/>
              <a:t>immédiate</a:t>
            </a:r>
          </a:p>
          <a:p>
            <a:pPr marL="457200" indent="-457200" algn="just">
              <a:lnSpc>
                <a:spcPct val="200000"/>
              </a:lnSpc>
              <a:buFont typeface="+mj-lt"/>
              <a:buAutoNum type="arabicPeriod"/>
            </a:pPr>
            <a:r>
              <a:rPr lang="fr-FR" sz="3200" dirty="0"/>
              <a:t>Parfait pour les tests, prototypes et démonstrations</a:t>
            </a:r>
          </a:p>
        </p:txBody>
      </p:sp>
    </p:spTree>
    <p:extLst>
      <p:ext uri="{BB962C8B-B14F-4D97-AF65-F5344CB8AC3E}">
        <p14:creationId xmlns:p14="http://schemas.microsoft.com/office/powerpoint/2010/main" val="34725876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Principaux objectifs de </a:t>
            </a:r>
            <a:r>
              <a:rPr lang="fr-FR" dirty="0" err="1"/>
              <a:t>JShell</a:t>
            </a:r>
            <a:endParaRPr lang="fr-FR" dirty="0"/>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3600" dirty="0"/>
              <a:t> Faciliter l'apprentissage de </a:t>
            </a:r>
            <a:r>
              <a:rPr lang="fr-FR" sz="3600" dirty="0" smtClean="0"/>
              <a:t>Java</a:t>
            </a:r>
          </a:p>
          <a:p>
            <a:pPr>
              <a:lnSpc>
                <a:spcPct val="150000"/>
              </a:lnSpc>
              <a:buFont typeface="Wingdings" panose="05000000000000000000" pitchFamily="2" charset="2"/>
              <a:buChar char="Ø"/>
            </a:pPr>
            <a:r>
              <a:rPr lang="fr-FR" sz="3600" dirty="0"/>
              <a:t> Tester rapidement du code </a:t>
            </a:r>
            <a:r>
              <a:rPr lang="fr-FR" sz="3600" dirty="0" smtClean="0"/>
              <a:t>Java</a:t>
            </a:r>
          </a:p>
          <a:p>
            <a:pPr>
              <a:lnSpc>
                <a:spcPct val="150000"/>
              </a:lnSpc>
              <a:buFont typeface="Wingdings" panose="05000000000000000000" pitchFamily="2" charset="2"/>
              <a:buChar char="Ø"/>
            </a:pPr>
            <a:r>
              <a:rPr lang="fr-FR" sz="3600" dirty="0"/>
              <a:t> Améliorer la productivité des développeurs</a:t>
            </a:r>
          </a:p>
        </p:txBody>
      </p:sp>
    </p:spTree>
    <p:extLst>
      <p:ext uri="{BB962C8B-B14F-4D97-AF65-F5344CB8AC3E}">
        <p14:creationId xmlns:p14="http://schemas.microsoft.com/office/powerpoint/2010/main" val="12523939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Faciliter l'apprentissage de Java</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Les débutants peuvent expérimenter des concepts de base comme les variables, les boucles, ou les expressions sans écrire un programme complet</a:t>
            </a:r>
            <a:r>
              <a:rPr lang="fr-FR" sz="3200" dirty="0" smtClean="0"/>
              <a:t>.</a:t>
            </a:r>
          </a:p>
          <a:p>
            <a:pPr algn="just">
              <a:lnSpc>
                <a:spcPct val="150000"/>
              </a:lnSpc>
              <a:buFont typeface="Wingdings" panose="05000000000000000000" pitchFamily="2" charset="2"/>
              <a:buChar char="Ø"/>
            </a:pPr>
            <a:r>
              <a:rPr lang="fr-FR" sz="3200" dirty="0"/>
              <a:t> </a:t>
            </a:r>
            <a:r>
              <a:rPr lang="fr-FR" sz="3200" dirty="0" smtClean="0"/>
              <a:t>Cela </a:t>
            </a:r>
            <a:r>
              <a:rPr lang="fr-FR" sz="3200" dirty="0"/>
              <a:t>permet une meilleure compréhension des concepts Java avec un retour immédiat.</a:t>
            </a:r>
          </a:p>
        </p:txBody>
      </p:sp>
    </p:spTree>
    <p:extLst>
      <p:ext uri="{BB962C8B-B14F-4D97-AF65-F5344CB8AC3E}">
        <p14:creationId xmlns:p14="http://schemas.microsoft.com/office/powerpoint/2010/main" val="30233205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Tester rapidement du code Java </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Vous pouvez tester des expressions, des méthodes ou des classes sans avoir besoin de configurer un projet ou de compiler un fichier .java.</a:t>
            </a:r>
          </a:p>
        </p:txBody>
      </p:sp>
    </p:spTree>
    <p:extLst>
      <p:ext uri="{BB962C8B-B14F-4D97-AF65-F5344CB8AC3E}">
        <p14:creationId xmlns:p14="http://schemas.microsoft.com/office/powerpoint/2010/main" val="15064112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400" b="1" dirty="0"/>
              <a:t>Améliorer la productivité des développeurs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4000" dirty="0"/>
              <a:t> C'est un outil parfait pour </a:t>
            </a:r>
            <a:r>
              <a:rPr lang="fr-FR" sz="4000" b="1" dirty="0"/>
              <a:t>prototyper du code</a:t>
            </a:r>
            <a:r>
              <a:rPr lang="fr-FR" sz="4000" dirty="0"/>
              <a:t> ou explorer des APIs Java sans devoir créer de structures complexes.</a:t>
            </a:r>
          </a:p>
        </p:txBody>
      </p:sp>
    </p:spTree>
    <p:extLst>
      <p:ext uri="{BB962C8B-B14F-4D97-AF65-F5344CB8AC3E}">
        <p14:creationId xmlns:p14="http://schemas.microsoft.com/office/powerpoint/2010/main" val="41942691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Fonctionnalités principales de </a:t>
            </a:r>
            <a:r>
              <a:rPr lang="fr-FR" dirty="0" err="1"/>
              <a:t>JShell</a:t>
            </a:r>
            <a:endParaRPr lang="fr-FR" dirty="0"/>
          </a:p>
        </p:txBody>
      </p:sp>
      <p:sp>
        <p:nvSpPr>
          <p:cNvPr id="3" name="Espace réservé du contenu 2"/>
          <p:cNvSpPr>
            <a:spLocks noGrp="1"/>
          </p:cNvSpPr>
          <p:nvPr>
            <p:ph idx="1"/>
          </p:nvPr>
        </p:nvSpPr>
        <p:spPr/>
        <p:txBody>
          <a:bodyPr>
            <a:noAutofit/>
          </a:bodyPr>
          <a:lstStyle/>
          <a:p>
            <a:pPr>
              <a:lnSpc>
                <a:spcPct val="100000"/>
              </a:lnSpc>
              <a:buFont typeface="Wingdings" panose="05000000000000000000" pitchFamily="2" charset="2"/>
              <a:buChar char="Ø"/>
            </a:pPr>
            <a:r>
              <a:rPr lang="fr-FR" dirty="0"/>
              <a:t> Exécution interactive du </a:t>
            </a:r>
            <a:r>
              <a:rPr lang="fr-FR" dirty="0" smtClean="0"/>
              <a:t>code</a:t>
            </a:r>
          </a:p>
          <a:p>
            <a:pPr>
              <a:lnSpc>
                <a:spcPct val="100000"/>
              </a:lnSpc>
              <a:buFont typeface="Wingdings" panose="05000000000000000000" pitchFamily="2" charset="2"/>
              <a:buChar char="Ø"/>
            </a:pPr>
            <a:r>
              <a:rPr lang="fr-FR" dirty="0"/>
              <a:t> Déclaration </a:t>
            </a:r>
            <a:r>
              <a:rPr lang="fr-FR" dirty="0" smtClean="0"/>
              <a:t>incrémentale</a:t>
            </a:r>
          </a:p>
          <a:p>
            <a:pPr>
              <a:lnSpc>
                <a:spcPct val="100000"/>
              </a:lnSpc>
              <a:buFont typeface="Wingdings" panose="05000000000000000000" pitchFamily="2" charset="2"/>
              <a:buChar char="Ø"/>
            </a:pPr>
            <a:r>
              <a:rPr lang="fr-FR" dirty="0"/>
              <a:t> Exploration </a:t>
            </a:r>
            <a:r>
              <a:rPr lang="fr-FR" dirty="0" smtClean="0"/>
              <a:t>d'API</a:t>
            </a:r>
          </a:p>
          <a:p>
            <a:pPr>
              <a:lnSpc>
                <a:spcPct val="100000"/>
              </a:lnSpc>
              <a:buFont typeface="Wingdings" panose="05000000000000000000" pitchFamily="2" charset="2"/>
              <a:buChar char="Ø"/>
            </a:pPr>
            <a:r>
              <a:rPr lang="fr-FR" dirty="0"/>
              <a:t> Chargement de fichiers de </a:t>
            </a:r>
            <a:r>
              <a:rPr lang="fr-FR" dirty="0" smtClean="0"/>
              <a:t>script</a:t>
            </a:r>
          </a:p>
          <a:p>
            <a:pPr>
              <a:lnSpc>
                <a:spcPct val="100000"/>
              </a:lnSpc>
              <a:buFont typeface="Wingdings" panose="05000000000000000000" pitchFamily="2" charset="2"/>
              <a:buChar char="Ø"/>
            </a:pPr>
            <a:r>
              <a:rPr lang="fr-FR" dirty="0"/>
              <a:t> Complétion </a:t>
            </a:r>
            <a:r>
              <a:rPr lang="fr-FR" dirty="0" smtClean="0"/>
              <a:t>automatique</a:t>
            </a:r>
          </a:p>
          <a:p>
            <a:pPr>
              <a:lnSpc>
                <a:spcPct val="100000"/>
              </a:lnSpc>
              <a:buFont typeface="Wingdings" panose="05000000000000000000" pitchFamily="2" charset="2"/>
              <a:buChar char="Ø"/>
            </a:pPr>
            <a:r>
              <a:rPr lang="fr-FR" dirty="0"/>
              <a:t> Documentation </a:t>
            </a:r>
            <a:r>
              <a:rPr lang="fr-FR" dirty="0" smtClean="0"/>
              <a:t>intégrée</a:t>
            </a:r>
          </a:p>
          <a:p>
            <a:pPr>
              <a:lnSpc>
                <a:spcPct val="100000"/>
              </a:lnSpc>
              <a:buFont typeface="Wingdings" panose="05000000000000000000" pitchFamily="2" charset="2"/>
              <a:buChar char="Ø"/>
            </a:pPr>
            <a:r>
              <a:rPr lang="fr-FR" dirty="0"/>
              <a:t> Importations </a:t>
            </a:r>
            <a:r>
              <a:rPr lang="fr-FR" dirty="0" smtClean="0"/>
              <a:t>automatiques</a:t>
            </a:r>
          </a:p>
          <a:p>
            <a:pPr>
              <a:lnSpc>
                <a:spcPct val="100000"/>
              </a:lnSpc>
              <a:buFont typeface="Wingdings" panose="05000000000000000000" pitchFamily="2" charset="2"/>
              <a:buChar char="Ø"/>
            </a:pPr>
            <a:r>
              <a:rPr lang="fr-FR" dirty="0"/>
              <a:t> Sauvegarde et récupération des </a:t>
            </a:r>
            <a:r>
              <a:rPr lang="fr-FR" dirty="0" smtClean="0"/>
              <a:t>sessions</a:t>
            </a:r>
          </a:p>
          <a:p>
            <a:pPr>
              <a:lnSpc>
                <a:spcPct val="100000"/>
              </a:lnSpc>
              <a:buFont typeface="Wingdings" panose="05000000000000000000" pitchFamily="2" charset="2"/>
              <a:buChar char="Ø"/>
            </a:pPr>
            <a:r>
              <a:rPr lang="fr-FR" dirty="0"/>
              <a:t> Définition de méthodes et </a:t>
            </a:r>
            <a:r>
              <a:rPr lang="fr-FR" dirty="0" smtClean="0"/>
              <a:t>classes</a:t>
            </a:r>
          </a:p>
          <a:p>
            <a:pPr>
              <a:lnSpc>
                <a:spcPct val="100000"/>
              </a:lnSpc>
              <a:buFont typeface="Wingdings" panose="05000000000000000000" pitchFamily="2" charset="2"/>
              <a:buChar char="Ø"/>
            </a:pPr>
            <a:endParaRPr lang="fr-FR" dirty="0"/>
          </a:p>
        </p:txBody>
      </p:sp>
    </p:spTree>
    <p:extLst>
      <p:ext uri="{BB962C8B-B14F-4D97-AF65-F5344CB8AC3E}">
        <p14:creationId xmlns:p14="http://schemas.microsoft.com/office/powerpoint/2010/main" val="2145910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Commandes utiles</a:t>
            </a:r>
          </a:p>
        </p:txBody>
      </p:sp>
      <p:pic>
        <p:nvPicPr>
          <p:cNvPr id="4" name="Espace réservé du contenu 3"/>
          <p:cNvPicPr>
            <a:picLocks noGrp="1" noChangeAspect="1"/>
          </p:cNvPicPr>
          <p:nvPr>
            <p:ph idx="1"/>
          </p:nvPr>
        </p:nvPicPr>
        <p:blipFill>
          <a:blip r:embed="rId2"/>
          <a:stretch>
            <a:fillRect/>
          </a:stretch>
        </p:blipFill>
        <p:spPr>
          <a:xfrm>
            <a:off x="1421175" y="2038120"/>
            <a:ext cx="9970265" cy="4131325"/>
          </a:xfrm>
          <a:prstGeom prst="rect">
            <a:avLst/>
          </a:prstGeom>
        </p:spPr>
      </p:pic>
    </p:spTree>
    <p:extLst>
      <p:ext uri="{BB962C8B-B14F-4D97-AF65-F5344CB8AC3E}">
        <p14:creationId xmlns:p14="http://schemas.microsoft.com/office/powerpoint/2010/main" val="36089011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Exécution interactive du code</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Évaluez directement des expressions ou du code Java</a:t>
            </a:r>
            <a:r>
              <a:rPr lang="fr-FR" dirty="0" smtClean="0"/>
              <a:t>.</a:t>
            </a:r>
          </a:p>
          <a:p>
            <a:pPr>
              <a:buFont typeface="Wingdings" panose="05000000000000000000" pitchFamily="2" charset="2"/>
              <a:buChar char="Ø"/>
            </a:pPr>
            <a:r>
              <a:rPr lang="fr-FR" dirty="0"/>
              <a:t> </a:t>
            </a:r>
            <a:r>
              <a:rPr lang="fr-FR" dirty="0" smtClean="0"/>
              <a:t>Exemple :</a:t>
            </a:r>
            <a:endParaRPr lang="fr-FR" dirty="0"/>
          </a:p>
        </p:txBody>
      </p:sp>
      <p:pic>
        <p:nvPicPr>
          <p:cNvPr id="4" name="Image 3"/>
          <p:cNvPicPr>
            <a:picLocks noChangeAspect="1"/>
          </p:cNvPicPr>
          <p:nvPr/>
        </p:nvPicPr>
        <p:blipFill>
          <a:blip r:embed="rId2"/>
          <a:stretch>
            <a:fillRect/>
          </a:stretch>
        </p:blipFill>
        <p:spPr>
          <a:xfrm>
            <a:off x="3888317" y="2865965"/>
            <a:ext cx="4629150" cy="1790701"/>
          </a:xfrm>
          <a:prstGeom prst="rect">
            <a:avLst/>
          </a:prstGeom>
        </p:spPr>
      </p:pic>
    </p:spTree>
    <p:extLst>
      <p:ext uri="{BB962C8B-B14F-4D97-AF65-F5344CB8AC3E}">
        <p14:creationId xmlns:p14="http://schemas.microsoft.com/office/powerpoint/2010/main" val="9084653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Déclaration incrémentale</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Vous pouvez ajouter des déclarations pas à pas</a:t>
            </a:r>
            <a:r>
              <a:rPr lang="fr-FR" dirty="0" smtClean="0"/>
              <a:t>.</a:t>
            </a:r>
          </a:p>
          <a:p>
            <a:pPr>
              <a:buFont typeface="Wingdings" panose="05000000000000000000" pitchFamily="2" charset="2"/>
              <a:buChar char="Ø"/>
            </a:pPr>
            <a:r>
              <a:rPr lang="fr-FR" dirty="0"/>
              <a:t> </a:t>
            </a:r>
            <a:r>
              <a:rPr lang="fr-FR" dirty="0" smtClean="0"/>
              <a:t>Exemple :</a:t>
            </a:r>
            <a:endParaRPr lang="fr-FR" dirty="0"/>
          </a:p>
        </p:txBody>
      </p:sp>
      <p:pic>
        <p:nvPicPr>
          <p:cNvPr id="4" name="Image 3"/>
          <p:cNvPicPr>
            <a:picLocks noChangeAspect="1"/>
          </p:cNvPicPr>
          <p:nvPr/>
        </p:nvPicPr>
        <p:blipFill>
          <a:blip r:embed="rId2"/>
          <a:stretch>
            <a:fillRect/>
          </a:stretch>
        </p:blipFill>
        <p:spPr>
          <a:xfrm>
            <a:off x="2946400" y="2947987"/>
            <a:ext cx="4421187" cy="1420813"/>
          </a:xfrm>
          <a:prstGeom prst="rect">
            <a:avLst/>
          </a:prstGeom>
        </p:spPr>
      </p:pic>
    </p:spTree>
    <p:extLst>
      <p:ext uri="{BB962C8B-B14F-4D97-AF65-F5344CB8AC3E}">
        <p14:creationId xmlns:p14="http://schemas.microsoft.com/office/powerpoint/2010/main" val="2662203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Exploration d'API</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Tester rapidement les méthodes et fonctionnalités des classes Java standard ou de bibliothèques tierces</a:t>
            </a:r>
            <a:r>
              <a:rPr lang="fr-FR" dirty="0" smtClean="0"/>
              <a:t>.</a:t>
            </a:r>
          </a:p>
          <a:p>
            <a:pPr>
              <a:buFont typeface="Wingdings" panose="05000000000000000000" pitchFamily="2" charset="2"/>
              <a:buChar char="Ø"/>
            </a:pPr>
            <a:r>
              <a:rPr lang="fr-FR" dirty="0"/>
              <a:t> Exemple avec l'API String :</a:t>
            </a:r>
          </a:p>
        </p:txBody>
      </p:sp>
      <p:pic>
        <p:nvPicPr>
          <p:cNvPr id="5" name="Image 4"/>
          <p:cNvPicPr>
            <a:picLocks noChangeAspect="1"/>
          </p:cNvPicPr>
          <p:nvPr/>
        </p:nvPicPr>
        <p:blipFill>
          <a:blip r:embed="rId2"/>
          <a:stretch>
            <a:fillRect/>
          </a:stretch>
        </p:blipFill>
        <p:spPr>
          <a:xfrm>
            <a:off x="3149600" y="3186112"/>
            <a:ext cx="4294187" cy="1098021"/>
          </a:xfrm>
          <a:prstGeom prst="rect">
            <a:avLst/>
          </a:prstGeom>
        </p:spPr>
      </p:pic>
    </p:spTree>
    <p:extLst>
      <p:ext uri="{BB962C8B-B14F-4D97-AF65-F5344CB8AC3E}">
        <p14:creationId xmlns:p14="http://schemas.microsoft.com/office/powerpoint/2010/main" val="40281736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Chargement de fichiers de script</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Vous pouvez charger et exécuter un fichier contenant du code Java :</a:t>
            </a:r>
          </a:p>
        </p:txBody>
      </p:sp>
      <p:pic>
        <p:nvPicPr>
          <p:cNvPr id="4" name="Image 3"/>
          <p:cNvPicPr>
            <a:picLocks noChangeAspect="1"/>
          </p:cNvPicPr>
          <p:nvPr/>
        </p:nvPicPr>
        <p:blipFill>
          <a:blip r:embed="rId2"/>
          <a:stretch>
            <a:fillRect/>
          </a:stretch>
        </p:blipFill>
        <p:spPr>
          <a:xfrm>
            <a:off x="3420533" y="3211301"/>
            <a:ext cx="3420322" cy="734166"/>
          </a:xfrm>
          <a:prstGeom prst="rect">
            <a:avLst/>
          </a:prstGeom>
        </p:spPr>
      </p:pic>
    </p:spTree>
    <p:extLst>
      <p:ext uri="{BB962C8B-B14F-4D97-AF65-F5344CB8AC3E}">
        <p14:creationId xmlns:p14="http://schemas.microsoft.com/office/powerpoint/2010/main" val="376647979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Complétion automatique</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4000" dirty="0"/>
              <a:t> </a:t>
            </a:r>
            <a:r>
              <a:rPr lang="fr-FR" sz="4000" dirty="0" err="1"/>
              <a:t>JShell</a:t>
            </a:r>
            <a:r>
              <a:rPr lang="fr-FR" sz="4000" dirty="0"/>
              <a:t> propose des suggestions pour les commandes, méthodes et classes via la touche </a:t>
            </a:r>
            <a:r>
              <a:rPr lang="fr-FR" sz="4000" b="1" dirty="0" err="1"/>
              <a:t>Tab</a:t>
            </a:r>
            <a:r>
              <a:rPr lang="fr-FR" sz="4000" dirty="0" err="1"/>
              <a:t>.</a:t>
            </a:r>
            <a:endParaRPr lang="fr-FR" sz="4000" dirty="0"/>
          </a:p>
        </p:txBody>
      </p:sp>
    </p:spTree>
    <p:extLst>
      <p:ext uri="{BB962C8B-B14F-4D97-AF65-F5344CB8AC3E}">
        <p14:creationId xmlns:p14="http://schemas.microsoft.com/office/powerpoint/2010/main" val="39691426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Documentation intégrée</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4000" dirty="0"/>
              <a:t> Utilisez /help pour obtenir de l'aide sur les commandes </a:t>
            </a:r>
            <a:r>
              <a:rPr lang="fr-FR" sz="4000" dirty="0" err="1"/>
              <a:t>JShell</a:t>
            </a:r>
            <a:r>
              <a:rPr lang="fr-FR" sz="4000" dirty="0"/>
              <a:t>.</a:t>
            </a:r>
          </a:p>
        </p:txBody>
      </p:sp>
    </p:spTree>
    <p:extLst>
      <p:ext uri="{BB962C8B-B14F-4D97-AF65-F5344CB8AC3E}">
        <p14:creationId xmlns:p14="http://schemas.microsoft.com/office/powerpoint/2010/main" val="23519839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Importations automatiques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4000" dirty="0"/>
              <a:t> Certains packages courants, comme </a:t>
            </a:r>
            <a:r>
              <a:rPr lang="fr-FR" sz="4000" dirty="0" err="1"/>
              <a:t>java.lang</a:t>
            </a:r>
            <a:r>
              <a:rPr lang="fr-FR" sz="4000" dirty="0"/>
              <a:t>, </a:t>
            </a:r>
            <a:r>
              <a:rPr lang="fr-FR" sz="4000" dirty="0" err="1"/>
              <a:t>java.util</a:t>
            </a:r>
            <a:r>
              <a:rPr lang="fr-FR" sz="4000" dirty="0"/>
              <a:t>, et java.io, sont importés automatiquement.</a:t>
            </a:r>
          </a:p>
        </p:txBody>
      </p:sp>
    </p:spTree>
    <p:extLst>
      <p:ext uri="{BB962C8B-B14F-4D97-AF65-F5344CB8AC3E}">
        <p14:creationId xmlns:p14="http://schemas.microsoft.com/office/powerpoint/2010/main" val="28824100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Sauvegarde et récupération des sessions</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Enregistrez une session pour la reprendre plus tard :</a:t>
            </a:r>
            <a:r>
              <a:rPr lang="fr-FR" dirty="0" err="1"/>
              <a:t>bashCopier</a:t>
            </a:r>
            <a:r>
              <a:rPr lang="fr-FR" dirty="0"/>
              <a:t> le code</a:t>
            </a:r>
          </a:p>
        </p:txBody>
      </p:sp>
      <p:pic>
        <p:nvPicPr>
          <p:cNvPr id="4" name="Image 3"/>
          <p:cNvPicPr>
            <a:picLocks noChangeAspect="1"/>
          </p:cNvPicPr>
          <p:nvPr/>
        </p:nvPicPr>
        <p:blipFill>
          <a:blip r:embed="rId2"/>
          <a:stretch>
            <a:fillRect/>
          </a:stretch>
        </p:blipFill>
        <p:spPr>
          <a:xfrm>
            <a:off x="4334933" y="2438400"/>
            <a:ext cx="2394479" cy="1252537"/>
          </a:xfrm>
          <a:prstGeom prst="rect">
            <a:avLst/>
          </a:prstGeom>
        </p:spPr>
      </p:pic>
    </p:spTree>
    <p:extLst>
      <p:ext uri="{BB962C8B-B14F-4D97-AF65-F5344CB8AC3E}">
        <p14:creationId xmlns:p14="http://schemas.microsoft.com/office/powerpoint/2010/main" val="31411009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Définition de méthodes et classes</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Vous pouvez créer et tester des méthodes ou des classes directement</a:t>
            </a:r>
            <a:r>
              <a:rPr lang="fr-FR" dirty="0" smtClean="0"/>
              <a:t>.</a:t>
            </a:r>
          </a:p>
          <a:p>
            <a:pPr>
              <a:buFont typeface="Wingdings" panose="05000000000000000000" pitchFamily="2" charset="2"/>
              <a:buChar char="Ø"/>
            </a:pPr>
            <a:r>
              <a:rPr lang="fr-FR" dirty="0"/>
              <a:t> </a:t>
            </a:r>
            <a:r>
              <a:rPr lang="fr-FR" dirty="0" smtClean="0"/>
              <a:t>Exemple :</a:t>
            </a:r>
            <a:endParaRPr lang="fr-FR" dirty="0"/>
          </a:p>
        </p:txBody>
      </p:sp>
      <p:pic>
        <p:nvPicPr>
          <p:cNvPr id="4" name="Image 3"/>
          <p:cNvPicPr>
            <a:picLocks noChangeAspect="1"/>
          </p:cNvPicPr>
          <p:nvPr/>
        </p:nvPicPr>
        <p:blipFill>
          <a:blip r:embed="rId2"/>
          <a:stretch>
            <a:fillRect/>
          </a:stretch>
        </p:blipFill>
        <p:spPr>
          <a:xfrm>
            <a:off x="4433887" y="3114675"/>
            <a:ext cx="5268913" cy="1389592"/>
          </a:xfrm>
          <a:prstGeom prst="rect">
            <a:avLst/>
          </a:prstGeom>
        </p:spPr>
      </p:pic>
    </p:spTree>
    <p:extLst>
      <p:ext uri="{BB962C8B-B14F-4D97-AF65-F5344CB8AC3E}">
        <p14:creationId xmlns:p14="http://schemas.microsoft.com/office/powerpoint/2010/main" val="662477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 principaux de </a:t>
            </a:r>
            <a:r>
              <a:rPr lang="fr-FR" b="1" dirty="0" err="1"/>
              <a:t>JShell</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Rapidité : Vous évitez les étapes fastidieuses de compilation et d'exécution</a:t>
            </a:r>
            <a:r>
              <a:rPr lang="fr-FR" sz="2800" dirty="0" smtClean="0"/>
              <a:t>.</a:t>
            </a:r>
          </a:p>
          <a:p>
            <a:pPr algn="just">
              <a:lnSpc>
                <a:spcPct val="150000"/>
              </a:lnSpc>
              <a:buFont typeface="Wingdings" panose="05000000000000000000" pitchFamily="2" charset="2"/>
              <a:buChar char="Ø"/>
            </a:pPr>
            <a:r>
              <a:rPr lang="fr-FR" sz="2800" dirty="0" smtClean="0"/>
              <a:t>Interactivité </a:t>
            </a:r>
            <a:r>
              <a:rPr lang="fr-FR" sz="2800" dirty="0"/>
              <a:t>: Retour immédiat sur les commandes et expressions</a:t>
            </a:r>
            <a:r>
              <a:rPr lang="fr-FR" sz="2800" dirty="0" smtClean="0"/>
              <a:t>.</a:t>
            </a:r>
          </a:p>
          <a:p>
            <a:pPr algn="just">
              <a:lnSpc>
                <a:spcPct val="150000"/>
              </a:lnSpc>
              <a:buFont typeface="Wingdings" panose="05000000000000000000" pitchFamily="2" charset="2"/>
              <a:buChar char="Ø"/>
            </a:pPr>
            <a:r>
              <a:rPr lang="fr-FR" sz="2800" dirty="0" smtClean="0"/>
              <a:t>Simplicité </a:t>
            </a:r>
            <a:r>
              <a:rPr lang="fr-FR" sz="2800" dirty="0"/>
              <a:t>: Idéal pour expérimenter, sans configuration complexe.</a:t>
            </a:r>
          </a:p>
        </p:txBody>
      </p:sp>
    </p:spTree>
    <p:extLst>
      <p:ext uri="{BB962C8B-B14F-4D97-AF65-F5344CB8AC3E}">
        <p14:creationId xmlns:p14="http://schemas.microsoft.com/office/powerpoint/2010/main" val="3373325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Cas d'utilisation de </a:t>
            </a:r>
            <a:r>
              <a:rPr lang="fr-FR" b="1" dirty="0" err="1" smtClean="0"/>
              <a:t>JShell</a:t>
            </a:r>
            <a:endParaRPr lang="fr-FR" dirty="0"/>
          </a:p>
        </p:txBody>
      </p:sp>
      <p:sp>
        <p:nvSpPr>
          <p:cNvPr id="3" name="Espace réservé du contenu 2"/>
          <p:cNvSpPr>
            <a:spLocks noGrp="1"/>
          </p:cNvSpPr>
          <p:nvPr>
            <p:ph idx="1"/>
          </p:nvPr>
        </p:nvSpPr>
        <p:spPr/>
        <p:txBody>
          <a:bodyPr/>
          <a:lstStyle/>
          <a:p>
            <a:pPr algn="just">
              <a:buFont typeface="Wingdings" panose="05000000000000000000" pitchFamily="2" charset="2"/>
              <a:buChar char="Ø"/>
            </a:pPr>
            <a:r>
              <a:rPr lang="fr-FR" dirty="0"/>
              <a:t> Apprentissage et enseignement : Les enseignants et les étudiants peuvent utiliser </a:t>
            </a:r>
            <a:r>
              <a:rPr lang="fr-FR" dirty="0" err="1"/>
              <a:t>JShell</a:t>
            </a:r>
            <a:r>
              <a:rPr lang="fr-FR" dirty="0"/>
              <a:t> pour comprendre les concepts de base sans avoir à configurer un IDE ou un projet.</a:t>
            </a:r>
            <a:endParaRPr lang="fr-FR" dirty="0" smtClean="0"/>
          </a:p>
          <a:p>
            <a:pPr algn="just">
              <a:buFont typeface="Wingdings" panose="05000000000000000000" pitchFamily="2" charset="2"/>
              <a:buChar char="Ø"/>
            </a:pPr>
            <a:r>
              <a:rPr lang="fr-FR" dirty="0"/>
              <a:t> Prototypage rapide : Testez une nouvelle logique ou algorithme avant de l'intégrer dans un projet.</a:t>
            </a:r>
            <a:endParaRPr lang="fr-FR" dirty="0" smtClean="0"/>
          </a:p>
          <a:p>
            <a:pPr algn="just">
              <a:buFont typeface="Wingdings" panose="05000000000000000000" pitchFamily="2" charset="2"/>
              <a:buChar char="Ø"/>
            </a:pPr>
            <a:r>
              <a:rPr lang="fr-FR" dirty="0"/>
              <a:t> Exploration des </a:t>
            </a:r>
            <a:r>
              <a:rPr lang="fr-FR" dirty="0" smtClean="0"/>
              <a:t>bibliothèques </a:t>
            </a:r>
            <a:r>
              <a:rPr lang="fr-FR" dirty="0"/>
              <a:t>: Testez les classes, les interfaces ou les nouvelles fonctionnalités d'une version de Java (comme les flux ou les modules).</a:t>
            </a:r>
            <a:endParaRPr lang="fr-FR" dirty="0" smtClean="0"/>
          </a:p>
          <a:p>
            <a:pPr algn="just">
              <a:buFont typeface="Wingdings" panose="05000000000000000000" pitchFamily="2" charset="2"/>
              <a:buChar char="Ø"/>
            </a:pPr>
            <a:r>
              <a:rPr lang="fr-FR" dirty="0"/>
              <a:t> Débogage rapide : Identifiez et corrigez des erreurs dans un bout de code spécifique sans exécuter l'application complète.</a:t>
            </a:r>
            <a:endParaRPr lang="fr-FR" dirty="0" smtClean="0"/>
          </a:p>
          <a:p>
            <a:pPr algn="just">
              <a:buFont typeface="Wingdings" panose="05000000000000000000" pitchFamily="2" charset="2"/>
              <a:buChar char="Ø"/>
            </a:pPr>
            <a:r>
              <a:rPr lang="fr-FR" dirty="0"/>
              <a:t> Script de configuration : Utilisez </a:t>
            </a:r>
            <a:r>
              <a:rPr lang="fr-FR" dirty="0" err="1"/>
              <a:t>JShell</a:t>
            </a:r>
            <a:r>
              <a:rPr lang="fr-FR" dirty="0"/>
              <a:t> pour écrire des scripts de configuration ou des tâches Java simples.</a:t>
            </a:r>
          </a:p>
        </p:txBody>
      </p:sp>
    </p:spTree>
    <p:extLst>
      <p:ext uri="{BB962C8B-B14F-4D97-AF65-F5344CB8AC3E}">
        <p14:creationId xmlns:p14="http://schemas.microsoft.com/office/powerpoint/2010/main" val="1107215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Exemple </a:t>
            </a:r>
            <a:endParaRPr lang="fr-FR" b="1" dirty="0"/>
          </a:p>
        </p:txBody>
      </p:sp>
      <p:pic>
        <p:nvPicPr>
          <p:cNvPr id="4" name="Espace réservé du contenu 3"/>
          <p:cNvPicPr>
            <a:picLocks noGrp="1" noChangeAspect="1"/>
          </p:cNvPicPr>
          <p:nvPr>
            <p:ph idx="1"/>
          </p:nvPr>
        </p:nvPicPr>
        <p:blipFill>
          <a:blip r:embed="rId2"/>
          <a:stretch>
            <a:fillRect/>
          </a:stretch>
        </p:blipFill>
        <p:spPr>
          <a:xfrm>
            <a:off x="1642533" y="1981200"/>
            <a:ext cx="8771467" cy="4165599"/>
          </a:xfrm>
          <a:prstGeom prst="rect">
            <a:avLst/>
          </a:prstGeom>
        </p:spPr>
      </p:pic>
    </p:spTree>
    <p:extLst>
      <p:ext uri="{BB962C8B-B14F-4D97-AF65-F5344CB8AC3E}">
        <p14:creationId xmlns:p14="http://schemas.microsoft.com/office/powerpoint/2010/main" val="25596512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TP</a:t>
            </a:r>
            <a:endParaRPr lang="fr-FR" b="1" dirty="0"/>
          </a:p>
        </p:txBody>
      </p:sp>
      <p:sp>
        <p:nvSpPr>
          <p:cNvPr id="3" name="Espace réservé du contenu 2"/>
          <p:cNvSpPr>
            <a:spLocks noGrp="1"/>
          </p:cNvSpPr>
          <p:nvPr>
            <p:ph idx="1"/>
          </p:nvPr>
        </p:nvSpPr>
        <p:spPr/>
        <p:txBody>
          <a:bodyPr>
            <a:normAutofit fontScale="70000" lnSpcReduction="20000"/>
          </a:bodyPr>
          <a:lstStyle/>
          <a:p>
            <a:pPr algn="just">
              <a:lnSpc>
                <a:spcPct val="200000"/>
              </a:lnSpc>
              <a:buFont typeface="Wingdings" panose="05000000000000000000" pitchFamily="2" charset="2"/>
              <a:buChar char="Ø"/>
            </a:pPr>
            <a:r>
              <a:rPr lang="fr-FR" sz="3600" dirty="0" smtClean="0"/>
              <a:t>Objectifs :</a:t>
            </a:r>
          </a:p>
          <a:p>
            <a:pPr lvl="1" algn="just">
              <a:lnSpc>
                <a:spcPct val="200000"/>
              </a:lnSpc>
              <a:buFont typeface="Wingdings" panose="05000000000000000000" pitchFamily="2" charset="2"/>
              <a:buChar char="Ø"/>
            </a:pPr>
            <a:r>
              <a:rPr lang="fr-FR" sz="3400" dirty="0"/>
              <a:t> </a:t>
            </a:r>
            <a:r>
              <a:rPr lang="fr-FR" sz="3600" dirty="0"/>
              <a:t>Comprendre le fonctionnement de </a:t>
            </a:r>
            <a:r>
              <a:rPr lang="fr-FR" sz="3600" dirty="0" err="1"/>
              <a:t>JShell</a:t>
            </a:r>
            <a:r>
              <a:rPr lang="fr-FR" sz="3600" dirty="0"/>
              <a:t>, l'outil REPL (Read-</a:t>
            </a:r>
            <a:r>
              <a:rPr lang="fr-FR" sz="3600" dirty="0" err="1"/>
              <a:t>Eval</a:t>
            </a:r>
            <a:r>
              <a:rPr lang="fr-FR" sz="3600" dirty="0"/>
              <a:t>-</a:t>
            </a:r>
            <a:r>
              <a:rPr lang="fr-FR" sz="3600" dirty="0" err="1"/>
              <a:t>Print</a:t>
            </a:r>
            <a:r>
              <a:rPr lang="fr-FR" sz="3600" dirty="0"/>
              <a:t> Loop) de Java</a:t>
            </a:r>
            <a:r>
              <a:rPr lang="fr-FR" sz="3600" dirty="0" smtClean="0"/>
              <a:t>.</a:t>
            </a:r>
          </a:p>
          <a:p>
            <a:pPr lvl="1" algn="just">
              <a:lnSpc>
                <a:spcPct val="200000"/>
              </a:lnSpc>
              <a:buFont typeface="Wingdings" panose="05000000000000000000" pitchFamily="2" charset="2"/>
              <a:buChar char="Ø"/>
            </a:pPr>
            <a:r>
              <a:rPr lang="fr-FR" sz="3600" dirty="0"/>
              <a:t> Exécuter et tester du code Java en mode interactif</a:t>
            </a:r>
            <a:r>
              <a:rPr lang="fr-FR" sz="3600" dirty="0" smtClean="0"/>
              <a:t>.</a:t>
            </a:r>
          </a:p>
          <a:p>
            <a:pPr lvl="1" algn="just">
              <a:lnSpc>
                <a:spcPct val="200000"/>
              </a:lnSpc>
              <a:buFont typeface="Wingdings" panose="05000000000000000000" pitchFamily="2" charset="2"/>
              <a:buChar char="Ø"/>
            </a:pPr>
            <a:r>
              <a:rPr lang="fr-FR" sz="3600" dirty="0"/>
              <a:t> Explorer les nouvelles fonctionnalités de Java via </a:t>
            </a:r>
            <a:r>
              <a:rPr lang="fr-FR" sz="3600" dirty="0" err="1"/>
              <a:t>JShell</a:t>
            </a:r>
            <a:r>
              <a:rPr lang="fr-FR" sz="3600" dirty="0"/>
              <a:t>.</a:t>
            </a:r>
            <a:endParaRPr lang="fr-FR" sz="3400" dirty="0"/>
          </a:p>
        </p:txBody>
      </p:sp>
    </p:spTree>
    <p:extLst>
      <p:ext uri="{BB962C8B-B14F-4D97-AF65-F5344CB8AC3E}">
        <p14:creationId xmlns:p14="http://schemas.microsoft.com/office/powerpoint/2010/main" val="2712427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Prérequis</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Java </a:t>
            </a:r>
            <a:r>
              <a:rPr lang="fr-FR" sz="3600" dirty="0" err="1"/>
              <a:t>Development</a:t>
            </a:r>
            <a:r>
              <a:rPr lang="fr-FR" sz="3600" dirty="0"/>
              <a:t> Kit </a:t>
            </a:r>
            <a:r>
              <a:rPr lang="fr-FR" sz="3600" b="1" dirty="0"/>
              <a:t>(JDK) 9 </a:t>
            </a:r>
            <a:r>
              <a:rPr lang="fr-FR" sz="3600" dirty="0"/>
              <a:t>ou supérieur installé</a:t>
            </a:r>
            <a:r>
              <a:rPr lang="fr-FR" sz="3600" dirty="0" smtClean="0"/>
              <a:t>.</a:t>
            </a:r>
          </a:p>
          <a:p>
            <a:pPr algn="just">
              <a:lnSpc>
                <a:spcPct val="200000"/>
              </a:lnSpc>
              <a:buFont typeface="Wingdings" panose="05000000000000000000" pitchFamily="2" charset="2"/>
              <a:buChar char="Ø"/>
            </a:pPr>
            <a:r>
              <a:rPr lang="fr-FR" sz="3600" dirty="0"/>
              <a:t> Terminal ou IDE prenant en charge </a:t>
            </a:r>
            <a:r>
              <a:rPr lang="fr-FR" sz="3600" b="1" dirty="0" err="1"/>
              <a:t>JShell</a:t>
            </a:r>
            <a:r>
              <a:rPr lang="fr-FR" sz="3600" dirty="0"/>
              <a:t>.</a:t>
            </a:r>
          </a:p>
        </p:txBody>
      </p:sp>
    </p:spTree>
    <p:extLst>
      <p:ext uri="{BB962C8B-B14F-4D97-AF65-F5344CB8AC3E}">
        <p14:creationId xmlns:p14="http://schemas.microsoft.com/office/powerpoint/2010/main" val="133407555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7280" y="286604"/>
            <a:ext cx="10058400" cy="949530"/>
          </a:xfrm>
        </p:spPr>
        <p:txBody>
          <a:bodyPr anchor="ctr"/>
          <a:lstStyle/>
          <a:p>
            <a:pPr algn="ctr"/>
            <a:r>
              <a:rPr lang="fr-FR" b="1" dirty="0"/>
              <a:t>Premiers pas avec </a:t>
            </a:r>
            <a:r>
              <a:rPr lang="fr-FR" b="1" dirty="0" err="1"/>
              <a:t>JShell</a:t>
            </a:r>
            <a:endParaRPr lang="fr-FR" b="1" dirty="0"/>
          </a:p>
        </p:txBody>
      </p:sp>
      <p:sp>
        <p:nvSpPr>
          <p:cNvPr id="3" name="Espace réservé du contenu 2"/>
          <p:cNvSpPr>
            <a:spLocks noGrp="1"/>
          </p:cNvSpPr>
          <p:nvPr>
            <p:ph idx="1"/>
          </p:nvPr>
        </p:nvSpPr>
        <p:spPr>
          <a:xfrm>
            <a:off x="1097280" y="1845733"/>
            <a:ext cx="10058400" cy="4385733"/>
          </a:xfrm>
        </p:spPr>
        <p:txBody>
          <a:bodyPr>
            <a:noAutofit/>
          </a:bodyPr>
          <a:lstStyle/>
          <a:p>
            <a:pPr>
              <a:buFont typeface="Wingdings" panose="05000000000000000000" pitchFamily="2" charset="2"/>
              <a:buChar char="Ø"/>
            </a:pPr>
            <a:r>
              <a:rPr lang="fr-FR" dirty="0"/>
              <a:t> </a:t>
            </a:r>
            <a:r>
              <a:rPr lang="fr-FR" b="1" dirty="0"/>
              <a:t>Lancer </a:t>
            </a:r>
            <a:r>
              <a:rPr lang="fr-FR" b="1" dirty="0" err="1"/>
              <a:t>JShell</a:t>
            </a:r>
            <a:r>
              <a:rPr lang="fr-FR" b="1" dirty="0"/>
              <a:t> </a:t>
            </a:r>
            <a:r>
              <a:rPr lang="fr-FR" b="1" dirty="0" smtClean="0"/>
              <a:t>:</a:t>
            </a:r>
          </a:p>
          <a:p>
            <a:pPr lvl="1">
              <a:buFont typeface="Wingdings" panose="05000000000000000000" pitchFamily="2" charset="2"/>
              <a:buChar char="Ø"/>
            </a:pPr>
            <a:r>
              <a:rPr lang="fr-FR" dirty="0"/>
              <a:t> Ouvrez un terminal</a:t>
            </a:r>
            <a:r>
              <a:rPr lang="fr-FR" dirty="0" smtClean="0"/>
              <a:t>.</a:t>
            </a:r>
          </a:p>
          <a:p>
            <a:pPr lvl="1">
              <a:buFont typeface="Wingdings" panose="05000000000000000000" pitchFamily="2" charset="2"/>
              <a:buChar char="Ø"/>
            </a:pPr>
            <a:r>
              <a:rPr lang="fr-FR" dirty="0"/>
              <a:t> Tapez </a:t>
            </a:r>
            <a:r>
              <a:rPr lang="fr-FR" b="1" dirty="0" err="1"/>
              <a:t>jshell</a:t>
            </a:r>
            <a:r>
              <a:rPr lang="fr-FR" dirty="0"/>
              <a:t> et appuyez sur Entrée</a:t>
            </a:r>
            <a:r>
              <a:rPr lang="fr-FR" dirty="0" smtClean="0"/>
              <a:t>.</a:t>
            </a:r>
          </a:p>
          <a:p>
            <a:pPr lvl="1">
              <a:buFont typeface="Wingdings" panose="05000000000000000000" pitchFamily="2" charset="2"/>
              <a:buChar char="Ø"/>
            </a:pPr>
            <a:r>
              <a:rPr lang="fr-FR" dirty="0"/>
              <a:t> Notez l'invite -&gt;, indiquant que </a:t>
            </a:r>
            <a:r>
              <a:rPr lang="fr-FR" b="1" dirty="0" err="1"/>
              <a:t>JShell</a:t>
            </a:r>
            <a:r>
              <a:rPr lang="fr-FR" dirty="0"/>
              <a:t> est prêt à recevoir des commandes</a:t>
            </a:r>
            <a:r>
              <a:rPr lang="fr-FR" dirty="0" smtClean="0"/>
              <a:t>.</a:t>
            </a:r>
          </a:p>
          <a:p>
            <a:pPr>
              <a:buFont typeface="Wingdings" panose="05000000000000000000" pitchFamily="2" charset="2"/>
              <a:buChar char="Ø"/>
            </a:pPr>
            <a:r>
              <a:rPr lang="fr-FR" dirty="0"/>
              <a:t> </a:t>
            </a:r>
            <a:r>
              <a:rPr lang="fr-FR" b="1" dirty="0"/>
              <a:t>Effectuer des opérations simples </a:t>
            </a:r>
            <a:r>
              <a:rPr lang="fr-FR" b="1" dirty="0" smtClean="0"/>
              <a:t>:</a:t>
            </a:r>
          </a:p>
          <a:p>
            <a:pPr lvl="1">
              <a:buFont typeface="Wingdings" panose="05000000000000000000" pitchFamily="2" charset="2"/>
              <a:buChar char="Ø"/>
            </a:pPr>
            <a:r>
              <a:rPr lang="fr-FR" dirty="0"/>
              <a:t> Addition : </a:t>
            </a:r>
            <a:r>
              <a:rPr lang="fr-FR" b="1" dirty="0"/>
              <a:t>1 + </a:t>
            </a:r>
            <a:r>
              <a:rPr lang="fr-FR" b="1" dirty="0" smtClean="0"/>
              <a:t>1</a:t>
            </a:r>
          </a:p>
          <a:p>
            <a:pPr lvl="1">
              <a:buFont typeface="Wingdings" panose="05000000000000000000" pitchFamily="2" charset="2"/>
              <a:buChar char="Ø"/>
            </a:pPr>
            <a:r>
              <a:rPr lang="fr-FR" dirty="0"/>
              <a:t> Concaténation : </a:t>
            </a:r>
            <a:r>
              <a:rPr lang="fr-FR" b="1" dirty="0"/>
              <a:t>"Bonjour, " + "monde</a:t>
            </a:r>
            <a:r>
              <a:rPr lang="fr-FR" b="1" dirty="0" smtClean="0"/>
              <a:t>!« </a:t>
            </a:r>
          </a:p>
          <a:p>
            <a:pPr lvl="1">
              <a:buFont typeface="Wingdings" panose="05000000000000000000" pitchFamily="2" charset="2"/>
              <a:buChar char="Ø"/>
            </a:pPr>
            <a:r>
              <a:rPr lang="fr-FR" dirty="0"/>
              <a:t> Stocker une variable : </a:t>
            </a:r>
            <a:r>
              <a:rPr lang="fr-FR" b="1" dirty="0" smtClean="0"/>
              <a:t>var message = "Hello </a:t>
            </a:r>
            <a:r>
              <a:rPr lang="fr-FR" b="1" dirty="0" err="1" smtClean="0"/>
              <a:t>JShell</a:t>
            </a:r>
            <a:r>
              <a:rPr lang="fr-FR" b="1" dirty="0" smtClean="0"/>
              <a:t>";</a:t>
            </a:r>
          </a:p>
          <a:p>
            <a:pPr lvl="1">
              <a:buFont typeface="Wingdings" panose="05000000000000000000" pitchFamily="2" charset="2"/>
              <a:buChar char="Ø"/>
            </a:pPr>
            <a:r>
              <a:rPr lang="fr-FR" dirty="0" smtClean="0"/>
              <a:t> Afficher la valeur : </a:t>
            </a:r>
            <a:r>
              <a:rPr lang="fr-FR" b="1" dirty="0" smtClean="0"/>
              <a:t>message</a:t>
            </a:r>
          </a:p>
          <a:p>
            <a:pPr>
              <a:buFont typeface="Wingdings" panose="05000000000000000000" pitchFamily="2" charset="2"/>
              <a:buChar char="Ø"/>
            </a:pPr>
            <a:r>
              <a:rPr lang="fr-FR" b="1" dirty="0" smtClean="0"/>
              <a:t>Explorer </a:t>
            </a:r>
            <a:r>
              <a:rPr lang="fr-FR" b="1" dirty="0"/>
              <a:t>les commandes de base </a:t>
            </a:r>
            <a:r>
              <a:rPr lang="fr-FR" b="1" dirty="0" smtClean="0"/>
              <a:t>:</a:t>
            </a:r>
          </a:p>
          <a:p>
            <a:pPr lvl="1">
              <a:buFont typeface="Wingdings" panose="05000000000000000000" pitchFamily="2" charset="2"/>
              <a:buChar char="Ø"/>
            </a:pPr>
            <a:r>
              <a:rPr lang="fr-FR" dirty="0" smtClean="0"/>
              <a:t> Tapez </a:t>
            </a:r>
            <a:r>
              <a:rPr lang="fr-FR" b="1" dirty="0"/>
              <a:t>/help </a:t>
            </a:r>
            <a:r>
              <a:rPr lang="fr-FR" dirty="0"/>
              <a:t>pour afficher les commandes disponibles</a:t>
            </a:r>
            <a:r>
              <a:rPr lang="fr-FR" dirty="0" smtClean="0"/>
              <a:t>.</a:t>
            </a:r>
          </a:p>
          <a:p>
            <a:pPr lvl="1">
              <a:buFont typeface="Wingdings" panose="05000000000000000000" pitchFamily="2" charset="2"/>
              <a:buChar char="Ø"/>
            </a:pPr>
            <a:r>
              <a:rPr lang="fr-FR" dirty="0"/>
              <a:t> </a:t>
            </a:r>
            <a:r>
              <a:rPr lang="fr-FR" dirty="0" smtClean="0"/>
              <a:t>Essayez </a:t>
            </a:r>
            <a:r>
              <a:rPr lang="fr-FR" b="1" dirty="0"/>
              <a:t>/</a:t>
            </a:r>
            <a:r>
              <a:rPr lang="fr-FR" b="1" dirty="0" err="1"/>
              <a:t>list</a:t>
            </a:r>
            <a:r>
              <a:rPr lang="fr-FR" b="1" dirty="0"/>
              <a:t> </a:t>
            </a:r>
            <a:r>
              <a:rPr lang="fr-FR" dirty="0"/>
              <a:t>pour voir l'historique des commandes</a:t>
            </a:r>
            <a:r>
              <a:rPr lang="fr-FR" dirty="0" smtClean="0"/>
              <a:t>.</a:t>
            </a:r>
          </a:p>
          <a:p>
            <a:pPr lvl="1">
              <a:buFont typeface="Wingdings" panose="05000000000000000000" pitchFamily="2" charset="2"/>
              <a:buChar char="Ø"/>
            </a:pPr>
            <a:r>
              <a:rPr lang="fr-FR" dirty="0"/>
              <a:t> Supprimez une variable avec </a:t>
            </a:r>
            <a:r>
              <a:rPr lang="fr-FR" b="1" dirty="0"/>
              <a:t>/drop &lt;</a:t>
            </a:r>
            <a:r>
              <a:rPr lang="fr-FR" b="1" dirty="0" err="1"/>
              <a:t>nom_variable</a:t>
            </a:r>
            <a:r>
              <a:rPr lang="fr-FR" b="1" dirty="0"/>
              <a:t>&gt;.</a:t>
            </a:r>
          </a:p>
        </p:txBody>
      </p:sp>
    </p:spTree>
    <p:extLst>
      <p:ext uri="{BB962C8B-B14F-4D97-AF65-F5344CB8AC3E}">
        <p14:creationId xmlns:p14="http://schemas.microsoft.com/office/powerpoint/2010/main" val="164709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wipe(down)">
                                      <p:cBhvr>
                                        <p:cTn id="23" dur="580">
                                          <p:stCondLst>
                                            <p:cond delay="0"/>
                                          </p:stCondLst>
                                        </p:cTn>
                                        <p:tgtEl>
                                          <p:spTgt spid="3">
                                            <p:txEl>
                                              <p:pRg st="1" end="1"/>
                                            </p:txEl>
                                          </p:spTgt>
                                        </p:tgtEl>
                                      </p:cBhvr>
                                    </p:animEffect>
                                    <p:anim calcmode="lin" valueType="num">
                                      <p:cBhvr>
                                        <p:cTn id="2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1" end="1"/>
                                            </p:txEl>
                                          </p:spTgt>
                                        </p:tgtEl>
                                      </p:cBhvr>
                                      <p:to x="100000" y="60000"/>
                                    </p:animScale>
                                    <p:animScale>
                                      <p:cBhvr>
                                        <p:cTn id="30" dur="166" decel="50000">
                                          <p:stCondLst>
                                            <p:cond delay="676"/>
                                          </p:stCondLst>
                                        </p:cTn>
                                        <p:tgtEl>
                                          <p:spTgt spid="3">
                                            <p:txEl>
                                              <p:pRg st="1" end="1"/>
                                            </p:txEl>
                                          </p:spTgt>
                                        </p:tgtEl>
                                      </p:cBhvr>
                                      <p:to x="100000" y="100000"/>
                                    </p:animScale>
                                    <p:animScale>
                                      <p:cBhvr>
                                        <p:cTn id="31" dur="26">
                                          <p:stCondLst>
                                            <p:cond delay="1312"/>
                                          </p:stCondLst>
                                        </p:cTn>
                                        <p:tgtEl>
                                          <p:spTgt spid="3">
                                            <p:txEl>
                                              <p:pRg st="1" end="1"/>
                                            </p:txEl>
                                          </p:spTgt>
                                        </p:tgtEl>
                                      </p:cBhvr>
                                      <p:to x="100000" y="80000"/>
                                    </p:animScale>
                                    <p:animScale>
                                      <p:cBhvr>
                                        <p:cTn id="32" dur="166" decel="50000">
                                          <p:stCondLst>
                                            <p:cond delay="1338"/>
                                          </p:stCondLst>
                                        </p:cTn>
                                        <p:tgtEl>
                                          <p:spTgt spid="3">
                                            <p:txEl>
                                              <p:pRg st="1" end="1"/>
                                            </p:txEl>
                                          </p:spTgt>
                                        </p:tgtEl>
                                      </p:cBhvr>
                                      <p:to x="100000" y="100000"/>
                                    </p:animScale>
                                    <p:animScale>
                                      <p:cBhvr>
                                        <p:cTn id="33" dur="26">
                                          <p:stCondLst>
                                            <p:cond delay="1642"/>
                                          </p:stCondLst>
                                        </p:cTn>
                                        <p:tgtEl>
                                          <p:spTgt spid="3">
                                            <p:txEl>
                                              <p:pRg st="1" end="1"/>
                                            </p:txEl>
                                          </p:spTgt>
                                        </p:tgtEl>
                                      </p:cBhvr>
                                      <p:to x="100000" y="90000"/>
                                    </p:animScale>
                                    <p:animScale>
                                      <p:cBhvr>
                                        <p:cTn id="34" dur="166" decel="50000">
                                          <p:stCondLst>
                                            <p:cond delay="1668"/>
                                          </p:stCondLst>
                                        </p:cTn>
                                        <p:tgtEl>
                                          <p:spTgt spid="3">
                                            <p:txEl>
                                              <p:pRg st="1" end="1"/>
                                            </p:txEl>
                                          </p:spTgt>
                                        </p:tgtEl>
                                      </p:cBhvr>
                                      <p:to x="100000" y="100000"/>
                                    </p:animScale>
                                    <p:animScale>
                                      <p:cBhvr>
                                        <p:cTn id="35" dur="26">
                                          <p:stCondLst>
                                            <p:cond delay="1808"/>
                                          </p:stCondLst>
                                        </p:cTn>
                                        <p:tgtEl>
                                          <p:spTgt spid="3">
                                            <p:txEl>
                                              <p:pRg st="1" end="1"/>
                                            </p:txEl>
                                          </p:spTgt>
                                        </p:tgtEl>
                                      </p:cBhvr>
                                      <p:to x="100000" y="95000"/>
                                    </p:animScale>
                                    <p:animScale>
                                      <p:cBhvr>
                                        <p:cTn id="36" dur="166" decel="50000">
                                          <p:stCondLst>
                                            <p:cond delay="1834"/>
                                          </p:stCondLst>
                                        </p:cTn>
                                        <p:tgtEl>
                                          <p:spTgt spid="3">
                                            <p:txEl>
                                              <p:pRg st="1" end="1"/>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wipe(down)">
                                      <p:cBhvr>
                                        <p:cTn id="39" dur="580">
                                          <p:stCondLst>
                                            <p:cond delay="0"/>
                                          </p:stCondLst>
                                        </p:cTn>
                                        <p:tgtEl>
                                          <p:spTgt spid="3">
                                            <p:txEl>
                                              <p:pRg st="2" end="2"/>
                                            </p:txEl>
                                          </p:spTgt>
                                        </p:tgtEl>
                                      </p:cBhvr>
                                    </p:animEffect>
                                    <p:anim calcmode="lin" valueType="num">
                                      <p:cBhvr>
                                        <p:cTn id="4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2" end="2"/>
                                            </p:txEl>
                                          </p:spTgt>
                                        </p:tgtEl>
                                      </p:cBhvr>
                                      <p:to x="100000" y="60000"/>
                                    </p:animScale>
                                    <p:animScale>
                                      <p:cBhvr>
                                        <p:cTn id="46" dur="166" decel="50000">
                                          <p:stCondLst>
                                            <p:cond delay="676"/>
                                          </p:stCondLst>
                                        </p:cTn>
                                        <p:tgtEl>
                                          <p:spTgt spid="3">
                                            <p:txEl>
                                              <p:pRg st="2" end="2"/>
                                            </p:txEl>
                                          </p:spTgt>
                                        </p:tgtEl>
                                      </p:cBhvr>
                                      <p:to x="100000" y="100000"/>
                                    </p:animScale>
                                    <p:animScale>
                                      <p:cBhvr>
                                        <p:cTn id="47" dur="26">
                                          <p:stCondLst>
                                            <p:cond delay="1312"/>
                                          </p:stCondLst>
                                        </p:cTn>
                                        <p:tgtEl>
                                          <p:spTgt spid="3">
                                            <p:txEl>
                                              <p:pRg st="2" end="2"/>
                                            </p:txEl>
                                          </p:spTgt>
                                        </p:tgtEl>
                                      </p:cBhvr>
                                      <p:to x="100000" y="80000"/>
                                    </p:animScale>
                                    <p:animScale>
                                      <p:cBhvr>
                                        <p:cTn id="48" dur="166" decel="50000">
                                          <p:stCondLst>
                                            <p:cond delay="1338"/>
                                          </p:stCondLst>
                                        </p:cTn>
                                        <p:tgtEl>
                                          <p:spTgt spid="3">
                                            <p:txEl>
                                              <p:pRg st="2" end="2"/>
                                            </p:txEl>
                                          </p:spTgt>
                                        </p:tgtEl>
                                      </p:cBhvr>
                                      <p:to x="100000" y="100000"/>
                                    </p:animScale>
                                    <p:animScale>
                                      <p:cBhvr>
                                        <p:cTn id="49" dur="26">
                                          <p:stCondLst>
                                            <p:cond delay="1642"/>
                                          </p:stCondLst>
                                        </p:cTn>
                                        <p:tgtEl>
                                          <p:spTgt spid="3">
                                            <p:txEl>
                                              <p:pRg st="2" end="2"/>
                                            </p:txEl>
                                          </p:spTgt>
                                        </p:tgtEl>
                                      </p:cBhvr>
                                      <p:to x="100000" y="90000"/>
                                    </p:animScale>
                                    <p:animScale>
                                      <p:cBhvr>
                                        <p:cTn id="50" dur="166" decel="50000">
                                          <p:stCondLst>
                                            <p:cond delay="1668"/>
                                          </p:stCondLst>
                                        </p:cTn>
                                        <p:tgtEl>
                                          <p:spTgt spid="3">
                                            <p:txEl>
                                              <p:pRg st="2" end="2"/>
                                            </p:txEl>
                                          </p:spTgt>
                                        </p:tgtEl>
                                      </p:cBhvr>
                                      <p:to x="100000" y="100000"/>
                                    </p:animScale>
                                    <p:animScale>
                                      <p:cBhvr>
                                        <p:cTn id="51" dur="26">
                                          <p:stCondLst>
                                            <p:cond delay="1808"/>
                                          </p:stCondLst>
                                        </p:cTn>
                                        <p:tgtEl>
                                          <p:spTgt spid="3">
                                            <p:txEl>
                                              <p:pRg st="2" end="2"/>
                                            </p:txEl>
                                          </p:spTgt>
                                        </p:tgtEl>
                                      </p:cBhvr>
                                      <p:to x="100000" y="95000"/>
                                    </p:animScale>
                                    <p:animScale>
                                      <p:cBhvr>
                                        <p:cTn id="52" dur="166" decel="50000">
                                          <p:stCondLst>
                                            <p:cond delay="1834"/>
                                          </p:stCondLst>
                                        </p:cTn>
                                        <p:tgtEl>
                                          <p:spTgt spid="3">
                                            <p:txEl>
                                              <p:pRg st="2" end="2"/>
                                            </p:txEl>
                                          </p:spTgt>
                                        </p:tgtEl>
                                      </p:cBhvr>
                                      <p:to x="100000" y="100000"/>
                                    </p:animScale>
                                  </p:childTnLst>
                                </p:cTn>
                              </p:par>
                              <p:par>
                                <p:cTn id="53" presetID="26" presetClass="entr" presetSubtype="0" fill="hold" nodeType="withEffect">
                                  <p:stCondLst>
                                    <p:cond delay="0"/>
                                  </p:stCondLst>
                                  <p:childTnLst>
                                    <p:set>
                                      <p:cBhvr>
                                        <p:cTn id="54" dur="1" fill="hold">
                                          <p:stCondLst>
                                            <p:cond delay="0"/>
                                          </p:stCondLst>
                                        </p:cTn>
                                        <p:tgtEl>
                                          <p:spTgt spid="3">
                                            <p:txEl>
                                              <p:pRg st="3" end="3"/>
                                            </p:txEl>
                                          </p:spTgt>
                                        </p:tgtEl>
                                        <p:attrNameLst>
                                          <p:attrName>style.visibility</p:attrName>
                                        </p:attrNameLst>
                                      </p:cBhvr>
                                      <p:to>
                                        <p:strVal val="visible"/>
                                      </p:to>
                                    </p:set>
                                    <p:animEffect transition="in" filter="wipe(down)">
                                      <p:cBhvr>
                                        <p:cTn id="55" dur="580">
                                          <p:stCondLst>
                                            <p:cond delay="0"/>
                                          </p:stCondLst>
                                        </p:cTn>
                                        <p:tgtEl>
                                          <p:spTgt spid="3">
                                            <p:txEl>
                                              <p:pRg st="3" end="3"/>
                                            </p:txEl>
                                          </p:spTgt>
                                        </p:tgtEl>
                                      </p:cBhvr>
                                    </p:animEffect>
                                    <p:anim calcmode="lin" valueType="num">
                                      <p:cBhvr>
                                        <p:cTn id="5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1" dur="26">
                                          <p:stCondLst>
                                            <p:cond delay="650"/>
                                          </p:stCondLst>
                                        </p:cTn>
                                        <p:tgtEl>
                                          <p:spTgt spid="3">
                                            <p:txEl>
                                              <p:pRg st="3" end="3"/>
                                            </p:txEl>
                                          </p:spTgt>
                                        </p:tgtEl>
                                      </p:cBhvr>
                                      <p:to x="100000" y="60000"/>
                                    </p:animScale>
                                    <p:animScale>
                                      <p:cBhvr>
                                        <p:cTn id="62" dur="166" decel="50000">
                                          <p:stCondLst>
                                            <p:cond delay="676"/>
                                          </p:stCondLst>
                                        </p:cTn>
                                        <p:tgtEl>
                                          <p:spTgt spid="3">
                                            <p:txEl>
                                              <p:pRg st="3" end="3"/>
                                            </p:txEl>
                                          </p:spTgt>
                                        </p:tgtEl>
                                      </p:cBhvr>
                                      <p:to x="100000" y="100000"/>
                                    </p:animScale>
                                    <p:animScale>
                                      <p:cBhvr>
                                        <p:cTn id="63" dur="26">
                                          <p:stCondLst>
                                            <p:cond delay="1312"/>
                                          </p:stCondLst>
                                        </p:cTn>
                                        <p:tgtEl>
                                          <p:spTgt spid="3">
                                            <p:txEl>
                                              <p:pRg st="3" end="3"/>
                                            </p:txEl>
                                          </p:spTgt>
                                        </p:tgtEl>
                                      </p:cBhvr>
                                      <p:to x="100000" y="80000"/>
                                    </p:animScale>
                                    <p:animScale>
                                      <p:cBhvr>
                                        <p:cTn id="64" dur="166" decel="50000">
                                          <p:stCondLst>
                                            <p:cond delay="1338"/>
                                          </p:stCondLst>
                                        </p:cTn>
                                        <p:tgtEl>
                                          <p:spTgt spid="3">
                                            <p:txEl>
                                              <p:pRg st="3" end="3"/>
                                            </p:txEl>
                                          </p:spTgt>
                                        </p:tgtEl>
                                      </p:cBhvr>
                                      <p:to x="100000" y="100000"/>
                                    </p:animScale>
                                    <p:animScale>
                                      <p:cBhvr>
                                        <p:cTn id="65" dur="26">
                                          <p:stCondLst>
                                            <p:cond delay="1642"/>
                                          </p:stCondLst>
                                        </p:cTn>
                                        <p:tgtEl>
                                          <p:spTgt spid="3">
                                            <p:txEl>
                                              <p:pRg st="3" end="3"/>
                                            </p:txEl>
                                          </p:spTgt>
                                        </p:tgtEl>
                                      </p:cBhvr>
                                      <p:to x="100000" y="90000"/>
                                    </p:animScale>
                                    <p:animScale>
                                      <p:cBhvr>
                                        <p:cTn id="66" dur="166" decel="50000">
                                          <p:stCondLst>
                                            <p:cond delay="1668"/>
                                          </p:stCondLst>
                                        </p:cTn>
                                        <p:tgtEl>
                                          <p:spTgt spid="3">
                                            <p:txEl>
                                              <p:pRg st="3" end="3"/>
                                            </p:txEl>
                                          </p:spTgt>
                                        </p:tgtEl>
                                      </p:cBhvr>
                                      <p:to x="100000" y="100000"/>
                                    </p:animScale>
                                    <p:animScale>
                                      <p:cBhvr>
                                        <p:cTn id="67" dur="26">
                                          <p:stCondLst>
                                            <p:cond delay="1808"/>
                                          </p:stCondLst>
                                        </p:cTn>
                                        <p:tgtEl>
                                          <p:spTgt spid="3">
                                            <p:txEl>
                                              <p:pRg st="3" end="3"/>
                                            </p:txEl>
                                          </p:spTgt>
                                        </p:tgtEl>
                                      </p:cBhvr>
                                      <p:to x="100000" y="95000"/>
                                    </p:animScale>
                                    <p:animScale>
                                      <p:cBhvr>
                                        <p:cTn id="68" dur="166" decel="50000">
                                          <p:stCondLst>
                                            <p:cond delay="1834"/>
                                          </p:stCondLst>
                                        </p:cTn>
                                        <p:tgtEl>
                                          <p:spTgt spid="3">
                                            <p:txEl>
                                              <p:pRg st="3" end="3"/>
                                            </p:txEl>
                                          </p:spTgt>
                                        </p:tgtEl>
                                      </p:cBhvr>
                                      <p:to x="100000" y="100000"/>
                                    </p:animScale>
                                  </p:childTnLst>
                                </p:cTn>
                              </p:par>
                            </p:childTnLst>
                          </p:cTn>
                        </p:par>
                      </p:childTnLst>
                    </p:cTn>
                  </p:par>
                  <p:par>
                    <p:cTn id="69" fill="hold">
                      <p:stCondLst>
                        <p:cond delay="indefinite"/>
                      </p:stCondLst>
                      <p:childTnLst>
                        <p:par>
                          <p:cTn id="70" fill="hold">
                            <p:stCondLst>
                              <p:cond delay="0"/>
                            </p:stCondLst>
                            <p:childTnLst>
                              <p:par>
                                <p:cTn id="71" presetID="26" presetClass="entr" presetSubtype="0" fill="hold" nodeType="clickEffect">
                                  <p:stCondLst>
                                    <p:cond delay="0"/>
                                  </p:stCondLst>
                                  <p:childTnLst>
                                    <p:set>
                                      <p:cBhvr>
                                        <p:cTn id="72" dur="1" fill="hold">
                                          <p:stCondLst>
                                            <p:cond delay="0"/>
                                          </p:stCondLst>
                                        </p:cTn>
                                        <p:tgtEl>
                                          <p:spTgt spid="3">
                                            <p:txEl>
                                              <p:pRg st="4" end="4"/>
                                            </p:txEl>
                                          </p:spTgt>
                                        </p:tgtEl>
                                        <p:attrNameLst>
                                          <p:attrName>style.visibility</p:attrName>
                                        </p:attrNameLst>
                                      </p:cBhvr>
                                      <p:to>
                                        <p:strVal val="visible"/>
                                      </p:to>
                                    </p:set>
                                    <p:animEffect transition="in" filter="wipe(down)">
                                      <p:cBhvr>
                                        <p:cTn id="73" dur="580">
                                          <p:stCondLst>
                                            <p:cond delay="0"/>
                                          </p:stCondLst>
                                        </p:cTn>
                                        <p:tgtEl>
                                          <p:spTgt spid="3">
                                            <p:txEl>
                                              <p:pRg st="4" end="4"/>
                                            </p:txEl>
                                          </p:spTgt>
                                        </p:tgtEl>
                                      </p:cBhvr>
                                    </p:animEffect>
                                    <p:anim calcmode="lin" valueType="num">
                                      <p:cBhvr>
                                        <p:cTn id="74"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75"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76"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77"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78"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79" dur="26">
                                          <p:stCondLst>
                                            <p:cond delay="650"/>
                                          </p:stCondLst>
                                        </p:cTn>
                                        <p:tgtEl>
                                          <p:spTgt spid="3">
                                            <p:txEl>
                                              <p:pRg st="4" end="4"/>
                                            </p:txEl>
                                          </p:spTgt>
                                        </p:tgtEl>
                                      </p:cBhvr>
                                      <p:to x="100000" y="60000"/>
                                    </p:animScale>
                                    <p:animScale>
                                      <p:cBhvr>
                                        <p:cTn id="80" dur="166" decel="50000">
                                          <p:stCondLst>
                                            <p:cond delay="676"/>
                                          </p:stCondLst>
                                        </p:cTn>
                                        <p:tgtEl>
                                          <p:spTgt spid="3">
                                            <p:txEl>
                                              <p:pRg st="4" end="4"/>
                                            </p:txEl>
                                          </p:spTgt>
                                        </p:tgtEl>
                                      </p:cBhvr>
                                      <p:to x="100000" y="100000"/>
                                    </p:animScale>
                                    <p:animScale>
                                      <p:cBhvr>
                                        <p:cTn id="81" dur="26">
                                          <p:stCondLst>
                                            <p:cond delay="1312"/>
                                          </p:stCondLst>
                                        </p:cTn>
                                        <p:tgtEl>
                                          <p:spTgt spid="3">
                                            <p:txEl>
                                              <p:pRg st="4" end="4"/>
                                            </p:txEl>
                                          </p:spTgt>
                                        </p:tgtEl>
                                      </p:cBhvr>
                                      <p:to x="100000" y="80000"/>
                                    </p:animScale>
                                    <p:animScale>
                                      <p:cBhvr>
                                        <p:cTn id="82" dur="166" decel="50000">
                                          <p:stCondLst>
                                            <p:cond delay="1338"/>
                                          </p:stCondLst>
                                        </p:cTn>
                                        <p:tgtEl>
                                          <p:spTgt spid="3">
                                            <p:txEl>
                                              <p:pRg st="4" end="4"/>
                                            </p:txEl>
                                          </p:spTgt>
                                        </p:tgtEl>
                                      </p:cBhvr>
                                      <p:to x="100000" y="100000"/>
                                    </p:animScale>
                                    <p:animScale>
                                      <p:cBhvr>
                                        <p:cTn id="83" dur="26">
                                          <p:stCondLst>
                                            <p:cond delay="1642"/>
                                          </p:stCondLst>
                                        </p:cTn>
                                        <p:tgtEl>
                                          <p:spTgt spid="3">
                                            <p:txEl>
                                              <p:pRg st="4" end="4"/>
                                            </p:txEl>
                                          </p:spTgt>
                                        </p:tgtEl>
                                      </p:cBhvr>
                                      <p:to x="100000" y="90000"/>
                                    </p:animScale>
                                    <p:animScale>
                                      <p:cBhvr>
                                        <p:cTn id="84" dur="166" decel="50000">
                                          <p:stCondLst>
                                            <p:cond delay="1668"/>
                                          </p:stCondLst>
                                        </p:cTn>
                                        <p:tgtEl>
                                          <p:spTgt spid="3">
                                            <p:txEl>
                                              <p:pRg st="4" end="4"/>
                                            </p:txEl>
                                          </p:spTgt>
                                        </p:tgtEl>
                                      </p:cBhvr>
                                      <p:to x="100000" y="100000"/>
                                    </p:animScale>
                                    <p:animScale>
                                      <p:cBhvr>
                                        <p:cTn id="85" dur="26">
                                          <p:stCondLst>
                                            <p:cond delay="1808"/>
                                          </p:stCondLst>
                                        </p:cTn>
                                        <p:tgtEl>
                                          <p:spTgt spid="3">
                                            <p:txEl>
                                              <p:pRg st="4" end="4"/>
                                            </p:txEl>
                                          </p:spTgt>
                                        </p:tgtEl>
                                      </p:cBhvr>
                                      <p:to x="100000" y="95000"/>
                                    </p:animScale>
                                    <p:animScale>
                                      <p:cBhvr>
                                        <p:cTn id="86" dur="166" decel="50000">
                                          <p:stCondLst>
                                            <p:cond delay="1834"/>
                                          </p:stCondLst>
                                        </p:cTn>
                                        <p:tgtEl>
                                          <p:spTgt spid="3">
                                            <p:txEl>
                                              <p:pRg st="4" end="4"/>
                                            </p:txEl>
                                          </p:spTgt>
                                        </p:tgtEl>
                                      </p:cBhvr>
                                      <p:to x="100000" y="100000"/>
                                    </p:animScale>
                                  </p:childTnLst>
                                </p:cTn>
                              </p:par>
                              <p:par>
                                <p:cTn id="87" presetID="26" presetClass="entr" presetSubtype="0" fill="hold" nodeType="withEffect">
                                  <p:stCondLst>
                                    <p:cond delay="0"/>
                                  </p:stCondLst>
                                  <p:childTnLst>
                                    <p:set>
                                      <p:cBhvr>
                                        <p:cTn id="88" dur="1" fill="hold">
                                          <p:stCondLst>
                                            <p:cond delay="0"/>
                                          </p:stCondLst>
                                        </p:cTn>
                                        <p:tgtEl>
                                          <p:spTgt spid="3">
                                            <p:txEl>
                                              <p:pRg st="5" end="5"/>
                                            </p:txEl>
                                          </p:spTgt>
                                        </p:tgtEl>
                                        <p:attrNameLst>
                                          <p:attrName>style.visibility</p:attrName>
                                        </p:attrNameLst>
                                      </p:cBhvr>
                                      <p:to>
                                        <p:strVal val="visible"/>
                                      </p:to>
                                    </p:set>
                                    <p:animEffect transition="in" filter="wipe(down)">
                                      <p:cBhvr>
                                        <p:cTn id="89" dur="580">
                                          <p:stCondLst>
                                            <p:cond delay="0"/>
                                          </p:stCondLst>
                                        </p:cTn>
                                        <p:tgtEl>
                                          <p:spTgt spid="3">
                                            <p:txEl>
                                              <p:pRg st="5" end="5"/>
                                            </p:txEl>
                                          </p:spTgt>
                                        </p:tgtEl>
                                      </p:cBhvr>
                                    </p:animEffect>
                                    <p:anim calcmode="lin" valueType="num">
                                      <p:cBhvr>
                                        <p:cTn id="90"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1"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92"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93"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94"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95" dur="26">
                                          <p:stCondLst>
                                            <p:cond delay="650"/>
                                          </p:stCondLst>
                                        </p:cTn>
                                        <p:tgtEl>
                                          <p:spTgt spid="3">
                                            <p:txEl>
                                              <p:pRg st="5" end="5"/>
                                            </p:txEl>
                                          </p:spTgt>
                                        </p:tgtEl>
                                      </p:cBhvr>
                                      <p:to x="100000" y="60000"/>
                                    </p:animScale>
                                    <p:animScale>
                                      <p:cBhvr>
                                        <p:cTn id="96" dur="166" decel="50000">
                                          <p:stCondLst>
                                            <p:cond delay="676"/>
                                          </p:stCondLst>
                                        </p:cTn>
                                        <p:tgtEl>
                                          <p:spTgt spid="3">
                                            <p:txEl>
                                              <p:pRg st="5" end="5"/>
                                            </p:txEl>
                                          </p:spTgt>
                                        </p:tgtEl>
                                      </p:cBhvr>
                                      <p:to x="100000" y="100000"/>
                                    </p:animScale>
                                    <p:animScale>
                                      <p:cBhvr>
                                        <p:cTn id="97" dur="26">
                                          <p:stCondLst>
                                            <p:cond delay="1312"/>
                                          </p:stCondLst>
                                        </p:cTn>
                                        <p:tgtEl>
                                          <p:spTgt spid="3">
                                            <p:txEl>
                                              <p:pRg st="5" end="5"/>
                                            </p:txEl>
                                          </p:spTgt>
                                        </p:tgtEl>
                                      </p:cBhvr>
                                      <p:to x="100000" y="80000"/>
                                    </p:animScale>
                                    <p:animScale>
                                      <p:cBhvr>
                                        <p:cTn id="98" dur="166" decel="50000">
                                          <p:stCondLst>
                                            <p:cond delay="1338"/>
                                          </p:stCondLst>
                                        </p:cTn>
                                        <p:tgtEl>
                                          <p:spTgt spid="3">
                                            <p:txEl>
                                              <p:pRg st="5" end="5"/>
                                            </p:txEl>
                                          </p:spTgt>
                                        </p:tgtEl>
                                      </p:cBhvr>
                                      <p:to x="100000" y="100000"/>
                                    </p:animScale>
                                    <p:animScale>
                                      <p:cBhvr>
                                        <p:cTn id="99" dur="26">
                                          <p:stCondLst>
                                            <p:cond delay="1642"/>
                                          </p:stCondLst>
                                        </p:cTn>
                                        <p:tgtEl>
                                          <p:spTgt spid="3">
                                            <p:txEl>
                                              <p:pRg st="5" end="5"/>
                                            </p:txEl>
                                          </p:spTgt>
                                        </p:tgtEl>
                                      </p:cBhvr>
                                      <p:to x="100000" y="90000"/>
                                    </p:animScale>
                                    <p:animScale>
                                      <p:cBhvr>
                                        <p:cTn id="100" dur="166" decel="50000">
                                          <p:stCondLst>
                                            <p:cond delay="1668"/>
                                          </p:stCondLst>
                                        </p:cTn>
                                        <p:tgtEl>
                                          <p:spTgt spid="3">
                                            <p:txEl>
                                              <p:pRg st="5" end="5"/>
                                            </p:txEl>
                                          </p:spTgt>
                                        </p:tgtEl>
                                      </p:cBhvr>
                                      <p:to x="100000" y="100000"/>
                                    </p:animScale>
                                    <p:animScale>
                                      <p:cBhvr>
                                        <p:cTn id="101" dur="26">
                                          <p:stCondLst>
                                            <p:cond delay="1808"/>
                                          </p:stCondLst>
                                        </p:cTn>
                                        <p:tgtEl>
                                          <p:spTgt spid="3">
                                            <p:txEl>
                                              <p:pRg st="5" end="5"/>
                                            </p:txEl>
                                          </p:spTgt>
                                        </p:tgtEl>
                                      </p:cBhvr>
                                      <p:to x="100000" y="95000"/>
                                    </p:animScale>
                                    <p:animScale>
                                      <p:cBhvr>
                                        <p:cTn id="102" dur="166" decel="50000">
                                          <p:stCondLst>
                                            <p:cond delay="1834"/>
                                          </p:stCondLst>
                                        </p:cTn>
                                        <p:tgtEl>
                                          <p:spTgt spid="3">
                                            <p:txEl>
                                              <p:pRg st="5" end="5"/>
                                            </p:txEl>
                                          </p:spTgt>
                                        </p:tgtEl>
                                      </p:cBhvr>
                                      <p:to x="100000" y="100000"/>
                                    </p:animScale>
                                  </p:childTnLst>
                                </p:cTn>
                              </p:par>
                              <p:par>
                                <p:cTn id="103" presetID="26" presetClass="entr" presetSubtype="0" fill="hold" nodeType="withEffect">
                                  <p:stCondLst>
                                    <p:cond delay="0"/>
                                  </p:stCondLst>
                                  <p:childTnLst>
                                    <p:set>
                                      <p:cBhvr>
                                        <p:cTn id="104" dur="1" fill="hold">
                                          <p:stCondLst>
                                            <p:cond delay="0"/>
                                          </p:stCondLst>
                                        </p:cTn>
                                        <p:tgtEl>
                                          <p:spTgt spid="3">
                                            <p:txEl>
                                              <p:pRg st="6" end="6"/>
                                            </p:txEl>
                                          </p:spTgt>
                                        </p:tgtEl>
                                        <p:attrNameLst>
                                          <p:attrName>style.visibility</p:attrName>
                                        </p:attrNameLst>
                                      </p:cBhvr>
                                      <p:to>
                                        <p:strVal val="visible"/>
                                      </p:to>
                                    </p:set>
                                    <p:animEffect transition="in" filter="wipe(down)">
                                      <p:cBhvr>
                                        <p:cTn id="105" dur="580">
                                          <p:stCondLst>
                                            <p:cond delay="0"/>
                                          </p:stCondLst>
                                        </p:cTn>
                                        <p:tgtEl>
                                          <p:spTgt spid="3">
                                            <p:txEl>
                                              <p:pRg st="6" end="6"/>
                                            </p:txEl>
                                          </p:spTgt>
                                        </p:tgtEl>
                                      </p:cBhvr>
                                    </p:animEffect>
                                    <p:anim calcmode="lin" valueType="num">
                                      <p:cBhvr>
                                        <p:cTn id="106"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07"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08"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09"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10"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11" dur="26">
                                          <p:stCondLst>
                                            <p:cond delay="650"/>
                                          </p:stCondLst>
                                        </p:cTn>
                                        <p:tgtEl>
                                          <p:spTgt spid="3">
                                            <p:txEl>
                                              <p:pRg st="6" end="6"/>
                                            </p:txEl>
                                          </p:spTgt>
                                        </p:tgtEl>
                                      </p:cBhvr>
                                      <p:to x="100000" y="60000"/>
                                    </p:animScale>
                                    <p:animScale>
                                      <p:cBhvr>
                                        <p:cTn id="112" dur="166" decel="50000">
                                          <p:stCondLst>
                                            <p:cond delay="676"/>
                                          </p:stCondLst>
                                        </p:cTn>
                                        <p:tgtEl>
                                          <p:spTgt spid="3">
                                            <p:txEl>
                                              <p:pRg st="6" end="6"/>
                                            </p:txEl>
                                          </p:spTgt>
                                        </p:tgtEl>
                                      </p:cBhvr>
                                      <p:to x="100000" y="100000"/>
                                    </p:animScale>
                                    <p:animScale>
                                      <p:cBhvr>
                                        <p:cTn id="113" dur="26">
                                          <p:stCondLst>
                                            <p:cond delay="1312"/>
                                          </p:stCondLst>
                                        </p:cTn>
                                        <p:tgtEl>
                                          <p:spTgt spid="3">
                                            <p:txEl>
                                              <p:pRg st="6" end="6"/>
                                            </p:txEl>
                                          </p:spTgt>
                                        </p:tgtEl>
                                      </p:cBhvr>
                                      <p:to x="100000" y="80000"/>
                                    </p:animScale>
                                    <p:animScale>
                                      <p:cBhvr>
                                        <p:cTn id="114" dur="166" decel="50000">
                                          <p:stCondLst>
                                            <p:cond delay="1338"/>
                                          </p:stCondLst>
                                        </p:cTn>
                                        <p:tgtEl>
                                          <p:spTgt spid="3">
                                            <p:txEl>
                                              <p:pRg st="6" end="6"/>
                                            </p:txEl>
                                          </p:spTgt>
                                        </p:tgtEl>
                                      </p:cBhvr>
                                      <p:to x="100000" y="100000"/>
                                    </p:animScale>
                                    <p:animScale>
                                      <p:cBhvr>
                                        <p:cTn id="115" dur="26">
                                          <p:stCondLst>
                                            <p:cond delay="1642"/>
                                          </p:stCondLst>
                                        </p:cTn>
                                        <p:tgtEl>
                                          <p:spTgt spid="3">
                                            <p:txEl>
                                              <p:pRg st="6" end="6"/>
                                            </p:txEl>
                                          </p:spTgt>
                                        </p:tgtEl>
                                      </p:cBhvr>
                                      <p:to x="100000" y="90000"/>
                                    </p:animScale>
                                    <p:animScale>
                                      <p:cBhvr>
                                        <p:cTn id="116" dur="166" decel="50000">
                                          <p:stCondLst>
                                            <p:cond delay="1668"/>
                                          </p:stCondLst>
                                        </p:cTn>
                                        <p:tgtEl>
                                          <p:spTgt spid="3">
                                            <p:txEl>
                                              <p:pRg st="6" end="6"/>
                                            </p:txEl>
                                          </p:spTgt>
                                        </p:tgtEl>
                                      </p:cBhvr>
                                      <p:to x="100000" y="100000"/>
                                    </p:animScale>
                                    <p:animScale>
                                      <p:cBhvr>
                                        <p:cTn id="117" dur="26">
                                          <p:stCondLst>
                                            <p:cond delay="1808"/>
                                          </p:stCondLst>
                                        </p:cTn>
                                        <p:tgtEl>
                                          <p:spTgt spid="3">
                                            <p:txEl>
                                              <p:pRg st="6" end="6"/>
                                            </p:txEl>
                                          </p:spTgt>
                                        </p:tgtEl>
                                      </p:cBhvr>
                                      <p:to x="100000" y="95000"/>
                                    </p:animScale>
                                    <p:animScale>
                                      <p:cBhvr>
                                        <p:cTn id="118" dur="166" decel="50000">
                                          <p:stCondLst>
                                            <p:cond delay="1834"/>
                                          </p:stCondLst>
                                        </p:cTn>
                                        <p:tgtEl>
                                          <p:spTgt spid="3">
                                            <p:txEl>
                                              <p:pRg st="6" end="6"/>
                                            </p:txEl>
                                          </p:spTgt>
                                        </p:tgtEl>
                                      </p:cBhvr>
                                      <p:to x="100000" y="100000"/>
                                    </p:animScale>
                                  </p:childTnLst>
                                </p:cTn>
                              </p:par>
                              <p:par>
                                <p:cTn id="119" presetID="26" presetClass="entr" presetSubtype="0" fill="hold" nodeType="withEffect">
                                  <p:stCondLst>
                                    <p:cond delay="0"/>
                                  </p:stCondLst>
                                  <p:childTnLst>
                                    <p:set>
                                      <p:cBhvr>
                                        <p:cTn id="120" dur="1" fill="hold">
                                          <p:stCondLst>
                                            <p:cond delay="0"/>
                                          </p:stCondLst>
                                        </p:cTn>
                                        <p:tgtEl>
                                          <p:spTgt spid="3">
                                            <p:txEl>
                                              <p:pRg st="7" end="7"/>
                                            </p:txEl>
                                          </p:spTgt>
                                        </p:tgtEl>
                                        <p:attrNameLst>
                                          <p:attrName>style.visibility</p:attrName>
                                        </p:attrNameLst>
                                      </p:cBhvr>
                                      <p:to>
                                        <p:strVal val="visible"/>
                                      </p:to>
                                    </p:set>
                                    <p:animEffect transition="in" filter="wipe(down)">
                                      <p:cBhvr>
                                        <p:cTn id="121" dur="580">
                                          <p:stCondLst>
                                            <p:cond delay="0"/>
                                          </p:stCondLst>
                                        </p:cTn>
                                        <p:tgtEl>
                                          <p:spTgt spid="3">
                                            <p:txEl>
                                              <p:pRg st="7" end="7"/>
                                            </p:txEl>
                                          </p:spTgt>
                                        </p:tgtEl>
                                      </p:cBhvr>
                                    </p:animEffect>
                                    <p:anim calcmode="lin" valueType="num">
                                      <p:cBhvr>
                                        <p:cTn id="122"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123"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24"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25"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26"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27" dur="26">
                                          <p:stCondLst>
                                            <p:cond delay="650"/>
                                          </p:stCondLst>
                                        </p:cTn>
                                        <p:tgtEl>
                                          <p:spTgt spid="3">
                                            <p:txEl>
                                              <p:pRg st="7" end="7"/>
                                            </p:txEl>
                                          </p:spTgt>
                                        </p:tgtEl>
                                      </p:cBhvr>
                                      <p:to x="100000" y="60000"/>
                                    </p:animScale>
                                    <p:animScale>
                                      <p:cBhvr>
                                        <p:cTn id="128" dur="166" decel="50000">
                                          <p:stCondLst>
                                            <p:cond delay="676"/>
                                          </p:stCondLst>
                                        </p:cTn>
                                        <p:tgtEl>
                                          <p:spTgt spid="3">
                                            <p:txEl>
                                              <p:pRg st="7" end="7"/>
                                            </p:txEl>
                                          </p:spTgt>
                                        </p:tgtEl>
                                      </p:cBhvr>
                                      <p:to x="100000" y="100000"/>
                                    </p:animScale>
                                    <p:animScale>
                                      <p:cBhvr>
                                        <p:cTn id="129" dur="26">
                                          <p:stCondLst>
                                            <p:cond delay="1312"/>
                                          </p:stCondLst>
                                        </p:cTn>
                                        <p:tgtEl>
                                          <p:spTgt spid="3">
                                            <p:txEl>
                                              <p:pRg st="7" end="7"/>
                                            </p:txEl>
                                          </p:spTgt>
                                        </p:tgtEl>
                                      </p:cBhvr>
                                      <p:to x="100000" y="80000"/>
                                    </p:animScale>
                                    <p:animScale>
                                      <p:cBhvr>
                                        <p:cTn id="130" dur="166" decel="50000">
                                          <p:stCondLst>
                                            <p:cond delay="1338"/>
                                          </p:stCondLst>
                                        </p:cTn>
                                        <p:tgtEl>
                                          <p:spTgt spid="3">
                                            <p:txEl>
                                              <p:pRg st="7" end="7"/>
                                            </p:txEl>
                                          </p:spTgt>
                                        </p:tgtEl>
                                      </p:cBhvr>
                                      <p:to x="100000" y="100000"/>
                                    </p:animScale>
                                    <p:animScale>
                                      <p:cBhvr>
                                        <p:cTn id="131" dur="26">
                                          <p:stCondLst>
                                            <p:cond delay="1642"/>
                                          </p:stCondLst>
                                        </p:cTn>
                                        <p:tgtEl>
                                          <p:spTgt spid="3">
                                            <p:txEl>
                                              <p:pRg st="7" end="7"/>
                                            </p:txEl>
                                          </p:spTgt>
                                        </p:tgtEl>
                                      </p:cBhvr>
                                      <p:to x="100000" y="90000"/>
                                    </p:animScale>
                                    <p:animScale>
                                      <p:cBhvr>
                                        <p:cTn id="132" dur="166" decel="50000">
                                          <p:stCondLst>
                                            <p:cond delay="1668"/>
                                          </p:stCondLst>
                                        </p:cTn>
                                        <p:tgtEl>
                                          <p:spTgt spid="3">
                                            <p:txEl>
                                              <p:pRg st="7" end="7"/>
                                            </p:txEl>
                                          </p:spTgt>
                                        </p:tgtEl>
                                      </p:cBhvr>
                                      <p:to x="100000" y="100000"/>
                                    </p:animScale>
                                    <p:animScale>
                                      <p:cBhvr>
                                        <p:cTn id="133" dur="26">
                                          <p:stCondLst>
                                            <p:cond delay="1808"/>
                                          </p:stCondLst>
                                        </p:cTn>
                                        <p:tgtEl>
                                          <p:spTgt spid="3">
                                            <p:txEl>
                                              <p:pRg st="7" end="7"/>
                                            </p:txEl>
                                          </p:spTgt>
                                        </p:tgtEl>
                                      </p:cBhvr>
                                      <p:to x="100000" y="95000"/>
                                    </p:animScale>
                                    <p:animScale>
                                      <p:cBhvr>
                                        <p:cTn id="134" dur="166" decel="50000">
                                          <p:stCondLst>
                                            <p:cond delay="1834"/>
                                          </p:stCondLst>
                                        </p:cTn>
                                        <p:tgtEl>
                                          <p:spTgt spid="3">
                                            <p:txEl>
                                              <p:pRg st="7" end="7"/>
                                            </p:txEl>
                                          </p:spTgt>
                                        </p:tgtEl>
                                      </p:cBhvr>
                                      <p:to x="100000" y="100000"/>
                                    </p:animScale>
                                  </p:childTnLst>
                                </p:cTn>
                              </p:par>
                              <p:par>
                                <p:cTn id="135" presetID="26" presetClass="entr" presetSubtype="0" fill="hold" nodeType="withEffect">
                                  <p:stCondLst>
                                    <p:cond delay="0"/>
                                  </p:stCondLst>
                                  <p:childTnLst>
                                    <p:set>
                                      <p:cBhvr>
                                        <p:cTn id="136" dur="1" fill="hold">
                                          <p:stCondLst>
                                            <p:cond delay="0"/>
                                          </p:stCondLst>
                                        </p:cTn>
                                        <p:tgtEl>
                                          <p:spTgt spid="3">
                                            <p:txEl>
                                              <p:pRg st="8" end="8"/>
                                            </p:txEl>
                                          </p:spTgt>
                                        </p:tgtEl>
                                        <p:attrNameLst>
                                          <p:attrName>style.visibility</p:attrName>
                                        </p:attrNameLst>
                                      </p:cBhvr>
                                      <p:to>
                                        <p:strVal val="visible"/>
                                      </p:to>
                                    </p:set>
                                    <p:animEffect transition="in" filter="wipe(down)">
                                      <p:cBhvr>
                                        <p:cTn id="137" dur="580">
                                          <p:stCondLst>
                                            <p:cond delay="0"/>
                                          </p:stCondLst>
                                        </p:cTn>
                                        <p:tgtEl>
                                          <p:spTgt spid="3">
                                            <p:txEl>
                                              <p:pRg st="8" end="8"/>
                                            </p:txEl>
                                          </p:spTgt>
                                        </p:tgtEl>
                                      </p:cBhvr>
                                    </p:animEffect>
                                    <p:anim calcmode="lin" valueType="num">
                                      <p:cBhvr>
                                        <p:cTn id="138" dur="1822" tmFilter="0,0; 0.14,0.36; 0.43,0.73; 0.71,0.91; 1.0,1.0">
                                          <p:stCondLst>
                                            <p:cond delay="0"/>
                                          </p:stCondLst>
                                        </p:cTn>
                                        <p:tgtEl>
                                          <p:spTgt spid="3">
                                            <p:txEl>
                                              <p:pRg st="8" end="8"/>
                                            </p:txEl>
                                          </p:spTgt>
                                        </p:tgtEl>
                                        <p:attrNameLst>
                                          <p:attrName>ppt_x</p:attrName>
                                        </p:attrNameLst>
                                      </p:cBhvr>
                                      <p:tavLst>
                                        <p:tav tm="0">
                                          <p:val>
                                            <p:strVal val="#ppt_x-0.25"/>
                                          </p:val>
                                        </p:tav>
                                        <p:tav tm="100000">
                                          <p:val>
                                            <p:strVal val="#ppt_x"/>
                                          </p:val>
                                        </p:tav>
                                      </p:tavLst>
                                    </p:anim>
                                    <p:anim calcmode="lin" valueType="num">
                                      <p:cBhvr>
                                        <p:cTn id="139" dur="664" tmFilter="0.0,0.0; 0.25,0.07; 0.50,0.2; 0.75,0.467; 1.0,1.0">
                                          <p:stCondLst>
                                            <p:cond delay="0"/>
                                          </p:stCondLst>
                                        </p:cTn>
                                        <p:tgtEl>
                                          <p:spTgt spid="3">
                                            <p:txEl>
                                              <p:pRg st="8" end="8"/>
                                            </p:txEl>
                                          </p:spTgt>
                                        </p:tgtEl>
                                        <p:attrNameLst>
                                          <p:attrName>ppt_y</p:attrName>
                                        </p:attrNameLst>
                                      </p:cBhvr>
                                      <p:tavLst>
                                        <p:tav tm="0" fmla="#ppt_y-sin(pi*$)/3">
                                          <p:val>
                                            <p:fltVal val="0.5"/>
                                          </p:val>
                                        </p:tav>
                                        <p:tav tm="100000">
                                          <p:val>
                                            <p:fltVal val="1"/>
                                          </p:val>
                                        </p:tav>
                                      </p:tavLst>
                                    </p:anim>
                                    <p:anim calcmode="lin" valueType="num">
                                      <p:cBhvr>
                                        <p:cTn id="140" dur="664" tmFilter="0, 0; 0.125,0.2665; 0.25,0.4; 0.375,0.465; 0.5,0.5;  0.625,0.535; 0.75,0.6; 0.875,0.7335; 1,1">
                                          <p:stCondLst>
                                            <p:cond delay="664"/>
                                          </p:stCondLst>
                                        </p:cTn>
                                        <p:tgtEl>
                                          <p:spTgt spid="3">
                                            <p:txEl>
                                              <p:pRg st="8" end="8"/>
                                            </p:txEl>
                                          </p:spTgt>
                                        </p:tgtEl>
                                        <p:attrNameLst>
                                          <p:attrName>ppt_y</p:attrName>
                                        </p:attrNameLst>
                                      </p:cBhvr>
                                      <p:tavLst>
                                        <p:tav tm="0" fmla="#ppt_y-sin(pi*$)/9">
                                          <p:val>
                                            <p:fltVal val="0"/>
                                          </p:val>
                                        </p:tav>
                                        <p:tav tm="100000">
                                          <p:val>
                                            <p:fltVal val="1"/>
                                          </p:val>
                                        </p:tav>
                                      </p:tavLst>
                                    </p:anim>
                                    <p:anim calcmode="lin" valueType="num">
                                      <p:cBhvr>
                                        <p:cTn id="141" dur="332" tmFilter="0, 0; 0.125,0.2665; 0.25,0.4; 0.375,0.465; 0.5,0.5;  0.625,0.535; 0.75,0.6; 0.875,0.7335; 1,1">
                                          <p:stCondLst>
                                            <p:cond delay="1324"/>
                                          </p:stCondLst>
                                        </p:cTn>
                                        <p:tgtEl>
                                          <p:spTgt spid="3">
                                            <p:txEl>
                                              <p:pRg st="8" end="8"/>
                                            </p:txEl>
                                          </p:spTgt>
                                        </p:tgtEl>
                                        <p:attrNameLst>
                                          <p:attrName>ppt_y</p:attrName>
                                        </p:attrNameLst>
                                      </p:cBhvr>
                                      <p:tavLst>
                                        <p:tav tm="0" fmla="#ppt_y-sin(pi*$)/27">
                                          <p:val>
                                            <p:fltVal val="0"/>
                                          </p:val>
                                        </p:tav>
                                        <p:tav tm="100000">
                                          <p:val>
                                            <p:fltVal val="1"/>
                                          </p:val>
                                        </p:tav>
                                      </p:tavLst>
                                    </p:anim>
                                    <p:anim calcmode="lin" valueType="num">
                                      <p:cBhvr>
                                        <p:cTn id="142" dur="164" tmFilter="0, 0; 0.125,0.2665; 0.25,0.4; 0.375,0.465; 0.5,0.5;  0.625,0.535; 0.75,0.6; 0.875,0.7335; 1,1">
                                          <p:stCondLst>
                                            <p:cond delay="1656"/>
                                          </p:stCondLst>
                                        </p:cTn>
                                        <p:tgtEl>
                                          <p:spTgt spid="3">
                                            <p:txEl>
                                              <p:pRg st="8" end="8"/>
                                            </p:txEl>
                                          </p:spTgt>
                                        </p:tgtEl>
                                        <p:attrNameLst>
                                          <p:attrName>ppt_y</p:attrName>
                                        </p:attrNameLst>
                                      </p:cBhvr>
                                      <p:tavLst>
                                        <p:tav tm="0" fmla="#ppt_y-sin(pi*$)/81">
                                          <p:val>
                                            <p:fltVal val="0"/>
                                          </p:val>
                                        </p:tav>
                                        <p:tav tm="100000">
                                          <p:val>
                                            <p:fltVal val="1"/>
                                          </p:val>
                                        </p:tav>
                                      </p:tavLst>
                                    </p:anim>
                                    <p:animScale>
                                      <p:cBhvr>
                                        <p:cTn id="143" dur="26">
                                          <p:stCondLst>
                                            <p:cond delay="650"/>
                                          </p:stCondLst>
                                        </p:cTn>
                                        <p:tgtEl>
                                          <p:spTgt spid="3">
                                            <p:txEl>
                                              <p:pRg st="8" end="8"/>
                                            </p:txEl>
                                          </p:spTgt>
                                        </p:tgtEl>
                                      </p:cBhvr>
                                      <p:to x="100000" y="60000"/>
                                    </p:animScale>
                                    <p:animScale>
                                      <p:cBhvr>
                                        <p:cTn id="144" dur="166" decel="50000">
                                          <p:stCondLst>
                                            <p:cond delay="676"/>
                                          </p:stCondLst>
                                        </p:cTn>
                                        <p:tgtEl>
                                          <p:spTgt spid="3">
                                            <p:txEl>
                                              <p:pRg st="8" end="8"/>
                                            </p:txEl>
                                          </p:spTgt>
                                        </p:tgtEl>
                                      </p:cBhvr>
                                      <p:to x="100000" y="100000"/>
                                    </p:animScale>
                                    <p:animScale>
                                      <p:cBhvr>
                                        <p:cTn id="145" dur="26">
                                          <p:stCondLst>
                                            <p:cond delay="1312"/>
                                          </p:stCondLst>
                                        </p:cTn>
                                        <p:tgtEl>
                                          <p:spTgt spid="3">
                                            <p:txEl>
                                              <p:pRg st="8" end="8"/>
                                            </p:txEl>
                                          </p:spTgt>
                                        </p:tgtEl>
                                      </p:cBhvr>
                                      <p:to x="100000" y="80000"/>
                                    </p:animScale>
                                    <p:animScale>
                                      <p:cBhvr>
                                        <p:cTn id="146" dur="166" decel="50000">
                                          <p:stCondLst>
                                            <p:cond delay="1338"/>
                                          </p:stCondLst>
                                        </p:cTn>
                                        <p:tgtEl>
                                          <p:spTgt spid="3">
                                            <p:txEl>
                                              <p:pRg st="8" end="8"/>
                                            </p:txEl>
                                          </p:spTgt>
                                        </p:tgtEl>
                                      </p:cBhvr>
                                      <p:to x="100000" y="100000"/>
                                    </p:animScale>
                                    <p:animScale>
                                      <p:cBhvr>
                                        <p:cTn id="147" dur="26">
                                          <p:stCondLst>
                                            <p:cond delay="1642"/>
                                          </p:stCondLst>
                                        </p:cTn>
                                        <p:tgtEl>
                                          <p:spTgt spid="3">
                                            <p:txEl>
                                              <p:pRg st="8" end="8"/>
                                            </p:txEl>
                                          </p:spTgt>
                                        </p:tgtEl>
                                      </p:cBhvr>
                                      <p:to x="100000" y="90000"/>
                                    </p:animScale>
                                    <p:animScale>
                                      <p:cBhvr>
                                        <p:cTn id="148" dur="166" decel="50000">
                                          <p:stCondLst>
                                            <p:cond delay="1668"/>
                                          </p:stCondLst>
                                        </p:cTn>
                                        <p:tgtEl>
                                          <p:spTgt spid="3">
                                            <p:txEl>
                                              <p:pRg st="8" end="8"/>
                                            </p:txEl>
                                          </p:spTgt>
                                        </p:tgtEl>
                                      </p:cBhvr>
                                      <p:to x="100000" y="100000"/>
                                    </p:animScale>
                                    <p:animScale>
                                      <p:cBhvr>
                                        <p:cTn id="149" dur="26">
                                          <p:stCondLst>
                                            <p:cond delay="1808"/>
                                          </p:stCondLst>
                                        </p:cTn>
                                        <p:tgtEl>
                                          <p:spTgt spid="3">
                                            <p:txEl>
                                              <p:pRg st="8" end="8"/>
                                            </p:txEl>
                                          </p:spTgt>
                                        </p:tgtEl>
                                      </p:cBhvr>
                                      <p:to x="100000" y="95000"/>
                                    </p:animScale>
                                    <p:animScale>
                                      <p:cBhvr>
                                        <p:cTn id="150" dur="166" decel="50000">
                                          <p:stCondLst>
                                            <p:cond delay="1834"/>
                                          </p:stCondLst>
                                        </p:cTn>
                                        <p:tgtEl>
                                          <p:spTgt spid="3">
                                            <p:txEl>
                                              <p:pRg st="8" end="8"/>
                                            </p:txEl>
                                          </p:spTgt>
                                        </p:tgtEl>
                                      </p:cBhvr>
                                      <p:to x="100000" y="100000"/>
                                    </p:animScale>
                                  </p:childTnLst>
                                </p:cTn>
                              </p:par>
                            </p:childTnLst>
                          </p:cTn>
                        </p:par>
                      </p:childTnLst>
                    </p:cTn>
                  </p:par>
                  <p:par>
                    <p:cTn id="151" fill="hold">
                      <p:stCondLst>
                        <p:cond delay="indefinite"/>
                      </p:stCondLst>
                      <p:childTnLst>
                        <p:par>
                          <p:cTn id="152" fill="hold">
                            <p:stCondLst>
                              <p:cond delay="0"/>
                            </p:stCondLst>
                            <p:childTnLst>
                              <p:par>
                                <p:cTn id="153" presetID="26" presetClass="entr" presetSubtype="0" fill="hold" nodeType="clickEffect">
                                  <p:stCondLst>
                                    <p:cond delay="0"/>
                                  </p:stCondLst>
                                  <p:childTnLst>
                                    <p:set>
                                      <p:cBhvr>
                                        <p:cTn id="154" dur="1" fill="hold">
                                          <p:stCondLst>
                                            <p:cond delay="0"/>
                                          </p:stCondLst>
                                        </p:cTn>
                                        <p:tgtEl>
                                          <p:spTgt spid="3">
                                            <p:txEl>
                                              <p:pRg st="9" end="9"/>
                                            </p:txEl>
                                          </p:spTgt>
                                        </p:tgtEl>
                                        <p:attrNameLst>
                                          <p:attrName>style.visibility</p:attrName>
                                        </p:attrNameLst>
                                      </p:cBhvr>
                                      <p:to>
                                        <p:strVal val="visible"/>
                                      </p:to>
                                    </p:set>
                                    <p:animEffect transition="in" filter="wipe(down)">
                                      <p:cBhvr>
                                        <p:cTn id="155" dur="580">
                                          <p:stCondLst>
                                            <p:cond delay="0"/>
                                          </p:stCondLst>
                                        </p:cTn>
                                        <p:tgtEl>
                                          <p:spTgt spid="3">
                                            <p:txEl>
                                              <p:pRg st="9" end="9"/>
                                            </p:txEl>
                                          </p:spTgt>
                                        </p:tgtEl>
                                      </p:cBhvr>
                                    </p:animEffect>
                                    <p:anim calcmode="lin" valueType="num">
                                      <p:cBhvr>
                                        <p:cTn id="156" dur="1822" tmFilter="0,0; 0.14,0.36; 0.43,0.73; 0.71,0.91; 1.0,1.0">
                                          <p:stCondLst>
                                            <p:cond delay="0"/>
                                          </p:stCondLst>
                                        </p:cTn>
                                        <p:tgtEl>
                                          <p:spTgt spid="3">
                                            <p:txEl>
                                              <p:pRg st="9" end="9"/>
                                            </p:txEl>
                                          </p:spTgt>
                                        </p:tgtEl>
                                        <p:attrNameLst>
                                          <p:attrName>ppt_x</p:attrName>
                                        </p:attrNameLst>
                                      </p:cBhvr>
                                      <p:tavLst>
                                        <p:tav tm="0">
                                          <p:val>
                                            <p:strVal val="#ppt_x-0.25"/>
                                          </p:val>
                                        </p:tav>
                                        <p:tav tm="100000">
                                          <p:val>
                                            <p:strVal val="#ppt_x"/>
                                          </p:val>
                                        </p:tav>
                                      </p:tavLst>
                                    </p:anim>
                                    <p:anim calcmode="lin" valueType="num">
                                      <p:cBhvr>
                                        <p:cTn id="157" dur="664" tmFilter="0.0,0.0; 0.25,0.07; 0.50,0.2; 0.75,0.467; 1.0,1.0">
                                          <p:stCondLst>
                                            <p:cond delay="0"/>
                                          </p:stCondLst>
                                        </p:cTn>
                                        <p:tgtEl>
                                          <p:spTgt spid="3">
                                            <p:txEl>
                                              <p:pRg st="9" end="9"/>
                                            </p:txEl>
                                          </p:spTgt>
                                        </p:tgtEl>
                                        <p:attrNameLst>
                                          <p:attrName>ppt_y</p:attrName>
                                        </p:attrNameLst>
                                      </p:cBhvr>
                                      <p:tavLst>
                                        <p:tav tm="0" fmla="#ppt_y-sin(pi*$)/3">
                                          <p:val>
                                            <p:fltVal val="0.5"/>
                                          </p:val>
                                        </p:tav>
                                        <p:tav tm="100000">
                                          <p:val>
                                            <p:fltVal val="1"/>
                                          </p:val>
                                        </p:tav>
                                      </p:tavLst>
                                    </p:anim>
                                    <p:anim calcmode="lin" valueType="num">
                                      <p:cBhvr>
                                        <p:cTn id="158" dur="664" tmFilter="0, 0; 0.125,0.2665; 0.25,0.4; 0.375,0.465; 0.5,0.5;  0.625,0.535; 0.75,0.6; 0.875,0.7335; 1,1">
                                          <p:stCondLst>
                                            <p:cond delay="664"/>
                                          </p:stCondLst>
                                        </p:cTn>
                                        <p:tgtEl>
                                          <p:spTgt spid="3">
                                            <p:txEl>
                                              <p:pRg st="9" end="9"/>
                                            </p:txEl>
                                          </p:spTgt>
                                        </p:tgtEl>
                                        <p:attrNameLst>
                                          <p:attrName>ppt_y</p:attrName>
                                        </p:attrNameLst>
                                      </p:cBhvr>
                                      <p:tavLst>
                                        <p:tav tm="0" fmla="#ppt_y-sin(pi*$)/9">
                                          <p:val>
                                            <p:fltVal val="0"/>
                                          </p:val>
                                        </p:tav>
                                        <p:tav tm="100000">
                                          <p:val>
                                            <p:fltVal val="1"/>
                                          </p:val>
                                        </p:tav>
                                      </p:tavLst>
                                    </p:anim>
                                    <p:anim calcmode="lin" valueType="num">
                                      <p:cBhvr>
                                        <p:cTn id="159" dur="332" tmFilter="0, 0; 0.125,0.2665; 0.25,0.4; 0.375,0.465; 0.5,0.5;  0.625,0.535; 0.75,0.6; 0.875,0.7335; 1,1">
                                          <p:stCondLst>
                                            <p:cond delay="1324"/>
                                          </p:stCondLst>
                                        </p:cTn>
                                        <p:tgtEl>
                                          <p:spTgt spid="3">
                                            <p:txEl>
                                              <p:pRg st="9" end="9"/>
                                            </p:txEl>
                                          </p:spTgt>
                                        </p:tgtEl>
                                        <p:attrNameLst>
                                          <p:attrName>ppt_y</p:attrName>
                                        </p:attrNameLst>
                                      </p:cBhvr>
                                      <p:tavLst>
                                        <p:tav tm="0" fmla="#ppt_y-sin(pi*$)/27">
                                          <p:val>
                                            <p:fltVal val="0"/>
                                          </p:val>
                                        </p:tav>
                                        <p:tav tm="100000">
                                          <p:val>
                                            <p:fltVal val="1"/>
                                          </p:val>
                                        </p:tav>
                                      </p:tavLst>
                                    </p:anim>
                                    <p:anim calcmode="lin" valueType="num">
                                      <p:cBhvr>
                                        <p:cTn id="160" dur="164" tmFilter="0, 0; 0.125,0.2665; 0.25,0.4; 0.375,0.465; 0.5,0.5;  0.625,0.535; 0.75,0.6; 0.875,0.7335; 1,1">
                                          <p:stCondLst>
                                            <p:cond delay="1656"/>
                                          </p:stCondLst>
                                        </p:cTn>
                                        <p:tgtEl>
                                          <p:spTgt spid="3">
                                            <p:txEl>
                                              <p:pRg st="9" end="9"/>
                                            </p:txEl>
                                          </p:spTgt>
                                        </p:tgtEl>
                                        <p:attrNameLst>
                                          <p:attrName>ppt_y</p:attrName>
                                        </p:attrNameLst>
                                      </p:cBhvr>
                                      <p:tavLst>
                                        <p:tav tm="0" fmla="#ppt_y-sin(pi*$)/81">
                                          <p:val>
                                            <p:fltVal val="0"/>
                                          </p:val>
                                        </p:tav>
                                        <p:tav tm="100000">
                                          <p:val>
                                            <p:fltVal val="1"/>
                                          </p:val>
                                        </p:tav>
                                      </p:tavLst>
                                    </p:anim>
                                    <p:animScale>
                                      <p:cBhvr>
                                        <p:cTn id="161" dur="26">
                                          <p:stCondLst>
                                            <p:cond delay="650"/>
                                          </p:stCondLst>
                                        </p:cTn>
                                        <p:tgtEl>
                                          <p:spTgt spid="3">
                                            <p:txEl>
                                              <p:pRg st="9" end="9"/>
                                            </p:txEl>
                                          </p:spTgt>
                                        </p:tgtEl>
                                      </p:cBhvr>
                                      <p:to x="100000" y="60000"/>
                                    </p:animScale>
                                    <p:animScale>
                                      <p:cBhvr>
                                        <p:cTn id="162" dur="166" decel="50000">
                                          <p:stCondLst>
                                            <p:cond delay="676"/>
                                          </p:stCondLst>
                                        </p:cTn>
                                        <p:tgtEl>
                                          <p:spTgt spid="3">
                                            <p:txEl>
                                              <p:pRg st="9" end="9"/>
                                            </p:txEl>
                                          </p:spTgt>
                                        </p:tgtEl>
                                      </p:cBhvr>
                                      <p:to x="100000" y="100000"/>
                                    </p:animScale>
                                    <p:animScale>
                                      <p:cBhvr>
                                        <p:cTn id="163" dur="26">
                                          <p:stCondLst>
                                            <p:cond delay="1312"/>
                                          </p:stCondLst>
                                        </p:cTn>
                                        <p:tgtEl>
                                          <p:spTgt spid="3">
                                            <p:txEl>
                                              <p:pRg st="9" end="9"/>
                                            </p:txEl>
                                          </p:spTgt>
                                        </p:tgtEl>
                                      </p:cBhvr>
                                      <p:to x="100000" y="80000"/>
                                    </p:animScale>
                                    <p:animScale>
                                      <p:cBhvr>
                                        <p:cTn id="164" dur="166" decel="50000">
                                          <p:stCondLst>
                                            <p:cond delay="1338"/>
                                          </p:stCondLst>
                                        </p:cTn>
                                        <p:tgtEl>
                                          <p:spTgt spid="3">
                                            <p:txEl>
                                              <p:pRg st="9" end="9"/>
                                            </p:txEl>
                                          </p:spTgt>
                                        </p:tgtEl>
                                      </p:cBhvr>
                                      <p:to x="100000" y="100000"/>
                                    </p:animScale>
                                    <p:animScale>
                                      <p:cBhvr>
                                        <p:cTn id="165" dur="26">
                                          <p:stCondLst>
                                            <p:cond delay="1642"/>
                                          </p:stCondLst>
                                        </p:cTn>
                                        <p:tgtEl>
                                          <p:spTgt spid="3">
                                            <p:txEl>
                                              <p:pRg st="9" end="9"/>
                                            </p:txEl>
                                          </p:spTgt>
                                        </p:tgtEl>
                                      </p:cBhvr>
                                      <p:to x="100000" y="90000"/>
                                    </p:animScale>
                                    <p:animScale>
                                      <p:cBhvr>
                                        <p:cTn id="166" dur="166" decel="50000">
                                          <p:stCondLst>
                                            <p:cond delay="1668"/>
                                          </p:stCondLst>
                                        </p:cTn>
                                        <p:tgtEl>
                                          <p:spTgt spid="3">
                                            <p:txEl>
                                              <p:pRg st="9" end="9"/>
                                            </p:txEl>
                                          </p:spTgt>
                                        </p:tgtEl>
                                      </p:cBhvr>
                                      <p:to x="100000" y="100000"/>
                                    </p:animScale>
                                    <p:animScale>
                                      <p:cBhvr>
                                        <p:cTn id="167" dur="26">
                                          <p:stCondLst>
                                            <p:cond delay="1808"/>
                                          </p:stCondLst>
                                        </p:cTn>
                                        <p:tgtEl>
                                          <p:spTgt spid="3">
                                            <p:txEl>
                                              <p:pRg st="9" end="9"/>
                                            </p:txEl>
                                          </p:spTgt>
                                        </p:tgtEl>
                                      </p:cBhvr>
                                      <p:to x="100000" y="95000"/>
                                    </p:animScale>
                                    <p:animScale>
                                      <p:cBhvr>
                                        <p:cTn id="168" dur="166" decel="50000">
                                          <p:stCondLst>
                                            <p:cond delay="1834"/>
                                          </p:stCondLst>
                                        </p:cTn>
                                        <p:tgtEl>
                                          <p:spTgt spid="3">
                                            <p:txEl>
                                              <p:pRg st="9" end="9"/>
                                            </p:txEl>
                                          </p:spTgt>
                                        </p:tgtEl>
                                      </p:cBhvr>
                                      <p:to x="100000" y="100000"/>
                                    </p:animScale>
                                  </p:childTnLst>
                                </p:cTn>
                              </p:par>
                              <p:par>
                                <p:cTn id="169" presetID="26" presetClass="entr" presetSubtype="0" fill="hold" nodeType="withEffect">
                                  <p:stCondLst>
                                    <p:cond delay="0"/>
                                  </p:stCondLst>
                                  <p:childTnLst>
                                    <p:set>
                                      <p:cBhvr>
                                        <p:cTn id="170" dur="1" fill="hold">
                                          <p:stCondLst>
                                            <p:cond delay="0"/>
                                          </p:stCondLst>
                                        </p:cTn>
                                        <p:tgtEl>
                                          <p:spTgt spid="3">
                                            <p:txEl>
                                              <p:pRg st="10" end="10"/>
                                            </p:txEl>
                                          </p:spTgt>
                                        </p:tgtEl>
                                        <p:attrNameLst>
                                          <p:attrName>style.visibility</p:attrName>
                                        </p:attrNameLst>
                                      </p:cBhvr>
                                      <p:to>
                                        <p:strVal val="visible"/>
                                      </p:to>
                                    </p:set>
                                    <p:animEffect transition="in" filter="wipe(down)">
                                      <p:cBhvr>
                                        <p:cTn id="171" dur="580">
                                          <p:stCondLst>
                                            <p:cond delay="0"/>
                                          </p:stCondLst>
                                        </p:cTn>
                                        <p:tgtEl>
                                          <p:spTgt spid="3">
                                            <p:txEl>
                                              <p:pRg st="10" end="10"/>
                                            </p:txEl>
                                          </p:spTgt>
                                        </p:tgtEl>
                                      </p:cBhvr>
                                    </p:animEffect>
                                    <p:anim calcmode="lin" valueType="num">
                                      <p:cBhvr>
                                        <p:cTn id="172" dur="1822" tmFilter="0,0; 0.14,0.36; 0.43,0.73; 0.71,0.91; 1.0,1.0">
                                          <p:stCondLst>
                                            <p:cond delay="0"/>
                                          </p:stCondLst>
                                        </p:cTn>
                                        <p:tgtEl>
                                          <p:spTgt spid="3">
                                            <p:txEl>
                                              <p:pRg st="10" end="10"/>
                                            </p:txEl>
                                          </p:spTgt>
                                        </p:tgtEl>
                                        <p:attrNameLst>
                                          <p:attrName>ppt_x</p:attrName>
                                        </p:attrNameLst>
                                      </p:cBhvr>
                                      <p:tavLst>
                                        <p:tav tm="0">
                                          <p:val>
                                            <p:strVal val="#ppt_x-0.25"/>
                                          </p:val>
                                        </p:tav>
                                        <p:tav tm="100000">
                                          <p:val>
                                            <p:strVal val="#ppt_x"/>
                                          </p:val>
                                        </p:tav>
                                      </p:tavLst>
                                    </p:anim>
                                    <p:anim calcmode="lin" valueType="num">
                                      <p:cBhvr>
                                        <p:cTn id="173" dur="664" tmFilter="0.0,0.0; 0.25,0.07; 0.50,0.2; 0.75,0.467; 1.0,1.0">
                                          <p:stCondLst>
                                            <p:cond delay="0"/>
                                          </p:stCondLst>
                                        </p:cTn>
                                        <p:tgtEl>
                                          <p:spTgt spid="3">
                                            <p:txEl>
                                              <p:pRg st="10" end="10"/>
                                            </p:txEl>
                                          </p:spTgt>
                                        </p:tgtEl>
                                        <p:attrNameLst>
                                          <p:attrName>ppt_y</p:attrName>
                                        </p:attrNameLst>
                                      </p:cBhvr>
                                      <p:tavLst>
                                        <p:tav tm="0" fmla="#ppt_y-sin(pi*$)/3">
                                          <p:val>
                                            <p:fltVal val="0.5"/>
                                          </p:val>
                                        </p:tav>
                                        <p:tav tm="100000">
                                          <p:val>
                                            <p:fltVal val="1"/>
                                          </p:val>
                                        </p:tav>
                                      </p:tavLst>
                                    </p:anim>
                                    <p:anim calcmode="lin" valueType="num">
                                      <p:cBhvr>
                                        <p:cTn id="174" dur="664" tmFilter="0, 0; 0.125,0.2665; 0.25,0.4; 0.375,0.465; 0.5,0.5;  0.625,0.535; 0.75,0.6; 0.875,0.7335; 1,1">
                                          <p:stCondLst>
                                            <p:cond delay="664"/>
                                          </p:stCondLst>
                                        </p:cTn>
                                        <p:tgtEl>
                                          <p:spTgt spid="3">
                                            <p:txEl>
                                              <p:pRg st="10" end="10"/>
                                            </p:txEl>
                                          </p:spTgt>
                                        </p:tgtEl>
                                        <p:attrNameLst>
                                          <p:attrName>ppt_y</p:attrName>
                                        </p:attrNameLst>
                                      </p:cBhvr>
                                      <p:tavLst>
                                        <p:tav tm="0" fmla="#ppt_y-sin(pi*$)/9">
                                          <p:val>
                                            <p:fltVal val="0"/>
                                          </p:val>
                                        </p:tav>
                                        <p:tav tm="100000">
                                          <p:val>
                                            <p:fltVal val="1"/>
                                          </p:val>
                                        </p:tav>
                                      </p:tavLst>
                                    </p:anim>
                                    <p:anim calcmode="lin" valueType="num">
                                      <p:cBhvr>
                                        <p:cTn id="175" dur="332" tmFilter="0, 0; 0.125,0.2665; 0.25,0.4; 0.375,0.465; 0.5,0.5;  0.625,0.535; 0.75,0.6; 0.875,0.7335; 1,1">
                                          <p:stCondLst>
                                            <p:cond delay="1324"/>
                                          </p:stCondLst>
                                        </p:cTn>
                                        <p:tgtEl>
                                          <p:spTgt spid="3">
                                            <p:txEl>
                                              <p:pRg st="10" end="10"/>
                                            </p:txEl>
                                          </p:spTgt>
                                        </p:tgtEl>
                                        <p:attrNameLst>
                                          <p:attrName>ppt_y</p:attrName>
                                        </p:attrNameLst>
                                      </p:cBhvr>
                                      <p:tavLst>
                                        <p:tav tm="0" fmla="#ppt_y-sin(pi*$)/27">
                                          <p:val>
                                            <p:fltVal val="0"/>
                                          </p:val>
                                        </p:tav>
                                        <p:tav tm="100000">
                                          <p:val>
                                            <p:fltVal val="1"/>
                                          </p:val>
                                        </p:tav>
                                      </p:tavLst>
                                    </p:anim>
                                    <p:anim calcmode="lin" valueType="num">
                                      <p:cBhvr>
                                        <p:cTn id="176" dur="164" tmFilter="0, 0; 0.125,0.2665; 0.25,0.4; 0.375,0.465; 0.5,0.5;  0.625,0.535; 0.75,0.6; 0.875,0.7335; 1,1">
                                          <p:stCondLst>
                                            <p:cond delay="1656"/>
                                          </p:stCondLst>
                                        </p:cTn>
                                        <p:tgtEl>
                                          <p:spTgt spid="3">
                                            <p:txEl>
                                              <p:pRg st="10" end="10"/>
                                            </p:txEl>
                                          </p:spTgt>
                                        </p:tgtEl>
                                        <p:attrNameLst>
                                          <p:attrName>ppt_y</p:attrName>
                                        </p:attrNameLst>
                                      </p:cBhvr>
                                      <p:tavLst>
                                        <p:tav tm="0" fmla="#ppt_y-sin(pi*$)/81">
                                          <p:val>
                                            <p:fltVal val="0"/>
                                          </p:val>
                                        </p:tav>
                                        <p:tav tm="100000">
                                          <p:val>
                                            <p:fltVal val="1"/>
                                          </p:val>
                                        </p:tav>
                                      </p:tavLst>
                                    </p:anim>
                                    <p:animScale>
                                      <p:cBhvr>
                                        <p:cTn id="177" dur="26">
                                          <p:stCondLst>
                                            <p:cond delay="650"/>
                                          </p:stCondLst>
                                        </p:cTn>
                                        <p:tgtEl>
                                          <p:spTgt spid="3">
                                            <p:txEl>
                                              <p:pRg st="10" end="10"/>
                                            </p:txEl>
                                          </p:spTgt>
                                        </p:tgtEl>
                                      </p:cBhvr>
                                      <p:to x="100000" y="60000"/>
                                    </p:animScale>
                                    <p:animScale>
                                      <p:cBhvr>
                                        <p:cTn id="178" dur="166" decel="50000">
                                          <p:stCondLst>
                                            <p:cond delay="676"/>
                                          </p:stCondLst>
                                        </p:cTn>
                                        <p:tgtEl>
                                          <p:spTgt spid="3">
                                            <p:txEl>
                                              <p:pRg st="10" end="10"/>
                                            </p:txEl>
                                          </p:spTgt>
                                        </p:tgtEl>
                                      </p:cBhvr>
                                      <p:to x="100000" y="100000"/>
                                    </p:animScale>
                                    <p:animScale>
                                      <p:cBhvr>
                                        <p:cTn id="179" dur="26">
                                          <p:stCondLst>
                                            <p:cond delay="1312"/>
                                          </p:stCondLst>
                                        </p:cTn>
                                        <p:tgtEl>
                                          <p:spTgt spid="3">
                                            <p:txEl>
                                              <p:pRg st="10" end="10"/>
                                            </p:txEl>
                                          </p:spTgt>
                                        </p:tgtEl>
                                      </p:cBhvr>
                                      <p:to x="100000" y="80000"/>
                                    </p:animScale>
                                    <p:animScale>
                                      <p:cBhvr>
                                        <p:cTn id="180" dur="166" decel="50000">
                                          <p:stCondLst>
                                            <p:cond delay="1338"/>
                                          </p:stCondLst>
                                        </p:cTn>
                                        <p:tgtEl>
                                          <p:spTgt spid="3">
                                            <p:txEl>
                                              <p:pRg st="10" end="10"/>
                                            </p:txEl>
                                          </p:spTgt>
                                        </p:tgtEl>
                                      </p:cBhvr>
                                      <p:to x="100000" y="100000"/>
                                    </p:animScale>
                                    <p:animScale>
                                      <p:cBhvr>
                                        <p:cTn id="181" dur="26">
                                          <p:stCondLst>
                                            <p:cond delay="1642"/>
                                          </p:stCondLst>
                                        </p:cTn>
                                        <p:tgtEl>
                                          <p:spTgt spid="3">
                                            <p:txEl>
                                              <p:pRg st="10" end="10"/>
                                            </p:txEl>
                                          </p:spTgt>
                                        </p:tgtEl>
                                      </p:cBhvr>
                                      <p:to x="100000" y="90000"/>
                                    </p:animScale>
                                    <p:animScale>
                                      <p:cBhvr>
                                        <p:cTn id="182" dur="166" decel="50000">
                                          <p:stCondLst>
                                            <p:cond delay="1668"/>
                                          </p:stCondLst>
                                        </p:cTn>
                                        <p:tgtEl>
                                          <p:spTgt spid="3">
                                            <p:txEl>
                                              <p:pRg st="10" end="10"/>
                                            </p:txEl>
                                          </p:spTgt>
                                        </p:tgtEl>
                                      </p:cBhvr>
                                      <p:to x="100000" y="100000"/>
                                    </p:animScale>
                                    <p:animScale>
                                      <p:cBhvr>
                                        <p:cTn id="183" dur="26">
                                          <p:stCondLst>
                                            <p:cond delay="1808"/>
                                          </p:stCondLst>
                                        </p:cTn>
                                        <p:tgtEl>
                                          <p:spTgt spid="3">
                                            <p:txEl>
                                              <p:pRg st="10" end="10"/>
                                            </p:txEl>
                                          </p:spTgt>
                                        </p:tgtEl>
                                      </p:cBhvr>
                                      <p:to x="100000" y="95000"/>
                                    </p:animScale>
                                    <p:animScale>
                                      <p:cBhvr>
                                        <p:cTn id="184" dur="166" decel="50000">
                                          <p:stCondLst>
                                            <p:cond delay="1834"/>
                                          </p:stCondLst>
                                        </p:cTn>
                                        <p:tgtEl>
                                          <p:spTgt spid="3">
                                            <p:txEl>
                                              <p:pRg st="10" end="10"/>
                                            </p:txEl>
                                          </p:spTgt>
                                        </p:tgtEl>
                                      </p:cBhvr>
                                      <p:to x="100000" y="100000"/>
                                    </p:animScale>
                                  </p:childTnLst>
                                </p:cTn>
                              </p:par>
                              <p:par>
                                <p:cTn id="185" presetID="26" presetClass="entr" presetSubtype="0" fill="hold" nodeType="withEffect">
                                  <p:stCondLst>
                                    <p:cond delay="0"/>
                                  </p:stCondLst>
                                  <p:childTnLst>
                                    <p:set>
                                      <p:cBhvr>
                                        <p:cTn id="186" dur="1" fill="hold">
                                          <p:stCondLst>
                                            <p:cond delay="0"/>
                                          </p:stCondLst>
                                        </p:cTn>
                                        <p:tgtEl>
                                          <p:spTgt spid="3">
                                            <p:txEl>
                                              <p:pRg st="11" end="11"/>
                                            </p:txEl>
                                          </p:spTgt>
                                        </p:tgtEl>
                                        <p:attrNameLst>
                                          <p:attrName>style.visibility</p:attrName>
                                        </p:attrNameLst>
                                      </p:cBhvr>
                                      <p:to>
                                        <p:strVal val="visible"/>
                                      </p:to>
                                    </p:set>
                                    <p:animEffect transition="in" filter="wipe(down)">
                                      <p:cBhvr>
                                        <p:cTn id="187" dur="580">
                                          <p:stCondLst>
                                            <p:cond delay="0"/>
                                          </p:stCondLst>
                                        </p:cTn>
                                        <p:tgtEl>
                                          <p:spTgt spid="3">
                                            <p:txEl>
                                              <p:pRg st="11" end="11"/>
                                            </p:txEl>
                                          </p:spTgt>
                                        </p:tgtEl>
                                      </p:cBhvr>
                                    </p:animEffect>
                                    <p:anim calcmode="lin" valueType="num">
                                      <p:cBhvr>
                                        <p:cTn id="188" dur="1822" tmFilter="0,0; 0.14,0.36; 0.43,0.73; 0.71,0.91; 1.0,1.0">
                                          <p:stCondLst>
                                            <p:cond delay="0"/>
                                          </p:stCondLst>
                                        </p:cTn>
                                        <p:tgtEl>
                                          <p:spTgt spid="3">
                                            <p:txEl>
                                              <p:pRg st="11" end="11"/>
                                            </p:txEl>
                                          </p:spTgt>
                                        </p:tgtEl>
                                        <p:attrNameLst>
                                          <p:attrName>ppt_x</p:attrName>
                                        </p:attrNameLst>
                                      </p:cBhvr>
                                      <p:tavLst>
                                        <p:tav tm="0">
                                          <p:val>
                                            <p:strVal val="#ppt_x-0.25"/>
                                          </p:val>
                                        </p:tav>
                                        <p:tav tm="100000">
                                          <p:val>
                                            <p:strVal val="#ppt_x"/>
                                          </p:val>
                                        </p:tav>
                                      </p:tavLst>
                                    </p:anim>
                                    <p:anim calcmode="lin" valueType="num">
                                      <p:cBhvr>
                                        <p:cTn id="189" dur="664" tmFilter="0.0,0.0; 0.25,0.07; 0.50,0.2; 0.75,0.467; 1.0,1.0">
                                          <p:stCondLst>
                                            <p:cond delay="0"/>
                                          </p:stCondLst>
                                        </p:cTn>
                                        <p:tgtEl>
                                          <p:spTgt spid="3">
                                            <p:txEl>
                                              <p:pRg st="11" end="11"/>
                                            </p:txEl>
                                          </p:spTgt>
                                        </p:tgtEl>
                                        <p:attrNameLst>
                                          <p:attrName>ppt_y</p:attrName>
                                        </p:attrNameLst>
                                      </p:cBhvr>
                                      <p:tavLst>
                                        <p:tav tm="0" fmla="#ppt_y-sin(pi*$)/3">
                                          <p:val>
                                            <p:fltVal val="0.5"/>
                                          </p:val>
                                        </p:tav>
                                        <p:tav tm="100000">
                                          <p:val>
                                            <p:fltVal val="1"/>
                                          </p:val>
                                        </p:tav>
                                      </p:tavLst>
                                    </p:anim>
                                    <p:anim calcmode="lin" valueType="num">
                                      <p:cBhvr>
                                        <p:cTn id="190" dur="664" tmFilter="0, 0; 0.125,0.2665; 0.25,0.4; 0.375,0.465; 0.5,0.5;  0.625,0.535; 0.75,0.6; 0.875,0.7335; 1,1">
                                          <p:stCondLst>
                                            <p:cond delay="664"/>
                                          </p:stCondLst>
                                        </p:cTn>
                                        <p:tgtEl>
                                          <p:spTgt spid="3">
                                            <p:txEl>
                                              <p:pRg st="11" end="11"/>
                                            </p:txEl>
                                          </p:spTgt>
                                        </p:tgtEl>
                                        <p:attrNameLst>
                                          <p:attrName>ppt_y</p:attrName>
                                        </p:attrNameLst>
                                      </p:cBhvr>
                                      <p:tavLst>
                                        <p:tav tm="0" fmla="#ppt_y-sin(pi*$)/9">
                                          <p:val>
                                            <p:fltVal val="0"/>
                                          </p:val>
                                        </p:tav>
                                        <p:tav tm="100000">
                                          <p:val>
                                            <p:fltVal val="1"/>
                                          </p:val>
                                        </p:tav>
                                      </p:tavLst>
                                    </p:anim>
                                    <p:anim calcmode="lin" valueType="num">
                                      <p:cBhvr>
                                        <p:cTn id="191" dur="332" tmFilter="0, 0; 0.125,0.2665; 0.25,0.4; 0.375,0.465; 0.5,0.5;  0.625,0.535; 0.75,0.6; 0.875,0.7335; 1,1">
                                          <p:stCondLst>
                                            <p:cond delay="1324"/>
                                          </p:stCondLst>
                                        </p:cTn>
                                        <p:tgtEl>
                                          <p:spTgt spid="3">
                                            <p:txEl>
                                              <p:pRg st="11" end="11"/>
                                            </p:txEl>
                                          </p:spTgt>
                                        </p:tgtEl>
                                        <p:attrNameLst>
                                          <p:attrName>ppt_y</p:attrName>
                                        </p:attrNameLst>
                                      </p:cBhvr>
                                      <p:tavLst>
                                        <p:tav tm="0" fmla="#ppt_y-sin(pi*$)/27">
                                          <p:val>
                                            <p:fltVal val="0"/>
                                          </p:val>
                                        </p:tav>
                                        <p:tav tm="100000">
                                          <p:val>
                                            <p:fltVal val="1"/>
                                          </p:val>
                                        </p:tav>
                                      </p:tavLst>
                                    </p:anim>
                                    <p:anim calcmode="lin" valueType="num">
                                      <p:cBhvr>
                                        <p:cTn id="192" dur="164" tmFilter="0, 0; 0.125,0.2665; 0.25,0.4; 0.375,0.465; 0.5,0.5;  0.625,0.535; 0.75,0.6; 0.875,0.7335; 1,1">
                                          <p:stCondLst>
                                            <p:cond delay="1656"/>
                                          </p:stCondLst>
                                        </p:cTn>
                                        <p:tgtEl>
                                          <p:spTgt spid="3">
                                            <p:txEl>
                                              <p:pRg st="11" end="11"/>
                                            </p:txEl>
                                          </p:spTgt>
                                        </p:tgtEl>
                                        <p:attrNameLst>
                                          <p:attrName>ppt_y</p:attrName>
                                        </p:attrNameLst>
                                      </p:cBhvr>
                                      <p:tavLst>
                                        <p:tav tm="0" fmla="#ppt_y-sin(pi*$)/81">
                                          <p:val>
                                            <p:fltVal val="0"/>
                                          </p:val>
                                        </p:tav>
                                        <p:tav tm="100000">
                                          <p:val>
                                            <p:fltVal val="1"/>
                                          </p:val>
                                        </p:tav>
                                      </p:tavLst>
                                    </p:anim>
                                    <p:animScale>
                                      <p:cBhvr>
                                        <p:cTn id="193" dur="26">
                                          <p:stCondLst>
                                            <p:cond delay="650"/>
                                          </p:stCondLst>
                                        </p:cTn>
                                        <p:tgtEl>
                                          <p:spTgt spid="3">
                                            <p:txEl>
                                              <p:pRg st="11" end="11"/>
                                            </p:txEl>
                                          </p:spTgt>
                                        </p:tgtEl>
                                      </p:cBhvr>
                                      <p:to x="100000" y="60000"/>
                                    </p:animScale>
                                    <p:animScale>
                                      <p:cBhvr>
                                        <p:cTn id="194" dur="166" decel="50000">
                                          <p:stCondLst>
                                            <p:cond delay="676"/>
                                          </p:stCondLst>
                                        </p:cTn>
                                        <p:tgtEl>
                                          <p:spTgt spid="3">
                                            <p:txEl>
                                              <p:pRg st="11" end="11"/>
                                            </p:txEl>
                                          </p:spTgt>
                                        </p:tgtEl>
                                      </p:cBhvr>
                                      <p:to x="100000" y="100000"/>
                                    </p:animScale>
                                    <p:animScale>
                                      <p:cBhvr>
                                        <p:cTn id="195" dur="26">
                                          <p:stCondLst>
                                            <p:cond delay="1312"/>
                                          </p:stCondLst>
                                        </p:cTn>
                                        <p:tgtEl>
                                          <p:spTgt spid="3">
                                            <p:txEl>
                                              <p:pRg st="11" end="11"/>
                                            </p:txEl>
                                          </p:spTgt>
                                        </p:tgtEl>
                                      </p:cBhvr>
                                      <p:to x="100000" y="80000"/>
                                    </p:animScale>
                                    <p:animScale>
                                      <p:cBhvr>
                                        <p:cTn id="196" dur="166" decel="50000">
                                          <p:stCondLst>
                                            <p:cond delay="1338"/>
                                          </p:stCondLst>
                                        </p:cTn>
                                        <p:tgtEl>
                                          <p:spTgt spid="3">
                                            <p:txEl>
                                              <p:pRg st="11" end="11"/>
                                            </p:txEl>
                                          </p:spTgt>
                                        </p:tgtEl>
                                      </p:cBhvr>
                                      <p:to x="100000" y="100000"/>
                                    </p:animScale>
                                    <p:animScale>
                                      <p:cBhvr>
                                        <p:cTn id="197" dur="26">
                                          <p:stCondLst>
                                            <p:cond delay="1642"/>
                                          </p:stCondLst>
                                        </p:cTn>
                                        <p:tgtEl>
                                          <p:spTgt spid="3">
                                            <p:txEl>
                                              <p:pRg st="11" end="11"/>
                                            </p:txEl>
                                          </p:spTgt>
                                        </p:tgtEl>
                                      </p:cBhvr>
                                      <p:to x="100000" y="90000"/>
                                    </p:animScale>
                                    <p:animScale>
                                      <p:cBhvr>
                                        <p:cTn id="198" dur="166" decel="50000">
                                          <p:stCondLst>
                                            <p:cond delay="1668"/>
                                          </p:stCondLst>
                                        </p:cTn>
                                        <p:tgtEl>
                                          <p:spTgt spid="3">
                                            <p:txEl>
                                              <p:pRg st="11" end="11"/>
                                            </p:txEl>
                                          </p:spTgt>
                                        </p:tgtEl>
                                      </p:cBhvr>
                                      <p:to x="100000" y="100000"/>
                                    </p:animScale>
                                    <p:animScale>
                                      <p:cBhvr>
                                        <p:cTn id="199" dur="26">
                                          <p:stCondLst>
                                            <p:cond delay="1808"/>
                                          </p:stCondLst>
                                        </p:cTn>
                                        <p:tgtEl>
                                          <p:spTgt spid="3">
                                            <p:txEl>
                                              <p:pRg st="11" end="11"/>
                                            </p:txEl>
                                          </p:spTgt>
                                        </p:tgtEl>
                                      </p:cBhvr>
                                      <p:to x="100000" y="95000"/>
                                    </p:animScale>
                                    <p:animScale>
                                      <p:cBhvr>
                                        <p:cTn id="200" dur="166" decel="50000">
                                          <p:stCondLst>
                                            <p:cond delay="1834"/>
                                          </p:stCondLst>
                                        </p:cTn>
                                        <p:tgtEl>
                                          <p:spTgt spid="3">
                                            <p:txEl>
                                              <p:pRg st="11" end="11"/>
                                            </p:txEl>
                                          </p:spTgt>
                                        </p:tgtEl>
                                      </p:cBhvr>
                                      <p:to x="100000" y="100000"/>
                                    </p:animScale>
                                  </p:childTnLst>
                                </p:cTn>
                              </p:par>
                              <p:par>
                                <p:cTn id="201" presetID="26" presetClass="entr" presetSubtype="0" fill="hold" nodeType="withEffect">
                                  <p:stCondLst>
                                    <p:cond delay="0"/>
                                  </p:stCondLst>
                                  <p:childTnLst>
                                    <p:set>
                                      <p:cBhvr>
                                        <p:cTn id="202" dur="1" fill="hold">
                                          <p:stCondLst>
                                            <p:cond delay="0"/>
                                          </p:stCondLst>
                                        </p:cTn>
                                        <p:tgtEl>
                                          <p:spTgt spid="3">
                                            <p:txEl>
                                              <p:pRg st="12" end="12"/>
                                            </p:txEl>
                                          </p:spTgt>
                                        </p:tgtEl>
                                        <p:attrNameLst>
                                          <p:attrName>style.visibility</p:attrName>
                                        </p:attrNameLst>
                                      </p:cBhvr>
                                      <p:to>
                                        <p:strVal val="visible"/>
                                      </p:to>
                                    </p:set>
                                    <p:animEffect transition="in" filter="wipe(down)">
                                      <p:cBhvr>
                                        <p:cTn id="203" dur="580">
                                          <p:stCondLst>
                                            <p:cond delay="0"/>
                                          </p:stCondLst>
                                        </p:cTn>
                                        <p:tgtEl>
                                          <p:spTgt spid="3">
                                            <p:txEl>
                                              <p:pRg st="12" end="12"/>
                                            </p:txEl>
                                          </p:spTgt>
                                        </p:tgtEl>
                                      </p:cBhvr>
                                    </p:animEffect>
                                    <p:anim calcmode="lin" valueType="num">
                                      <p:cBhvr>
                                        <p:cTn id="204" dur="1822" tmFilter="0,0; 0.14,0.36; 0.43,0.73; 0.71,0.91; 1.0,1.0">
                                          <p:stCondLst>
                                            <p:cond delay="0"/>
                                          </p:stCondLst>
                                        </p:cTn>
                                        <p:tgtEl>
                                          <p:spTgt spid="3">
                                            <p:txEl>
                                              <p:pRg st="12" end="12"/>
                                            </p:txEl>
                                          </p:spTgt>
                                        </p:tgtEl>
                                        <p:attrNameLst>
                                          <p:attrName>ppt_x</p:attrName>
                                        </p:attrNameLst>
                                      </p:cBhvr>
                                      <p:tavLst>
                                        <p:tav tm="0">
                                          <p:val>
                                            <p:strVal val="#ppt_x-0.25"/>
                                          </p:val>
                                        </p:tav>
                                        <p:tav tm="100000">
                                          <p:val>
                                            <p:strVal val="#ppt_x"/>
                                          </p:val>
                                        </p:tav>
                                      </p:tavLst>
                                    </p:anim>
                                    <p:anim calcmode="lin" valueType="num">
                                      <p:cBhvr>
                                        <p:cTn id="205" dur="664" tmFilter="0.0,0.0; 0.25,0.07; 0.50,0.2; 0.75,0.467; 1.0,1.0">
                                          <p:stCondLst>
                                            <p:cond delay="0"/>
                                          </p:stCondLst>
                                        </p:cTn>
                                        <p:tgtEl>
                                          <p:spTgt spid="3">
                                            <p:txEl>
                                              <p:pRg st="12" end="12"/>
                                            </p:txEl>
                                          </p:spTgt>
                                        </p:tgtEl>
                                        <p:attrNameLst>
                                          <p:attrName>ppt_y</p:attrName>
                                        </p:attrNameLst>
                                      </p:cBhvr>
                                      <p:tavLst>
                                        <p:tav tm="0" fmla="#ppt_y-sin(pi*$)/3">
                                          <p:val>
                                            <p:fltVal val="0.5"/>
                                          </p:val>
                                        </p:tav>
                                        <p:tav tm="100000">
                                          <p:val>
                                            <p:fltVal val="1"/>
                                          </p:val>
                                        </p:tav>
                                      </p:tavLst>
                                    </p:anim>
                                    <p:anim calcmode="lin" valueType="num">
                                      <p:cBhvr>
                                        <p:cTn id="206" dur="664" tmFilter="0, 0; 0.125,0.2665; 0.25,0.4; 0.375,0.465; 0.5,0.5;  0.625,0.535; 0.75,0.6; 0.875,0.7335; 1,1">
                                          <p:stCondLst>
                                            <p:cond delay="664"/>
                                          </p:stCondLst>
                                        </p:cTn>
                                        <p:tgtEl>
                                          <p:spTgt spid="3">
                                            <p:txEl>
                                              <p:pRg st="12" end="12"/>
                                            </p:txEl>
                                          </p:spTgt>
                                        </p:tgtEl>
                                        <p:attrNameLst>
                                          <p:attrName>ppt_y</p:attrName>
                                        </p:attrNameLst>
                                      </p:cBhvr>
                                      <p:tavLst>
                                        <p:tav tm="0" fmla="#ppt_y-sin(pi*$)/9">
                                          <p:val>
                                            <p:fltVal val="0"/>
                                          </p:val>
                                        </p:tav>
                                        <p:tav tm="100000">
                                          <p:val>
                                            <p:fltVal val="1"/>
                                          </p:val>
                                        </p:tav>
                                      </p:tavLst>
                                    </p:anim>
                                    <p:anim calcmode="lin" valueType="num">
                                      <p:cBhvr>
                                        <p:cTn id="207" dur="332" tmFilter="0, 0; 0.125,0.2665; 0.25,0.4; 0.375,0.465; 0.5,0.5;  0.625,0.535; 0.75,0.6; 0.875,0.7335; 1,1">
                                          <p:stCondLst>
                                            <p:cond delay="1324"/>
                                          </p:stCondLst>
                                        </p:cTn>
                                        <p:tgtEl>
                                          <p:spTgt spid="3">
                                            <p:txEl>
                                              <p:pRg st="12" end="12"/>
                                            </p:txEl>
                                          </p:spTgt>
                                        </p:tgtEl>
                                        <p:attrNameLst>
                                          <p:attrName>ppt_y</p:attrName>
                                        </p:attrNameLst>
                                      </p:cBhvr>
                                      <p:tavLst>
                                        <p:tav tm="0" fmla="#ppt_y-sin(pi*$)/27">
                                          <p:val>
                                            <p:fltVal val="0"/>
                                          </p:val>
                                        </p:tav>
                                        <p:tav tm="100000">
                                          <p:val>
                                            <p:fltVal val="1"/>
                                          </p:val>
                                        </p:tav>
                                      </p:tavLst>
                                    </p:anim>
                                    <p:anim calcmode="lin" valueType="num">
                                      <p:cBhvr>
                                        <p:cTn id="208" dur="164" tmFilter="0, 0; 0.125,0.2665; 0.25,0.4; 0.375,0.465; 0.5,0.5;  0.625,0.535; 0.75,0.6; 0.875,0.7335; 1,1">
                                          <p:stCondLst>
                                            <p:cond delay="1656"/>
                                          </p:stCondLst>
                                        </p:cTn>
                                        <p:tgtEl>
                                          <p:spTgt spid="3">
                                            <p:txEl>
                                              <p:pRg st="12" end="12"/>
                                            </p:txEl>
                                          </p:spTgt>
                                        </p:tgtEl>
                                        <p:attrNameLst>
                                          <p:attrName>ppt_y</p:attrName>
                                        </p:attrNameLst>
                                      </p:cBhvr>
                                      <p:tavLst>
                                        <p:tav tm="0" fmla="#ppt_y-sin(pi*$)/81">
                                          <p:val>
                                            <p:fltVal val="0"/>
                                          </p:val>
                                        </p:tav>
                                        <p:tav tm="100000">
                                          <p:val>
                                            <p:fltVal val="1"/>
                                          </p:val>
                                        </p:tav>
                                      </p:tavLst>
                                    </p:anim>
                                    <p:animScale>
                                      <p:cBhvr>
                                        <p:cTn id="209" dur="26">
                                          <p:stCondLst>
                                            <p:cond delay="650"/>
                                          </p:stCondLst>
                                        </p:cTn>
                                        <p:tgtEl>
                                          <p:spTgt spid="3">
                                            <p:txEl>
                                              <p:pRg st="12" end="12"/>
                                            </p:txEl>
                                          </p:spTgt>
                                        </p:tgtEl>
                                      </p:cBhvr>
                                      <p:to x="100000" y="60000"/>
                                    </p:animScale>
                                    <p:animScale>
                                      <p:cBhvr>
                                        <p:cTn id="210" dur="166" decel="50000">
                                          <p:stCondLst>
                                            <p:cond delay="676"/>
                                          </p:stCondLst>
                                        </p:cTn>
                                        <p:tgtEl>
                                          <p:spTgt spid="3">
                                            <p:txEl>
                                              <p:pRg st="12" end="12"/>
                                            </p:txEl>
                                          </p:spTgt>
                                        </p:tgtEl>
                                      </p:cBhvr>
                                      <p:to x="100000" y="100000"/>
                                    </p:animScale>
                                    <p:animScale>
                                      <p:cBhvr>
                                        <p:cTn id="211" dur="26">
                                          <p:stCondLst>
                                            <p:cond delay="1312"/>
                                          </p:stCondLst>
                                        </p:cTn>
                                        <p:tgtEl>
                                          <p:spTgt spid="3">
                                            <p:txEl>
                                              <p:pRg st="12" end="12"/>
                                            </p:txEl>
                                          </p:spTgt>
                                        </p:tgtEl>
                                      </p:cBhvr>
                                      <p:to x="100000" y="80000"/>
                                    </p:animScale>
                                    <p:animScale>
                                      <p:cBhvr>
                                        <p:cTn id="212" dur="166" decel="50000">
                                          <p:stCondLst>
                                            <p:cond delay="1338"/>
                                          </p:stCondLst>
                                        </p:cTn>
                                        <p:tgtEl>
                                          <p:spTgt spid="3">
                                            <p:txEl>
                                              <p:pRg st="12" end="12"/>
                                            </p:txEl>
                                          </p:spTgt>
                                        </p:tgtEl>
                                      </p:cBhvr>
                                      <p:to x="100000" y="100000"/>
                                    </p:animScale>
                                    <p:animScale>
                                      <p:cBhvr>
                                        <p:cTn id="213" dur="26">
                                          <p:stCondLst>
                                            <p:cond delay="1642"/>
                                          </p:stCondLst>
                                        </p:cTn>
                                        <p:tgtEl>
                                          <p:spTgt spid="3">
                                            <p:txEl>
                                              <p:pRg st="12" end="12"/>
                                            </p:txEl>
                                          </p:spTgt>
                                        </p:tgtEl>
                                      </p:cBhvr>
                                      <p:to x="100000" y="90000"/>
                                    </p:animScale>
                                    <p:animScale>
                                      <p:cBhvr>
                                        <p:cTn id="214" dur="166" decel="50000">
                                          <p:stCondLst>
                                            <p:cond delay="1668"/>
                                          </p:stCondLst>
                                        </p:cTn>
                                        <p:tgtEl>
                                          <p:spTgt spid="3">
                                            <p:txEl>
                                              <p:pRg st="12" end="12"/>
                                            </p:txEl>
                                          </p:spTgt>
                                        </p:tgtEl>
                                      </p:cBhvr>
                                      <p:to x="100000" y="100000"/>
                                    </p:animScale>
                                    <p:animScale>
                                      <p:cBhvr>
                                        <p:cTn id="215" dur="26">
                                          <p:stCondLst>
                                            <p:cond delay="1808"/>
                                          </p:stCondLst>
                                        </p:cTn>
                                        <p:tgtEl>
                                          <p:spTgt spid="3">
                                            <p:txEl>
                                              <p:pRg st="12" end="12"/>
                                            </p:txEl>
                                          </p:spTgt>
                                        </p:tgtEl>
                                      </p:cBhvr>
                                      <p:to x="100000" y="95000"/>
                                    </p:animScale>
                                    <p:animScale>
                                      <p:cBhvr>
                                        <p:cTn id="216" dur="166" decel="50000">
                                          <p:stCondLst>
                                            <p:cond delay="1834"/>
                                          </p:stCondLst>
                                        </p:cTn>
                                        <p:tgtEl>
                                          <p:spTgt spid="3">
                                            <p:txEl>
                                              <p:pRg st="12" end="1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Test de petits morceaux de code</a:t>
            </a:r>
          </a:p>
        </p:txBody>
      </p:sp>
      <p:sp>
        <p:nvSpPr>
          <p:cNvPr id="3" name="Espace réservé du contenu 2"/>
          <p:cNvSpPr>
            <a:spLocks noGrp="1"/>
          </p:cNvSpPr>
          <p:nvPr>
            <p:ph idx="1"/>
          </p:nvPr>
        </p:nvSpPr>
        <p:spPr/>
        <p:txBody>
          <a:bodyPr/>
          <a:lstStyle/>
          <a:p>
            <a:pPr marL="457200" indent="-457200">
              <a:lnSpc>
                <a:spcPct val="200000"/>
              </a:lnSpc>
              <a:buFont typeface="+mj-lt"/>
              <a:buAutoNum type="arabicPeriod"/>
            </a:pPr>
            <a:r>
              <a:rPr lang="fr-FR" dirty="0"/>
              <a:t>Écriture de méthodes </a:t>
            </a:r>
            <a:r>
              <a:rPr lang="fr-FR" dirty="0" smtClean="0"/>
              <a:t>:</a:t>
            </a:r>
          </a:p>
          <a:p>
            <a:pPr marL="749808" lvl="1" indent="-457200">
              <a:lnSpc>
                <a:spcPct val="200000"/>
              </a:lnSpc>
              <a:buFont typeface="Wingdings" panose="05000000000000000000" pitchFamily="2" charset="2"/>
              <a:buChar char="Ø"/>
            </a:pPr>
            <a:r>
              <a:rPr lang="fr-FR" dirty="0"/>
              <a:t>Créez une méthode pour calculer la somme de deux entiers </a:t>
            </a:r>
            <a:r>
              <a:rPr lang="fr-FR" dirty="0" smtClean="0"/>
              <a:t>:</a:t>
            </a:r>
          </a:p>
          <a:p>
            <a:pPr marL="749808" lvl="1" indent="-457200">
              <a:lnSpc>
                <a:spcPct val="200000"/>
              </a:lnSpc>
              <a:buFont typeface="Wingdings" panose="05000000000000000000" pitchFamily="2" charset="2"/>
              <a:buChar char="Ø"/>
            </a:pPr>
            <a:r>
              <a:rPr lang="fr-FR" dirty="0" smtClean="0"/>
              <a:t>Testez-la </a:t>
            </a:r>
            <a:r>
              <a:rPr lang="fr-FR" dirty="0"/>
              <a:t>avec : </a:t>
            </a:r>
            <a:r>
              <a:rPr lang="fr-FR" b="1" dirty="0"/>
              <a:t>somme(5, 10</a:t>
            </a:r>
            <a:r>
              <a:rPr lang="fr-FR" b="1" dirty="0" smtClean="0"/>
              <a:t>)</a:t>
            </a:r>
          </a:p>
          <a:p>
            <a:pPr marL="457200" indent="-457200">
              <a:lnSpc>
                <a:spcPct val="200000"/>
              </a:lnSpc>
              <a:buFont typeface="+mj-lt"/>
              <a:buAutoNum type="arabicPeriod"/>
            </a:pPr>
            <a:r>
              <a:rPr lang="fr-FR" dirty="0"/>
              <a:t>Manipulation de collections </a:t>
            </a:r>
            <a:r>
              <a:rPr lang="fr-FR" dirty="0" smtClean="0"/>
              <a:t>:</a:t>
            </a:r>
          </a:p>
          <a:p>
            <a:pPr marL="749808" lvl="1" indent="-457200">
              <a:lnSpc>
                <a:spcPct val="200000"/>
              </a:lnSpc>
              <a:buFont typeface="Wingdings" panose="05000000000000000000" pitchFamily="2" charset="2"/>
              <a:buChar char="Ø"/>
            </a:pPr>
            <a:r>
              <a:rPr lang="fr-FR" dirty="0"/>
              <a:t>Créez une liste et ajoutez-y des éléments </a:t>
            </a:r>
            <a:r>
              <a:rPr lang="fr-FR" dirty="0" smtClean="0"/>
              <a:t>:</a:t>
            </a:r>
          </a:p>
          <a:p>
            <a:pPr marL="749808" lvl="1" indent="-457200">
              <a:lnSpc>
                <a:spcPct val="200000"/>
              </a:lnSpc>
              <a:buFont typeface="Wingdings" panose="05000000000000000000" pitchFamily="2" charset="2"/>
              <a:buChar char="Ø"/>
            </a:pPr>
            <a:r>
              <a:rPr lang="fr-FR" dirty="0"/>
              <a:t>Parcourez la liste </a:t>
            </a:r>
            <a:r>
              <a:rPr lang="fr-FR" dirty="0" smtClean="0"/>
              <a:t>:</a:t>
            </a:r>
            <a:r>
              <a:rPr lang="fr-FR" dirty="0"/>
              <a:t> </a:t>
            </a:r>
            <a:endParaRPr lang="fr-FR" dirty="0" smtClean="0"/>
          </a:p>
          <a:p>
            <a:pPr marL="749808" lvl="1" indent="-457200">
              <a:lnSpc>
                <a:spcPct val="200000"/>
              </a:lnSpc>
              <a:buFont typeface="Wingdings" panose="05000000000000000000" pitchFamily="2" charset="2"/>
              <a:buChar char="Ø"/>
            </a:pPr>
            <a:endParaRPr lang="fr-FR" dirty="0"/>
          </a:p>
          <a:p>
            <a:pPr marL="457200" indent="-457200">
              <a:lnSpc>
                <a:spcPct val="200000"/>
              </a:lnSpc>
              <a:buFont typeface="Wingdings" panose="05000000000000000000" pitchFamily="2" charset="2"/>
              <a:buChar char="Ø"/>
            </a:pPr>
            <a:endParaRPr lang="fr-FR" dirty="0"/>
          </a:p>
        </p:txBody>
      </p:sp>
      <p:pic>
        <p:nvPicPr>
          <p:cNvPr id="4" name="Image 3"/>
          <p:cNvPicPr>
            <a:picLocks noChangeAspect="1"/>
          </p:cNvPicPr>
          <p:nvPr/>
        </p:nvPicPr>
        <p:blipFill>
          <a:blip r:embed="rId2"/>
          <a:stretch>
            <a:fillRect/>
          </a:stretch>
        </p:blipFill>
        <p:spPr>
          <a:xfrm>
            <a:off x="8042804" y="1964267"/>
            <a:ext cx="3112876" cy="914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3"/>
          <a:stretch>
            <a:fillRect/>
          </a:stretch>
        </p:blipFill>
        <p:spPr>
          <a:xfrm>
            <a:off x="6488641" y="4514320"/>
            <a:ext cx="4297892" cy="7180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Image 7"/>
          <p:cNvPicPr>
            <a:picLocks noChangeAspect="1"/>
          </p:cNvPicPr>
          <p:nvPr/>
        </p:nvPicPr>
        <p:blipFill>
          <a:blip r:embed="rId4"/>
          <a:stretch>
            <a:fillRect/>
          </a:stretch>
        </p:blipFill>
        <p:spPr>
          <a:xfrm>
            <a:off x="6488641" y="5500529"/>
            <a:ext cx="4297892" cy="5791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9949206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Utilisation des nouvelles fonctionnalités de Java</a:t>
            </a:r>
          </a:p>
        </p:txBody>
      </p:sp>
      <p:sp>
        <p:nvSpPr>
          <p:cNvPr id="3" name="Espace réservé du contenu 2"/>
          <p:cNvSpPr>
            <a:spLocks noGrp="1"/>
          </p:cNvSpPr>
          <p:nvPr>
            <p:ph idx="1"/>
          </p:nvPr>
        </p:nvSpPr>
        <p:spPr/>
        <p:txBody>
          <a:bodyPr>
            <a:normAutofit/>
          </a:bodyPr>
          <a:lstStyle/>
          <a:p>
            <a:pPr marL="457200" indent="-457200">
              <a:buFont typeface="+mj-lt"/>
              <a:buAutoNum type="arabicPeriod"/>
            </a:pPr>
            <a:r>
              <a:rPr lang="fr-FR" sz="2800" dirty="0"/>
              <a:t>Type inféré (Java 10+) </a:t>
            </a:r>
            <a:r>
              <a:rPr lang="fr-FR" sz="2800" dirty="0" smtClean="0"/>
              <a:t>:</a:t>
            </a:r>
          </a:p>
          <a:p>
            <a:pPr marL="932688" lvl="2" indent="-457200">
              <a:buFont typeface="Wingdings" panose="05000000000000000000" pitchFamily="2" charset="2"/>
              <a:buChar char="Ø"/>
            </a:pPr>
            <a:r>
              <a:rPr lang="fr-FR" sz="2800" dirty="0"/>
              <a:t>Testez l'inférence de type </a:t>
            </a:r>
            <a:r>
              <a:rPr lang="fr-FR" sz="2800" dirty="0" smtClean="0"/>
              <a:t>:</a:t>
            </a:r>
          </a:p>
          <a:p>
            <a:pPr marL="932688" lvl="2" indent="-457200">
              <a:buFont typeface="Wingdings" panose="05000000000000000000" pitchFamily="2" charset="2"/>
              <a:buChar char="Ø"/>
            </a:pPr>
            <a:endParaRPr lang="fr-FR" sz="2800" dirty="0"/>
          </a:p>
          <a:p>
            <a:pPr marL="932688" lvl="2" indent="-457200">
              <a:buFont typeface="Wingdings" panose="05000000000000000000" pitchFamily="2" charset="2"/>
              <a:buChar char="Ø"/>
            </a:pPr>
            <a:r>
              <a:rPr lang="fr-FR" sz="2800" dirty="0"/>
              <a:t>Affichez le type des variables </a:t>
            </a:r>
            <a:r>
              <a:rPr lang="fr-FR" sz="2800" dirty="0" smtClean="0"/>
              <a:t>:</a:t>
            </a:r>
          </a:p>
          <a:p>
            <a:pPr marL="932688" lvl="2" indent="-457200">
              <a:buFont typeface="Wingdings" panose="05000000000000000000" pitchFamily="2" charset="2"/>
              <a:buChar char="Ø"/>
            </a:pPr>
            <a:endParaRPr lang="fr-FR" sz="2800" dirty="0"/>
          </a:p>
          <a:p>
            <a:pPr marL="514350" indent="-514350">
              <a:buFont typeface="+mj-lt"/>
              <a:buAutoNum type="arabicPeriod"/>
            </a:pPr>
            <a:r>
              <a:rPr lang="fr-FR" sz="3600" dirty="0" err="1"/>
              <a:t>Streams</a:t>
            </a:r>
            <a:r>
              <a:rPr lang="fr-FR" sz="3600" dirty="0"/>
              <a:t> (Java 8+) </a:t>
            </a:r>
            <a:r>
              <a:rPr lang="fr-FR" sz="3600" dirty="0" smtClean="0"/>
              <a:t>:</a:t>
            </a:r>
          </a:p>
          <a:p>
            <a:pPr marL="806958" lvl="1" indent="-514350">
              <a:buFont typeface="Wingdings" panose="05000000000000000000" pitchFamily="2" charset="2"/>
              <a:buChar char="Ø"/>
            </a:pPr>
            <a:r>
              <a:rPr lang="fr-FR" sz="3200" dirty="0"/>
              <a:t>Manipulez des flux </a:t>
            </a:r>
            <a:r>
              <a:rPr lang="fr-FR" sz="3200" dirty="0" smtClean="0"/>
              <a:t>:</a:t>
            </a:r>
            <a:endParaRPr lang="fr-FR" sz="3200" dirty="0"/>
          </a:p>
        </p:txBody>
      </p:sp>
      <p:pic>
        <p:nvPicPr>
          <p:cNvPr id="5" name="Image 4"/>
          <p:cNvPicPr>
            <a:picLocks noChangeAspect="1"/>
          </p:cNvPicPr>
          <p:nvPr/>
        </p:nvPicPr>
        <p:blipFill>
          <a:blip r:embed="rId2"/>
          <a:stretch>
            <a:fillRect/>
          </a:stretch>
        </p:blipFill>
        <p:spPr>
          <a:xfrm>
            <a:off x="6961477" y="2264567"/>
            <a:ext cx="3520256" cy="6238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3"/>
          <a:stretch>
            <a:fillRect/>
          </a:stretch>
        </p:blipFill>
        <p:spPr>
          <a:xfrm>
            <a:off x="6961477" y="3307289"/>
            <a:ext cx="3520256" cy="7228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Image 7"/>
          <p:cNvPicPr>
            <a:picLocks noChangeAspect="1"/>
          </p:cNvPicPr>
          <p:nvPr/>
        </p:nvPicPr>
        <p:blipFill>
          <a:blip r:embed="rId4"/>
          <a:stretch>
            <a:fillRect/>
          </a:stretch>
        </p:blipFill>
        <p:spPr>
          <a:xfrm>
            <a:off x="5639329" y="4682913"/>
            <a:ext cx="4842404" cy="7865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87682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Sauvegarde et chargement de scripts</a:t>
            </a:r>
          </a:p>
        </p:txBody>
      </p:sp>
      <p:sp>
        <p:nvSpPr>
          <p:cNvPr id="3" name="Espace réservé du contenu 2"/>
          <p:cNvSpPr>
            <a:spLocks noGrp="1"/>
          </p:cNvSpPr>
          <p:nvPr>
            <p:ph idx="1"/>
          </p:nvPr>
        </p:nvSpPr>
        <p:spPr/>
        <p:txBody>
          <a:bodyPr>
            <a:normAutofit/>
          </a:bodyPr>
          <a:lstStyle/>
          <a:p>
            <a:pPr marL="457200" indent="-457200">
              <a:lnSpc>
                <a:spcPct val="150000"/>
              </a:lnSpc>
              <a:buFont typeface="+mj-lt"/>
              <a:buAutoNum type="arabicPeriod"/>
            </a:pPr>
            <a:r>
              <a:rPr lang="fr-FR" sz="2800" dirty="0"/>
              <a:t>Sauvegarder un script </a:t>
            </a:r>
            <a:r>
              <a:rPr lang="fr-FR" sz="2800" dirty="0" smtClean="0"/>
              <a:t>:</a:t>
            </a:r>
          </a:p>
          <a:p>
            <a:pPr marL="749808" lvl="1" indent="-457200">
              <a:lnSpc>
                <a:spcPct val="150000"/>
              </a:lnSpc>
              <a:buFont typeface="Wingdings" panose="05000000000000000000" pitchFamily="2" charset="2"/>
              <a:buChar char="Ø"/>
            </a:pPr>
            <a:r>
              <a:rPr lang="fr-FR" sz="2400" dirty="0"/>
              <a:t>Tapez </a:t>
            </a:r>
            <a:r>
              <a:rPr lang="fr-FR" sz="2400" b="1" dirty="0"/>
              <a:t>/</a:t>
            </a:r>
            <a:r>
              <a:rPr lang="fr-FR" sz="2400" b="1" dirty="0" err="1"/>
              <a:t>save</a:t>
            </a:r>
            <a:r>
              <a:rPr lang="fr-FR" sz="2400" b="1" dirty="0"/>
              <a:t> </a:t>
            </a:r>
            <a:r>
              <a:rPr lang="fr-FR" sz="2400" b="1" dirty="0" err="1"/>
              <a:t>mon_script.jsh</a:t>
            </a:r>
            <a:r>
              <a:rPr lang="fr-FR" sz="2400" b="1" dirty="0"/>
              <a:t> </a:t>
            </a:r>
            <a:r>
              <a:rPr lang="fr-FR" sz="2400" dirty="0"/>
              <a:t>pour sauvegarder les commandes actuelles</a:t>
            </a:r>
            <a:r>
              <a:rPr lang="fr-FR" sz="2400" dirty="0" smtClean="0"/>
              <a:t>.</a:t>
            </a:r>
          </a:p>
          <a:p>
            <a:pPr marL="457200" indent="-457200">
              <a:lnSpc>
                <a:spcPct val="150000"/>
              </a:lnSpc>
              <a:buFont typeface="+mj-lt"/>
              <a:buAutoNum type="arabicPeriod"/>
            </a:pPr>
            <a:r>
              <a:rPr lang="fr-FR" sz="2800" dirty="0"/>
              <a:t>Charger un script </a:t>
            </a:r>
            <a:r>
              <a:rPr lang="fr-FR" sz="2800" dirty="0" smtClean="0"/>
              <a:t>:</a:t>
            </a:r>
            <a:endParaRPr lang="fr-FR" sz="2800" dirty="0"/>
          </a:p>
          <a:p>
            <a:pPr marL="749808" lvl="1" indent="-457200">
              <a:lnSpc>
                <a:spcPct val="150000"/>
              </a:lnSpc>
              <a:buFont typeface="Wingdings" panose="05000000000000000000" pitchFamily="2" charset="2"/>
              <a:buChar char="Ø"/>
            </a:pPr>
            <a:r>
              <a:rPr lang="fr-FR" sz="2400" dirty="0"/>
              <a:t>Quittez </a:t>
            </a:r>
            <a:r>
              <a:rPr lang="fr-FR" sz="2400" b="1" dirty="0" err="1"/>
              <a:t>JShell</a:t>
            </a:r>
            <a:r>
              <a:rPr lang="fr-FR" sz="2400" b="1" dirty="0"/>
              <a:t> avec /exit</a:t>
            </a:r>
            <a:r>
              <a:rPr lang="fr-FR" sz="2400" dirty="0" smtClean="0"/>
              <a:t>.</a:t>
            </a:r>
          </a:p>
          <a:p>
            <a:pPr marL="749808" lvl="1" indent="-457200">
              <a:lnSpc>
                <a:spcPct val="150000"/>
              </a:lnSpc>
              <a:buFont typeface="Wingdings" panose="05000000000000000000" pitchFamily="2" charset="2"/>
              <a:buChar char="Ø"/>
            </a:pPr>
            <a:r>
              <a:rPr lang="fr-FR" sz="2400" dirty="0"/>
              <a:t>Relancez </a:t>
            </a:r>
            <a:r>
              <a:rPr lang="fr-FR" sz="2400" b="1" dirty="0" err="1"/>
              <a:t>JShell</a:t>
            </a:r>
            <a:r>
              <a:rPr lang="fr-FR" sz="2400" b="1" dirty="0"/>
              <a:t> et tapez /open </a:t>
            </a:r>
            <a:r>
              <a:rPr lang="fr-FR" sz="2400" b="1" dirty="0" err="1"/>
              <a:t>mon_script.jsh</a:t>
            </a:r>
            <a:r>
              <a:rPr lang="fr-FR" sz="2400" dirty="0"/>
              <a:t>.</a:t>
            </a:r>
          </a:p>
        </p:txBody>
      </p:sp>
    </p:spTree>
    <p:extLst>
      <p:ext uri="{BB962C8B-B14F-4D97-AF65-F5344CB8AC3E}">
        <p14:creationId xmlns:p14="http://schemas.microsoft.com/office/powerpoint/2010/main" val="38099045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Test des fonctions</a:t>
            </a:r>
            <a:endParaRPr lang="fr-FR" b="1" dirty="0"/>
          </a:p>
        </p:txBody>
      </p:sp>
      <p:sp>
        <p:nvSpPr>
          <p:cNvPr id="3" name="Espace réservé du contenu 2"/>
          <p:cNvSpPr>
            <a:spLocks noGrp="1"/>
          </p:cNvSpPr>
          <p:nvPr>
            <p:ph idx="1"/>
          </p:nvPr>
        </p:nvSpPr>
        <p:spPr/>
        <p:txBody>
          <a:bodyPr/>
          <a:lstStyle/>
          <a:p>
            <a:pPr marL="457200" indent="-457200">
              <a:buFont typeface="+mj-lt"/>
              <a:buAutoNum type="arabicPeriod"/>
            </a:pPr>
            <a:r>
              <a:rPr lang="fr-FR" dirty="0"/>
              <a:t>Créer une méthode pour vérifier si un nombre est pair ou impair </a:t>
            </a:r>
            <a:r>
              <a:rPr lang="fr-FR" dirty="0" smtClean="0"/>
              <a:t>:</a:t>
            </a:r>
          </a:p>
          <a:p>
            <a:pPr marL="457200" indent="-457200">
              <a:buFont typeface="+mj-lt"/>
              <a:buAutoNum type="arabicPeriod"/>
            </a:pPr>
            <a:endParaRPr lang="fr-FR" dirty="0"/>
          </a:p>
          <a:p>
            <a:pPr marL="457200" indent="-457200">
              <a:buFont typeface="+mj-lt"/>
              <a:buAutoNum type="arabicPeriod"/>
            </a:pPr>
            <a:endParaRPr lang="fr-FR" dirty="0" smtClean="0"/>
          </a:p>
          <a:p>
            <a:pPr marL="457200" indent="-457200">
              <a:buFont typeface="+mj-lt"/>
              <a:buAutoNum type="arabicPeriod"/>
            </a:pPr>
            <a:r>
              <a:rPr lang="fr-FR" dirty="0"/>
              <a:t>Écrire une méthode pour calculer la factorielle d’un nombre </a:t>
            </a:r>
            <a:r>
              <a:rPr lang="fr-FR" dirty="0" smtClean="0"/>
              <a:t>:</a:t>
            </a:r>
          </a:p>
          <a:p>
            <a:pPr marL="457200" indent="-457200">
              <a:buFont typeface="+mj-lt"/>
              <a:buAutoNum type="arabicPeriod"/>
            </a:pPr>
            <a:endParaRPr lang="fr-FR" dirty="0"/>
          </a:p>
          <a:p>
            <a:pPr marL="457200" indent="-457200">
              <a:buFont typeface="+mj-lt"/>
              <a:buAutoNum type="arabicPeriod"/>
            </a:pPr>
            <a:endParaRPr lang="fr-FR" dirty="0" smtClean="0"/>
          </a:p>
          <a:p>
            <a:pPr marL="457200" indent="-457200">
              <a:buFont typeface="+mj-lt"/>
              <a:buAutoNum type="arabicPeriod"/>
            </a:pPr>
            <a:endParaRPr lang="fr-FR" dirty="0"/>
          </a:p>
          <a:p>
            <a:pPr marL="457200" indent="-457200">
              <a:buFont typeface="+mj-lt"/>
              <a:buAutoNum type="arabicPeriod"/>
            </a:pPr>
            <a:r>
              <a:rPr lang="fr-FR" dirty="0" smtClean="0"/>
              <a:t>Tester les fonctions</a:t>
            </a:r>
            <a:endParaRPr lang="fr-FR" dirty="0"/>
          </a:p>
        </p:txBody>
      </p:sp>
      <p:pic>
        <p:nvPicPr>
          <p:cNvPr id="5" name="Image 4"/>
          <p:cNvPicPr>
            <a:picLocks noChangeAspect="1"/>
          </p:cNvPicPr>
          <p:nvPr/>
        </p:nvPicPr>
        <p:blipFill>
          <a:blip r:embed="rId3"/>
          <a:stretch>
            <a:fillRect/>
          </a:stretch>
        </p:blipFill>
        <p:spPr>
          <a:xfrm>
            <a:off x="8589431" y="1955800"/>
            <a:ext cx="2823635" cy="8477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4"/>
          <a:stretch>
            <a:fillRect/>
          </a:stretch>
        </p:blipFill>
        <p:spPr>
          <a:xfrm>
            <a:off x="7213600" y="3696756"/>
            <a:ext cx="4199466" cy="11292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3476926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L’API </a:t>
            </a:r>
            <a:r>
              <a:rPr lang="fr-FR" b="1" dirty="0" err="1"/>
              <a:t>Optional</a:t>
            </a:r>
            <a:r>
              <a:rPr lang="fr-FR" b="1" dirty="0"/>
              <a:t> (JDK 9 et plus)</a:t>
            </a:r>
            <a:endParaRPr lang="fr-FR"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L’API </a:t>
            </a:r>
            <a:r>
              <a:rPr lang="fr-FR" sz="3200" b="1" dirty="0" err="1"/>
              <a:t>Optional</a:t>
            </a:r>
            <a:r>
              <a:rPr lang="fr-FR" sz="3200" dirty="0"/>
              <a:t> en Java, introduite à l'origine dans JDK 8, a été enrichie dans JDK 9 et plus avec de nouvelles méthodes qui facilitent son utilisation et offrent davantage de flexibilité pour traiter les valeurs potentiellement nulles ou absentes.</a:t>
            </a:r>
          </a:p>
        </p:txBody>
      </p:sp>
    </p:spTree>
    <p:extLst>
      <p:ext uri="{BB962C8B-B14F-4D97-AF65-F5344CB8AC3E}">
        <p14:creationId xmlns:p14="http://schemas.microsoft.com/office/powerpoint/2010/main" val="70565956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Rôle de </a:t>
            </a:r>
            <a:r>
              <a:rPr lang="fr-FR" b="1" dirty="0" err="1">
                <a:solidFill>
                  <a:srgbClr val="FF0000"/>
                </a:solidFill>
              </a:rPr>
              <a:t>Optional</a:t>
            </a:r>
            <a:r>
              <a:rPr lang="fr-FR" b="1" dirty="0"/>
              <a:t> en Java</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a:t>
            </a:r>
            <a:r>
              <a:rPr lang="fr-FR" sz="3200" b="1" dirty="0" err="1"/>
              <a:t>Optional</a:t>
            </a:r>
            <a:r>
              <a:rPr lang="fr-FR" sz="3200" dirty="0"/>
              <a:t> est une classe conteneur utilisée pour représenter une valeur qui peut être présente ou absente (pour éviter les </a:t>
            </a:r>
            <a:r>
              <a:rPr lang="fr-FR" sz="3200" b="1" dirty="0" err="1"/>
              <a:t>null</a:t>
            </a:r>
            <a:r>
              <a:rPr lang="fr-FR" sz="3200" dirty="0"/>
              <a:t> et les erreurs associées, comme le fameux </a:t>
            </a:r>
            <a:r>
              <a:rPr lang="fr-FR" sz="3200" b="1" dirty="0" err="1"/>
              <a:t>NullPointerException</a:t>
            </a:r>
            <a:r>
              <a:rPr lang="fr-FR" sz="3200" dirty="0"/>
              <a:t>).</a:t>
            </a:r>
          </a:p>
        </p:txBody>
      </p:sp>
    </p:spTree>
    <p:extLst>
      <p:ext uri="{BB962C8B-B14F-4D97-AF65-F5344CB8AC3E}">
        <p14:creationId xmlns:p14="http://schemas.microsoft.com/office/powerpoint/2010/main" val="76841536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Objectifs principaux</a:t>
            </a:r>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3600" dirty="0" smtClean="0"/>
              <a:t> </a:t>
            </a:r>
            <a:r>
              <a:rPr lang="fr-FR" sz="3600" b="1" dirty="0"/>
              <a:t>Réduction des </a:t>
            </a:r>
            <a:r>
              <a:rPr lang="fr-FR" sz="3600" b="1" dirty="0" err="1"/>
              <a:t>null</a:t>
            </a:r>
            <a:r>
              <a:rPr lang="fr-FR" sz="3600" dirty="0"/>
              <a:t> </a:t>
            </a:r>
            <a:endParaRPr lang="fr-FR" sz="3600" dirty="0" smtClean="0"/>
          </a:p>
          <a:p>
            <a:pPr>
              <a:lnSpc>
                <a:spcPct val="150000"/>
              </a:lnSpc>
              <a:buFont typeface="Wingdings" panose="05000000000000000000" pitchFamily="2" charset="2"/>
              <a:buChar char="Ø"/>
            </a:pPr>
            <a:r>
              <a:rPr lang="fr-FR" sz="3600" dirty="0"/>
              <a:t> Gestion sécurisée des valeurs </a:t>
            </a:r>
            <a:r>
              <a:rPr lang="fr-FR" sz="3600" dirty="0" smtClean="0"/>
              <a:t>manquantes</a:t>
            </a:r>
          </a:p>
          <a:p>
            <a:pPr>
              <a:lnSpc>
                <a:spcPct val="150000"/>
              </a:lnSpc>
              <a:buFont typeface="Wingdings" panose="05000000000000000000" pitchFamily="2" charset="2"/>
              <a:buChar char="Ø"/>
            </a:pPr>
            <a:r>
              <a:rPr lang="fr-FR" sz="3600" dirty="0"/>
              <a:t> Code plus lisible et déclaratif</a:t>
            </a:r>
          </a:p>
        </p:txBody>
      </p:sp>
    </p:spTree>
    <p:extLst>
      <p:ext uri="{BB962C8B-B14F-4D97-AF65-F5344CB8AC3E}">
        <p14:creationId xmlns:p14="http://schemas.microsoft.com/office/powerpoint/2010/main" val="836156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Réduction des </a:t>
            </a:r>
            <a:r>
              <a:rPr lang="fr-FR" b="1" dirty="0" err="1"/>
              <a:t>null</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Fournit une alternative pour signaler l’absence d’une valeur sans utiliser </a:t>
            </a:r>
            <a:r>
              <a:rPr lang="fr-FR" sz="3200" dirty="0" err="1"/>
              <a:t>null</a:t>
            </a:r>
            <a:r>
              <a:rPr lang="fr-FR" sz="3200" dirty="0" smtClean="0"/>
              <a:t>.</a:t>
            </a:r>
          </a:p>
          <a:p>
            <a:pPr algn="just">
              <a:lnSpc>
                <a:spcPct val="150000"/>
              </a:lnSpc>
              <a:buFont typeface="Wingdings" panose="05000000000000000000" pitchFamily="2" charset="2"/>
              <a:buChar char="Ø"/>
            </a:pPr>
            <a:r>
              <a:rPr lang="fr-FR" sz="3200" dirty="0"/>
              <a:t> </a:t>
            </a:r>
            <a:r>
              <a:rPr lang="fr-FR" sz="3200" dirty="0" smtClean="0"/>
              <a:t>Encourage </a:t>
            </a:r>
            <a:r>
              <a:rPr lang="fr-FR" sz="3200" dirty="0"/>
              <a:t>l'utilisation explicite des cas où une valeur peut être absente.</a:t>
            </a:r>
          </a:p>
        </p:txBody>
      </p:sp>
    </p:spTree>
    <p:extLst>
      <p:ext uri="{BB962C8B-B14F-4D97-AF65-F5344CB8AC3E}">
        <p14:creationId xmlns:p14="http://schemas.microsoft.com/office/powerpoint/2010/main" val="1964480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t>Gestion sécurisée des valeurs manquantes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Facilite les vérifications et le traitement des cas où une valeur est absente</a:t>
            </a:r>
            <a:r>
              <a:rPr lang="fr-FR" sz="3200" dirty="0" smtClean="0"/>
              <a:t>.</a:t>
            </a:r>
          </a:p>
          <a:p>
            <a:pPr algn="just">
              <a:lnSpc>
                <a:spcPct val="150000"/>
              </a:lnSpc>
              <a:buFont typeface="Wingdings" panose="05000000000000000000" pitchFamily="2" charset="2"/>
              <a:buChar char="Ø"/>
            </a:pPr>
            <a:r>
              <a:rPr lang="fr-FR" sz="3200" dirty="0"/>
              <a:t> </a:t>
            </a:r>
            <a:r>
              <a:rPr lang="fr-FR" sz="3200" dirty="0" smtClean="0"/>
              <a:t>Favorise </a:t>
            </a:r>
            <a:r>
              <a:rPr lang="fr-FR" sz="3200" dirty="0"/>
              <a:t>une programmation plus lisible et moins sujette aux erreurs.</a:t>
            </a:r>
          </a:p>
        </p:txBody>
      </p:sp>
    </p:spTree>
    <p:extLst>
      <p:ext uri="{BB962C8B-B14F-4D97-AF65-F5344CB8AC3E}">
        <p14:creationId xmlns:p14="http://schemas.microsoft.com/office/powerpoint/2010/main" val="3516721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Code plus lisible et déclaratif</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Permet d’exprimer clairement les intentions (valeur présente ou non) via des API fluides comme </a:t>
            </a:r>
            <a:r>
              <a:rPr lang="fr-FR" sz="3600" b="1" dirty="0" err="1"/>
              <a:t>ifPresent</a:t>
            </a:r>
            <a:r>
              <a:rPr lang="fr-FR" sz="3600" dirty="0"/>
              <a:t>, </a:t>
            </a:r>
            <a:r>
              <a:rPr lang="fr-FR" sz="3600" b="1" dirty="0" err="1"/>
              <a:t>orElse</a:t>
            </a:r>
            <a:r>
              <a:rPr lang="fr-FR" sz="3600" dirty="0"/>
              <a:t>, etc.</a:t>
            </a:r>
          </a:p>
        </p:txBody>
      </p:sp>
    </p:spTree>
    <p:extLst>
      <p:ext uri="{BB962C8B-B14F-4D97-AF65-F5344CB8AC3E}">
        <p14:creationId xmlns:p14="http://schemas.microsoft.com/office/powerpoint/2010/main" val="137248473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Nouveautés de l’API </a:t>
            </a:r>
            <a:r>
              <a:rPr lang="fr-FR" b="1" dirty="0" err="1"/>
              <a:t>Optional</a:t>
            </a:r>
            <a:r>
              <a:rPr lang="fr-FR" b="1" dirty="0"/>
              <a:t> dans JDK 9</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Java 9 a introduit plusieurs nouvelles méthodes pour améliorer la manipulation des instances de </a:t>
            </a:r>
            <a:r>
              <a:rPr lang="fr-FR" sz="2800" b="1" dirty="0" err="1"/>
              <a:t>Optional</a:t>
            </a:r>
            <a:r>
              <a:rPr lang="fr-FR" sz="2800" dirty="0"/>
              <a:t>. </a:t>
            </a:r>
            <a:r>
              <a:rPr lang="fr-FR" sz="2800" dirty="0" smtClean="0"/>
              <a:t>Voici </a:t>
            </a:r>
            <a:r>
              <a:rPr lang="fr-FR" sz="2800" dirty="0"/>
              <a:t>les principales </a:t>
            </a:r>
            <a:r>
              <a:rPr lang="fr-FR" sz="2800" dirty="0" smtClean="0"/>
              <a:t>:</a:t>
            </a:r>
          </a:p>
          <a:p>
            <a:pPr lvl="1" algn="just">
              <a:lnSpc>
                <a:spcPct val="150000"/>
              </a:lnSpc>
              <a:buFont typeface="Wingdings" panose="05000000000000000000" pitchFamily="2" charset="2"/>
              <a:buChar char="Ø"/>
            </a:pPr>
            <a:r>
              <a:rPr lang="fr-FR" sz="2400" dirty="0"/>
              <a:t> </a:t>
            </a:r>
            <a:r>
              <a:rPr lang="fr-FR" sz="2400" b="1" dirty="0" err="1" smtClean="0"/>
              <a:t>ifPresentOrElse</a:t>
            </a:r>
            <a:endParaRPr lang="fr-FR" sz="2400" b="1" dirty="0" smtClean="0"/>
          </a:p>
          <a:p>
            <a:pPr lvl="1" algn="just">
              <a:lnSpc>
                <a:spcPct val="150000"/>
              </a:lnSpc>
              <a:buFont typeface="Wingdings" panose="05000000000000000000" pitchFamily="2" charset="2"/>
              <a:buChar char="Ø"/>
            </a:pPr>
            <a:r>
              <a:rPr lang="fr-FR" sz="2400" b="1" dirty="0"/>
              <a:t> </a:t>
            </a:r>
            <a:r>
              <a:rPr lang="fr-FR" sz="2400" b="1" dirty="0" smtClean="0"/>
              <a:t>or</a:t>
            </a:r>
          </a:p>
          <a:p>
            <a:pPr lvl="1" algn="just">
              <a:lnSpc>
                <a:spcPct val="150000"/>
              </a:lnSpc>
              <a:buFont typeface="Wingdings" panose="05000000000000000000" pitchFamily="2" charset="2"/>
              <a:buChar char="Ø"/>
            </a:pPr>
            <a:r>
              <a:rPr lang="fr-FR" sz="2400" b="1" dirty="0"/>
              <a:t> </a:t>
            </a:r>
            <a:r>
              <a:rPr lang="fr-FR" sz="2400" b="1" dirty="0" err="1" smtClean="0"/>
              <a:t>stream</a:t>
            </a:r>
            <a:endParaRPr lang="fr-FR" sz="2400" b="1" dirty="0" smtClean="0"/>
          </a:p>
          <a:p>
            <a:pPr lvl="1" algn="just">
              <a:lnSpc>
                <a:spcPct val="150000"/>
              </a:lnSpc>
              <a:buFont typeface="Wingdings" panose="05000000000000000000" pitchFamily="2" charset="2"/>
              <a:buChar char="Ø"/>
            </a:pPr>
            <a:r>
              <a:rPr lang="fr-FR" sz="2400" b="1" dirty="0"/>
              <a:t> </a:t>
            </a:r>
            <a:r>
              <a:rPr lang="fr-FR" sz="2400" b="1" dirty="0" err="1"/>
              <a:t>orElseThrow</a:t>
            </a:r>
            <a:r>
              <a:rPr lang="fr-FR" sz="2400" b="1" dirty="0"/>
              <a:t> (amélioré)</a:t>
            </a:r>
          </a:p>
        </p:txBody>
      </p:sp>
    </p:spTree>
    <p:extLst>
      <p:ext uri="{BB962C8B-B14F-4D97-AF65-F5344CB8AC3E}">
        <p14:creationId xmlns:p14="http://schemas.microsoft.com/office/powerpoint/2010/main" val="114243188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lvl="1" algn="ctr" rtl="0">
              <a:lnSpc>
                <a:spcPct val="85000"/>
              </a:lnSpc>
              <a:spcBef>
                <a:spcPct val="0"/>
              </a:spcBef>
            </a:pPr>
            <a:r>
              <a:rPr lang="fr-FR" sz="4000" b="1" dirty="0" err="1" smtClean="0"/>
              <a:t>ifPresentOrElse</a:t>
            </a:r>
            <a:endParaRPr lang="fr-FR" sz="4000" b="1" dirty="0"/>
          </a:p>
        </p:txBody>
      </p:sp>
      <p:sp>
        <p:nvSpPr>
          <p:cNvPr id="3" name="Espace réservé du contenu 2"/>
          <p:cNvSpPr>
            <a:spLocks noGrp="1"/>
          </p:cNvSpPr>
          <p:nvPr>
            <p:ph idx="1"/>
          </p:nvPr>
        </p:nvSpPr>
        <p:spPr/>
        <p:txBody>
          <a:bodyPr>
            <a:noAutofit/>
          </a:bodyPr>
          <a:lstStyle/>
          <a:p>
            <a:pPr algn="just">
              <a:buFont typeface="Wingdings" panose="05000000000000000000" pitchFamily="2" charset="2"/>
              <a:buChar char="Ø"/>
            </a:pPr>
            <a:r>
              <a:rPr lang="fr-FR" sz="2800" dirty="0"/>
              <a:t> Permet de spécifier une action à exécuter si une valeur est présente, et une autre action si elle est absente</a:t>
            </a:r>
            <a:r>
              <a:rPr lang="fr-FR" sz="2800" dirty="0" smtClean="0"/>
              <a:t>.</a:t>
            </a:r>
          </a:p>
          <a:p>
            <a:pPr algn="just">
              <a:buFont typeface="Wingdings" panose="05000000000000000000" pitchFamily="2" charset="2"/>
              <a:buChar char="Ø"/>
            </a:pPr>
            <a:r>
              <a:rPr lang="fr-FR" sz="2800" dirty="0"/>
              <a:t> </a:t>
            </a:r>
            <a:r>
              <a:rPr lang="fr-FR" sz="2800" dirty="0" smtClean="0"/>
              <a:t>Exemple :</a:t>
            </a:r>
          </a:p>
          <a:p>
            <a:pPr algn="just">
              <a:buFont typeface="Wingdings" panose="05000000000000000000" pitchFamily="2" charset="2"/>
              <a:buChar char="Ø"/>
            </a:pPr>
            <a:endParaRPr lang="fr-FR" sz="2800" dirty="0"/>
          </a:p>
          <a:p>
            <a:pPr algn="just">
              <a:buFont typeface="Wingdings" panose="05000000000000000000" pitchFamily="2" charset="2"/>
              <a:buChar char="Ø"/>
            </a:pPr>
            <a:endParaRPr lang="fr-FR" sz="2800" dirty="0" smtClean="0"/>
          </a:p>
          <a:p>
            <a:pPr algn="just">
              <a:buFont typeface="Wingdings" panose="05000000000000000000" pitchFamily="2" charset="2"/>
              <a:buChar char="Ø"/>
            </a:pPr>
            <a:endParaRPr lang="fr-FR" sz="2800" dirty="0"/>
          </a:p>
          <a:p>
            <a:pPr algn="just">
              <a:buFont typeface="Wingdings" panose="05000000000000000000" pitchFamily="2" charset="2"/>
              <a:buChar char="Ø"/>
            </a:pPr>
            <a:endParaRPr lang="fr-FR" sz="2800" dirty="0" smtClean="0"/>
          </a:p>
          <a:p>
            <a:pPr algn="just">
              <a:buFont typeface="Wingdings" panose="05000000000000000000" pitchFamily="2" charset="2"/>
              <a:buChar char="Ø"/>
            </a:pPr>
            <a:r>
              <a:rPr lang="fr-FR" sz="2800" dirty="0"/>
              <a:t> Sortie :</a:t>
            </a:r>
          </a:p>
        </p:txBody>
      </p:sp>
      <p:pic>
        <p:nvPicPr>
          <p:cNvPr id="4" name="Image 3"/>
          <p:cNvPicPr>
            <a:picLocks noChangeAspect="1"/>
          </p:cNvPicPr>
          <p:nvPr/>
        </p:nvPicPr>
        <p:blipFill>
          <a:blip r:embed="rId2"/>
          <a:stretch>
            <a:fillRect/>
          </a:stretch>
        </p:blipFill>
        <p:spPr>
          <a:xfrm>
            <a:off x="3719553" y="2952060"/>
            <a:ext cx="6162887" cy="13917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 4"/>
          <p:cNvPicPr>
            <a:picLocks noChangeAspect="1"/>
          </p:cNvPicPr>
          <p:nvPr/>
        </p:nvPicPr>
        <p:blipFill>
          <a:blip r:embed="rId3"/>
          <a:stretch>
            <a:fillRect/>
          </a:stretch>
        </p:blipFill>
        <p:spPr>
          <a:xfrm>
            <a:off x="5435962" y="5495782"/>
            <a:ext cx="2730067" cy="5002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9199959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8800" b="1" dirty="0"/>
              <a:t>or</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Retourne un autre </a:t>
            </a:r>
            <a:r>
              <a:rPr lang="fr-FR" sz="2800" b="1" dirty="0" err="1"/>
              <a:t>Optional</a:t>
            </a:r>
            <a:r>
              <a:rPr lang="fr-FR" sz="2800" dirty="0"/>
              <a:t> si celui-ci est vide (permet d'enchaîner des alternatives</a:t>
            </a:r>
            <a:r>
              <a:rPr lang="fr-FR" sz="2800" dirty="0" smtClean="0"/>
              <a:t>).</a:t>
            </a:r>
          </a:p>
          <a:p>
            <a:pPr algn="just">
              <a:lnSpc>
                <a:spcPct val="150000"/>
              </a:lnSpc>
              <a:buFont typeface="Wingdings" panose="05000000000000000000" pitchFamily="2" charset="2"/>
              <a:buChar char="Ø"/>
            </a:pPr>
            <a:r>
              <a:rPr lang="fr-FR" sz="2800" dirty="0"/>
              <a:t> </a:t>
            </a:r>
            <a:r>
              <a:rPr lang="fr-FR" sz="2800" dirty="0" smtClean="0"/>
              <a:t>Exemple :</a:t>
            </a:r>
            <a:endParaRPr lang="fr-FR" sz="2800" dirty="0"/>
          </a:p>
        </p:txBody>
      </p:sp>
      <p:pic>
        <p:nvPicPr>
          <p:cNvPr id="4" name="Image 3"/>
          <p:cNvPicPr>
            <a:picLocks noChangeAspect="1"/>
          </p:cNvPicPr>
          <p:nvPr/>
        </p:nvPicPr>
        <p:blipFill>
          <a:blip r:embed="rId2"/>
          <a:stretch>
            <a:fillRect/>
          </a:stretch>
        </p:blipFill>
        <p:spPr>
          <a:xfrm>
            <a:off x="3124567" y="3572934"/>
            <a:ext cx="8396171" cy="22961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4915796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stream</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Convertit un </a:t>
            </a:r>
            <a:r>
              <a:rPr lang="fr-FR" sz="2800" b="1" dirty="0" err="1"/>
              <a:t>Optional</a:t>
            </a:r>
            <a:r>
              <a:rPr lang="fr-FR" sz="2800" dirty="0"/>
              <a:t> en un Stream. Si une valeur est présente, elle sera le seul élément du </a:t>
            </a:r>
            <a:r>
              <a:rPr lang="fr-FR" sz="2800" b="1" dirty="0" err="1"/>
              <a:t>stream</a:t>
            </a:r>
            <a:r>
              <a:rPr lang="fr-FR" sz="2800" dirty="0"/>
              <a:t> ; sinon, le </a:t>
            </a:r>
            <a:r>
              <a:rPr lang="fr-FR" sz="2800" b="1" dirty="0" err="1"/>
              <a:t>stream</a:t>
            </a:r>
            <a:r>
              <a:rPr lang="fr-FR" sz="2800" dirty="0"/>
              <a:t> sera vide</a:t>
            </a:r>
            <a:r>
              <a:rPr lang="fr-FR" sz="2800" dirty="0" smtClean="0"/>
              <a:t>.</a:t>
            </a:r>
          </a:p>
          <a:p>
            <a:pPr algn="just">
              <a:lnSpc>
                <a:spcPct val="150000"/>
              </a:lnSpc>
              <a:buFont typeface="Wingdings" panose="05000000000000000000" pitchFamily="2" charset="2"/>
              <a:buChar char="Ø"/>
            </a:pPr>
            <a:r>
              <a:rPr lang="fr-FR" sz="2800" dirty="0"/>
              <a:t> </a:t>
            </a:r>
            <a:r>
              <a:rPr lang="fr-FR" sz="2800" dirty="0" smtClean="0"/>
              <a:t>Très </a:t>
            </a:r>
            <a:r>
              <a:rPr lang="fr-FR" sz="2800" dirty="0"/>
              <a:t>utile pour combiner </a:t>
            </a:r>
            <a:r>
              <a:rPr lang="fr-FR" sz="2800" b="1" dirty="0" err="1"/>
              <a:t>Optional</a:t>
            </a:r>
            <a:r>
              <a:rPr lang="fr-FR" sz="2800" dirty="0"/>
              <a:t> avec les flux de données (Stream API</a:t>
            </a:r>
            <a:r>
              <a:rPr lang="fr-FR" sz="2800" dirty="0" smtClean="0"/>
              <a:t>).</a:t>
            </a:r>
          </a:p>
          <a:p>
            <a:pPr algn="just">
              <a:lnSpc>
                <a:spcPct val="150000"/>
              </a:lnSpc>
              <a:buFont typeface="Wingdings" panose="05000000000000000000" pitchFamily="2" charset="2"/>
              <a:buChar char="Ø"/>
            </a:pPr>
            <a:r>
              <a:rPr lang="fr-FR" sz="2800" dirty="0"/>
              <a:t> </a:t>
            </a:r>
            <a:r>
              <a:rPr lang="fr-FR" sz="2800" dirty="0" smtClean="0"/>
              <a:t>Exemple :</a:t>
            </a:r>
            <a:endParaRPr lang="fr-FR" sz="2800" dirty="0"/>
          </a:p>
        </p:txBody>
      </p:sp>
      <p:pic>
        <p:nvPicPr>
          <p:cNvPr id="4" name="Image 3"/>
          <p:cNvPicPr>
            <a:picLocks noChangeAspect="1"/>
          </p:cNvPicPr>
          <p:nvPr/>
        </p:nvPicPr>
        <p:blipFill>
          <a:blip r:embed="rId2"/>
          <a:stretch>
            <a:fillRect/>
          </a:stretch>
        </p:blipFill>
        <p:spPr>
          <a:xfrm>
            <a:off x="3066222" y="4553056"/>
            <a:ext cx="6972300" cy="13160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0547974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lvl="1" algn="ctr" rtl="0">
              <a:lnSpc>
                <a:spcPct val="85000"/>
              </a:lnSpc>
              <a:spcBef>
                <a:spcPct val="0"/>
              </a:spcBef>
            </a:pPr>
            <a:r>
              <a:rPr lang="fr-FR" sz="4000" b="1" dirty="0" err="1" smtClean="0"/>
              <a:t>orElseThrow</a:t>
            </a:r>
            <a:r>
              <a:rPr lang="fr-FR" sz="4000" b="1" dirty="0" smtClean="0"/>
              <a:t> (amélioré)</a:t>
            </a:r>
            <a:endParaRPr lang="fr-FR" sz="4000"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JDK 9 a introduit une surcharge de </a:t>
            </a:r>
            <a:r>
              <a:rPr lang="fr-FR" sz="2800" dirty="0" err="1"/>
              <a:t>orElseThrow</a:t>
            </a:r>
            <a:r>
              <a:rPr lang="fr-FR" sz="2800" dirty="0"/>
              <a:t> qui accepte un Supplier pour fournir une exception personnalisée si aucune valeur n'est présente</a:t>
            </a:r>
            <a:r>
              <a:rPr lang="fr-FR" sz="2800" dirty="0" smtClean="0"/>
              <a:t>.</a:t>
            </a:r>
          </a:p>
          <a:p>
            <a:pPr algn="just">
              <a:lnSpc>
                <a:spcPct val="150000"/>
              </a:lnSpc>
              <a:buFont typeface="Wingdings" panose="05000000000000000000" pitchFamily="2" charset="2"/>
              <a:buChar char="Ø"/>
            </a:pPr>
            <a:r>
              <a:rPr lang="fr-FR" sz="2800" dirty="0"/>
              <a:t> </a:t>
            </a:r>
            <a:r>
              <a:rPr lang="fr-FR" sz="2800" dirty="0" smtClean="0"/>
              <a:t>Exemple :</a:t>
            </a:r>
            <a:endParaRPr lang="fr-FR" sz="2800" dirty="0"/>
          </a:p>
        </p:txBody>
      </p:sp>
      <p:pic>
        <p:nvPicPr>
          <p:cNvPr id="4" name="Image 3"/>
          <p:cNvPicPr>
            <a:picLocks noChangeAspect="1"/>
          </p:cNvPicPr>
          <p:nvPr/>
        </p:nvPicPr>
        <p:blipFill>
          <a:blip r:embed="rId2"/>
          <a:stretch>
            <a:fillRect/>
          </a:stretch>
        </p:blipFill>
        <p:spPr>
          <a:xfrm>
            <a:off x="2959652" y="4160146"/>
            <a:ext cx="9059333" cy="15213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0804915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Avantages des améliorations dans JDK 9</a:t>
            </a:r>
            <a:r>
              <a:rPr lang="fr-FR" b="1" dirty="0" smtClean="0"/>
              <a:t>+</a:t>
            </a:r>
            <a:endParaRPr lang="fr-FR"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a:t> Code plus concis et </a:t>
            </a:r>
            <a:r>
              <a:rPr lang="fr-FR" sz="3600" dirty="0" smtClean="0"/>
              <a:t>expressif</a:t>
            </a:r>
          </a:p>
          <a:p>
            <a:pPr algn="just">
              <a:lnSpc>
                <a:spcPct val="150000"/>
              </a:lnSpc>
              <a:buFont typeface="Wingdings" panose="05000000000000000000" pitchFamily="2" charset="2"/>
              <a:buChar char="Ø"/>
            </a:pPr>
            <a:r>
              <a:rPr lang="fr-FR" sz="3600" dirty="0"/>
              <a:t> Meilleure intégration avec les API </a:t>
            </a:r>
            <a:r>
              <a:rPr lang="fr-FR" sz="3600" dirty="0" smtClean="0"/>
              <a:t>fonctionnelles</a:t>
            </a:r>
          </a:p>
          <a:p>
            <a:pPr algn="just">
              <a:lnSpc>
                <a:spcPct val="150000"/>
              </a:lnSpc>
              <a:buFont typeface="Wingdings" panose="05000000000000000000" pitchFamily="2" charset="2"/>
              <a:buChar char="Ø"/>
            </a:pPr>
            <a:r>
              <a:rPr lang="fr-FR" sz="3600" dirty="0"/>
              <a:t> Gestion explicite des cas </a:t>
            </a:r>
            <a:r>
              <a:rPr lang="fr-FR" sz="3600" dirty="0" smtClean="0"/>
              <a:t>absents</a:t>
            </a:r>
          </a:p>
          <a:p>
            <a:pPr algn="just">
              <a:lnSpc>
                <a:spcPct val="150000"/>
              </a:lnSpc>
              <a:buFont typeface="Wingdings" panose="05000000000000000000" pitchFamily="2" charset="2"/>
              <a:buChar char="Ø"/>
            </a:pPr>
            <a:r>
              <a:rPr lang="fr-FR" sz="3600" dirty="0"/>
              <a:t> Réduction des erreurs</a:t>
            </a:r>
          </a:p>
        </p:txBody>
      </p:sp>
    </p:spTree>
    <p:extLst>
      <p:ext uri="{BB962C8B-B14F-4D97-AF65-F5344CB8AC3E}">
        <p14:creationId xmlns:p14="http://schemas.microsoft.com/office/powerpoint/2010/main" val="103511345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Code plus concis et expressif</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Des méthodes comme </a:t>
            </a:r>
            <a:r>
              <a:rPr lang="fr-FR" sz="3200" b="1" dirty="0" err="1"/>
              <a:t>ifPresentOrElse</a:t>
            </a:r>
            <a:r>
              <a:rPr lang="fr-FR" sz="3200" dirty="0"/>
              <a:t> ou </a:t>
            </a:r>
            <a:r>
              <a:rPr lang="fr-FR" sz="3200" b="1" dirty="0" err="1"/>
              <a:t>stream</a:t>
            </a:r>
            <a:r>
              <a:rPr lang="fr-FR" sz="3200" dirty="0"/>
              <a:t> simplifient les opérations conditionnelles et la manipulation des données dans un flux.</a:t>
            </a:r>
          </a:p>
        </p:txBody>
      </p:sp>
    </p:spTree>
    <p:extLst>
      <p:ext uri="{BB962C8B-B14F-4D97-AF65-F5344CB8AC3E}">
        <p14:creationId xmlns:p14="http://schemas.microsoft.com/office/powerpoint/2010/main" val="119542996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Meilleure intégration avec les API fonctionnelles</a:t>
            </a:r>
            <a:endParaRPr lang="fr-FR" b="1"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4000" dirty="0"/>
              <a:t> La méthode </a:t>
            </a:r>
            <a:r>
              <a:rPr lang="fr-FR" sz="4000" b="1" dirty="0" err="1"/>
              <a:t>stream</a:t>
            </a:r>
            <a:r>
              <a:rPr lang="fr-FR" sz="4000" dirty="0"/>
              <a:t> permet de combiner de manière fluide les </a:t>
            </a:r>
            <a:r>
              <a:rPr lang="fr-FR" sz="4000" b="1" dirty="0" err="1"/>
              <a:t>Optional</a:t>
            </a:r>
            <a:r>
              <a:rPr lang="fr-FR" sz="4000" dirty="0"/>
              <a:t> avec les flux (Stream API).</a:t>
            </a:r>
          </a:p>
        </p:txBody>
      </p:sp>
    </p:spTree>
    <p:extLst>
      <p:ext uri="{BB962C8B-B14F-4D97-AF65-F5344CB8AC3E}">
        <p14:creationId xmlns:p14="http://schemas.microsoft.com/office/powerpoint/2010/main" val="301167103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Gestion explicite des cas absents</a:t>
            </a:r>
          </a:p>
        </p:txBody>
      </p:sp>
      <p:sp>
        <p:nvSpPr>
          <p:cNvPr id="3" name="Espace réservé du contenu 2"/>
          <p:cNvSpPr>
            <a:spLocks noGrp="1"/>
          </p:cNvSpPr>
          <p:nvPr>
            <p:ph idx="1"/>
          </p:nvPr>
        </p:nvSpPr>
        <p:spPr/>
        <p:txBody>
          <a:bodyPr>
            <a:noAutofit/>
          </a:bodyPr>
          <a:lstStyle/>
          <a:p>
            <a:pPr algn="just">
              <a:lnSpc>
                <a:spcPct val="200000"/>
              </a:lnSpc>
              <a:buFont typeface="Wingdings" panose="05000000000000000000" pitchFamily="2" charset="2"/>
              <a:buChar char="Ø"/>
            </a:pPr>
            <a:r>
              <a:rPr lang="fr-FR" sz="4400" dirty="0"/>
              <a:t> </a:t>
            </a:r>
            <a:r>
              <a:rPr lang="fr-FR" sz="4400" b="1" dirty="0"/>
              <a:t>or</a:t>
            </a:r>
            <a:r>
              <a:rPr lang="fr-FR" sz="4400" dirty="0"/>
              <a:t> et </a:t>
            </a:r>
            <a:r>
              <a:rPr lang="fr-FR" sz="4400" b="1" dirty="0" err="1"/>
              <a:t>orElseThrow</a:t>
            </a:r>
            <a:r>
              <a:rPr lang="fr-FR" sz="4400" dirty="0"/>
              <a:t> favorisent un comportement clair et contrôlé en cas de valeur manquante.</a:t>
            </a:r>
          </a:p>
        </p:txBody>
      </p:sp>
    </p:spTree>
    <p:extLst>
      <p:ext uri="{BB962C8B-B14F-4D97-AF65-F5344CB8AC3E}">
        <p14:creationId xmlns:p14="http://schemas.microsoft.com/office/powerpoint/2010/main" val="113320385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Réduction des erreurs</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4000" dirty="0"/>
              <a:t> Diminue le risque de </a:t>
            </a:r>
            <a:r>
              <a:rPr lang="fr-FR" sz="4000" b="1" dirty="0" err="1"/>
              <a:t>NullPointerException</a:t>
            </a:r>
            <a:r>
              <a:rPr lang="fr-FR" sz="4000" dirty="0"/>
              <a:t> et d’erreurs dues à des valeurs non gérées.</a:t>
            </a:r>
          </a:p>
        </p:txBody>
      </p:sp>
    </p:spTree>
    <p:extLst>
      <p:ext uri="{BB962C8B-B14F-4D97-AF65-F5344CB8AC3E}">
        <p14:creationId xmlns:p14="http://schemas.microsoft.com/office/powerpoint/2010/main" val="45365898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Cas d’utilisation typiques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Gestion des résultats d’une recherche dans une base de </a:t>
            </a:r>
            <a:r>
              <a:rPr lang="fr-FR" sz="2800" dirty="0" smtClean="0"/>
              <a:t>données</a:t>
            </a:r>
          </a:p>
          <a:p>
            <a:pPr algn="just">
              <a:lnSpc>
                <a:spcPct val="150000"/>
              </a:lnSpc>
              <a:buFont typeface="Wingdings" panose="05000000000000000000" pitchFamily="2" charset="2"/>
              <a:buChar char="Ø"/>
            </a:pPr>
            <a:r>
              <a:rPr lang="fr-FR" sz="2800" dirty="0"/>
              <a:t> Traitement conditionnel dans un </a:t>
            </a:r>
            <a:r>
              <a:rPr lang="fr-FR" sz="2800" dirty="0" smtClean="0"/>
              <a:t>flux</a:t>
            </a:r>
          </a:p>
          <a:p>
            <a:pPr algn="just">
              <a:lnSpc>
                <a:spcPct val="150000"/>
              </a:lnSpc>
              <a:buFont typeface="Wingdings" panose="05000000000000000000" pitchFamily="2" charset="2"/>
              <a:buChar char="Ø"/>
            </a:pPr>
            <a:r>
              <a:rPr lang="fr-FR" sz="2800" dirty="0"/>
              <a:t> Gestion des valeurs par défaut</a:t>
            </a:r>
          </a:p>
        </p:txBody>
      </p:sp>
    </p:spTree>
    <p:extLst>
      <p:ext uri="{BB962C8B-B14F-4D97-AF65-F5344CB8AC3E}">
        <p14:creationId xmlns:p14="http://schemas.microsoft.com/office/powerpoint/2010/main" val="31713039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b="1" dirty="0"/>
              <a:t> Gestion des résultats d’une recherche dans une base de </a:t>
            </a:r>
            <a:r>
              <a:rPr lang="fr-FR" b="1" dirty="0" smtClean="0"/>
              <a:t>données</a:t>
            </a:r>
            <a:endParaRPr lang="fr-FR" b="1" dirty="0"/>
          </a:p>
        </p:txBody>
      </p:sp>
      <p:pic>
        <p:nvPicPr>
          <p:cNvPr id="4" name="Espace réservé du contenu 3"/>
          <p:cNvPicPr>
            <a:picLocks noGrp="1" noChangeAspect="1"/>
          </p:cNvPicPr>
          <p:nvPr>
            <p:ph idx="1"/>
          </p:nvPr>
        </p:nvPicPr>
        <p:blipFill>
          <a:blip r:embed="rId2"/>
          <a:stretch>
            <a:fillRect/>
          </a:stretch>
        </p:blipFill>
        <p:spPr>
          <a:xfrm>
            <a:off x="1097280" y="2421466"/>
            <a:ext cx="10058400" cy="2912533"/>
          </a:xfrm>
          <a:prstGeom prst="rect">
            <a:avLst/>
          </a:prstGeom>
        </p:spPr>
      </p:pic>
    </p:spTree>
    <p:extLst>
      <p:ext uri="{BB962C8B-B14F-4D97-AF65-F5344CB8AC3E}">
        <p14:creationId xmlns:p14="http://schemas.microsoft.com/office/powerpoint/2010/main" val="2462537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Traitement conditionnel dans un </a:t>
            </a:r>
            <a:r>
              <a:rPr lang="fr-FR" b="1" dirty="0" smtClean="0"/>
              <a:t>flux</a:t>
            </a:r>
            <a:endParaRPr lang="fr-FR" b="1" dirty="0"/>
          </a:p>
        </p:txBody>
      </p:sp>
      <p:pic>
        <p:nvPicPr>
          <p:cNvPr id="4" name="Espace réservé du contenu 3"/>
          <p:cNvPicPr>
            <a:picLocks noGrp="1" noChangeAspect="1"/>
          </p:cNvPicPr>
          <p:nvPr>
            <p:ph idx="1"/>
          </p:nvPr>
        </p:nvPicPr>
        <p:blipFill>
          <a:blip r:embed="rId2"/>
          <a:stretch>
            <a:fillRect/>
          </a:stretch>
        </p:blipFill>
        <p:spPr>
          <a:xfrm>
            <a:off x="1608667" y="2709333"/>
            <a:ext cx="9547013" cy="25230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00154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Gestion des valeurs par </a:t>
            </a:r>
            <a:r>
              <a:rPr lang="fr-FR" b="1" dirty="0" smtClean="0"/>
              <a:t>défaut</a:t>
            </a:r>
            <a:endParaRPr lang="fr-FR" b="1" dirty="0"/>
          </a:p>
        </p:txBody>
      </p:sp>
      <p:pic>
        <p:nvPicPr>
          <p:cNvPr id="4" name="Espace réservé du contenu 3"/>
          <p:cNvPicPr>
            <a:picLocks noGrp="1" noChangeAspect="1"/>
          </p:cNvPicPr>
          <p:nvPr>
            <p:ph idx="1"/>
          </p:nvPr>
        </p:nvPicPr>
        <p:blipFill>
          <a:blip r:embed="rId2"/>
          <a:stretch>
            <a:fillRect/>
          </a:stretch>
        </p:blipFill>
        <p:spPr>
          <a:xfrm>
            <a:off x="2065867" y="2438401"/>
            <a:ext cx="8534399" cy="2336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81610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3200" dirty="0"/>
              <a:t> L’API </a:t>
            </a:r>
            <a:r>
              <a:rPr lang="fr-FR" sz="3200" b="1" dirty="0" err="1"/>
              <a:t>Optional</a:t>
            </a:r>
            <a:r>
              <a:rPr lang="fr-FR" sz="3200" dirty="0"/>
              <a:t>, enrichie avec JDK 9, offre des outils puissants pour écrire du code robuste, déclaratif, et fluide, tout en gérant explicitement les cas où une valeur est absente. Ces améliorations simplifient l’intégration avec d’autres fonctionnalités de Java, comme les </a:t>
            </a:r>
            <a:r>
              <a:rPr lang="fr-FR" sz="3200" b="1" dirty="0" err="1"/>
              <a:t>streams</a:t>
            </a:r>
            <a:r>
              <a:rPr lang="fr-FR" sz="3200" dirty="0"/>
              <a:t>, et permettent de réduire les erreurs liées à </a:t>
            </a:r>
            <a:r>
              <a:rPr lang="fr-FR" sz="3200" b="1" dirty="0" err="1"/>
              <a:t>null</a:t>
            </a:r>
            <a:r>
              <a:rPr lang="fr-FR" sz="3200" dirty="0"/>
              <a:t>.</a:t>
            </a:r>
          </a:p>
        </p:txBody>
      </p:sp>
    </p:spTree>
    <p:extLst>
      <p:ext uri="{BB962C8B-B14F-4D97-AF65-F5344CB8AC3E}">
        <p14:creationId xmlns:p14="http://schemas.microsoft.com/office/powerpoint/2010/main" val="385393240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13552" y="0"/>
            <a:ext cx="10058400" cy="914236"/>
          </a:xfrm>
        </p:spPr>
        <p:txBody>
          <a:bodyPr anchor="ctr"/>
          <a:lstStyle/>
          <a:p>
            <a:pPr algn="ctr"/>
            <a:r>
              <a:rPr lang="fr-FR" b="1" dirty="0" smtClean="0"/>
              <a:t>Les bonnes pratiques</a:t>
            </a:r>
            <a:endParaRPr lang="fr-FR" b="1" dirty="0"/>
          </a:p>
        </p:txBody>
      </p:sp>
      <p:pic>
        <p:nvPicPr>
          <p:cNvPr id="4" name="Espace réservé du contenu 3"/>
          <p:cNvPicPr>
            <a:picLocks noGrp="1" noChangeAspect="1"/>
          </p:cNvPicPr>
          <p:nvPr>
            <p:ph idx="1"/>
          </p:nvPr>
        </p:nvPicPr>
        <p:blipFill>
          <a:blip r:embed="rId2"/>
          <a:stretch>
            <a:fillRect/>
          </a:stretch>
        </p:blipFill>
        <p:spPr>
          <a:xfrm>
            <a:off x="716096" y="914237"/>
            <a:ext cx="10994834" cy="5706900"/>
          </a:xfrm>
          <a:prstGeom prst="rect">
            <a:avLst/>
          </a:prstGeom>
        </p:spPr>
      </p:pic>
    </p:spTree>
    <p:extLst>
      <p:ext uri="{BB962C8B-B14F-4D97-AF65-F5344CB8AC3E}">
        <p14:creationId xmlns:p14="http://schemas.microsoft.com/office/powerpoint/2010/main" val="237237969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A éviter</a:t>
            </a:r>
            <a:endParaRPr lang="fr-FR" b="1" dirty="0"/>
          </a:p>
        </p:txBody>
      </p:sp>
      <p:pic>
        <p:nvPicPr>
          <p:cNvPr id="4" name="Espace réservé du contenu 3"/>
          <p:cNvPicPr>
            <a:picLocks noGrp="1" noChangeAspect="1"/>
          </p:cNvPicPr>
          <p:nvPr>
            <p:ph idx="1"/>
          </p:nvPr>
        </p:nvPicPr>
        <p:blipFill>
          <a:blip r:embed="rId2"/>
          <a:stretch>
            <a:fillRect/>
          </a:stretch>
        </p:blipFill>
        <p:spPr>
          <a:xfrm>
            <a:off x="1189822" y="2093205"/>
            <a:ext cx="9965858" cy="3955055"/>
          </a:xfrm>
          <a:prstGeom prst="rect">
            <a:avLst/>
          </a:prstGeom>
        </p:spPr>
      </p:pic>
    </p:spTree>
    <p:extLst>
      <p:ext uri="{BB962C8B-B14F-4D97-AF65-F5344CB8AC3E}">
        <p14:creationId xmlns:p14="http://schemas.microsoft.com/office/powerpoint/2010/main" val="112699278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smtClean="0"/>
              <a:t>TP API </a:t>
            </a:r>
            <a:r>
              <a:rPr lang="fr-FR" b="1" dirty="0" err="1"/>
              <a:t>Optional</a:t>
            </a:r>
            <a:endParaRPr lang="fr-FR" dirty="0"/>
          </a:p>
        </p:txBody>
      </p:sp>
      <p:sp>
        <p:nvSpPr>
          <p:cNvPr id="3" name="Espace réservé du contenu 2"/>
          <p:cNvSpPr>
            <a:spLocks noGrp="1"/>
          </p:cNvSpPr>
          <p:nvPr>
            <p:ph idx="1"/>
          </p:nvPr>
        </p:nvSpPr>
        <p:spPr/>
        <p:txBody>
          <a:bodyPr>
            <a:normAutofit/>
          </a:bodyPr>
          <a:lstStyle/>
          <a:p>
            <a:pPr marL="457200" indent="-457200" algn="just">
              <a:lnSpc>
                <a:spcPct val="150000"/>
              </a:lnSpc>
              <a:buFont typeface="+mj-lt"/>
              <a:buAutoNum type="arabicPeriod"/>
            </a:pPr>
            <a:r>
              <a:rPr lang="fr-FR" sz="2800" dirty="0"/>
              <a:t>Apprendre à créer et manipuler des objets </a:t>
            </a:r>
            <a:r>
              <a:rPr lang="fr-FR" sz="2800" b="1" dirty="0" err="1"/>
              <a:t>Optional</a:t>
            </a:r>
            <a:r>
              <a:rPr lang="fr-FR" sz="2800" dirty="0"/>
              <a:t> en Java</a:t>
            </a:r>
            <a:r>
              <a:rPr lang="fr-FR" sz="2800" dirty="0" smtClean="0"/>
              <a:t>.</a:t>
            </a:r>
          </a:p>
          <a:p>
            <a:pPr marL="457200" indent="-457200" algn="just">
              <a:lnSpc>
                <a:spcPct val="150000"/>
              </a:lnSpc>
              <a:buFont typeface="+mj-lt"/>
              <a:buAutoNum type="arabicPeriod"/>
            </a:pPr>
            <a:r>
              <a:rPr lang="fr-FR" sz="2800" dirty="0" smtClean="0"/>
              <a:t>Utiliser </a:t>
            </a:r>
            <a:r>
              <a:rPr lang="fr-FR" sz="2800" dirty="0"/>
              <a:t>les méthodes de </a:t>
            </a:r>
            <a:r>
              <a:rPr lang="fr-FR" sz="2800" b="1" dirty="0" err="1"/>
              <a:t>Optional</a:t>
            </a:r>
            <a:r>
              <a:rPr lang="fr-FR" sz="2800" dirty="0"/>
              <a:t> pour éviter les erreurs de type </a:t>
            </a:r>
            <a:r>
              <a:rPr lang="fr-FR" sz="2800" b="1" dirty="0" err="1"/>
              <a:t>NullPointerException</a:t>
            </a:r>
            <a:r>
              <a:rPr lang="fr-FR" sz="2800" dirty="0" smtClean="0"/>
              <a:t>.</a:t>
            </a:r>
          </a:p>
          <a:p>
            <a:pPr marL="457200" indent="-457200" algn="just">
              <a:lnSpc>
                <a:spcPct val="150000"/>
              </a:lnSpc>
              <a:buFont typeface="+mj-lt"/>
              <a:buAutoNum type="arabicPeriod"/>
            </a:pPr>
            <a:r>
              <a:rPr lang="fr-FR" sz="2800" dirty="0" smtClean="0"/>
              <a:t>Comprendre </a:t>
            </a:r>
            <a:r>
              <a:rPr lang="fr-FR" sz="2800" dirty="0"/>
              <a:t>comment utiliser </a:t>
            </a:r>
            <a:r>
              <a:rPr lang="fr-FR" sz="2800" b="1" dirty="0" err="1"/>
              <a:t>map</a:t>
            </a:r>
            <a:r>
              <a:rPr lang="fr-FR" sz="2800" dirty="0"/>
              <a:t>(), </a:t>
            </a:r>
            <a:r>
              <a:rPr lang="fr-FR" sz="2800" b="1" dirty="0" err="1"/>
              <a:t>flatMap</a:t>
            </a:r>
            <a:r>
              <a:rPr lang="fr-FR" sz="2800" dirty="0"/>
              <a:t>(), </a:t>
            </a:r>
            <a:r>
              <a:rPr lang="fr-FR" sz="2800" b="1" dirty="0" err="1"/>
              <a:t>ifPresent</a:t>
            </a:r>
            <a:r>
              <a:rPr lang="fr-FR" sz="2800" dirty="0"/>
              <a:t>(), etc., pour gérer des valeurs nulles de manière élégante.</a:t>
            </a:r>
          </a:p>
        </p:txBody>
      </p:sp>
    </p:spTree>
    <p:extLst>
      <p:ext uri="{BB962C8B-B14F-4D97-AF65-F5344CB8AC3E}">
        <p14:creationId xmlns:p14="http://schemas.microsoft.com/office/powerpoint/2010/main" val="37692490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Éviter les </a:t>
            </a:r>
            <a:r>
              <a:rPr lang="fr-FR" b="1" dirty="0" err="1"/>
              <a:t>NullPointerException</a:t>
            </a:r>
            <a:endParaRPr lang="fr-FR" b="1" dirty="0"/>
          </a:p>
        </p:txBody>
      </p:sp>
      <p:sp>
        <p:nvSpPr>
          <p:cNvPr id="6" name="Espace réservé du texte 5"/>
          <p:cNvSpPr>
            <a:spLocks noGrp="1"/>
          </p:cNvSpPr>
          <p:nvPr>
            <p:ph type="body" idx="1"/>
          </p:nvPr>
        </p:nvSpPr>
        <p:spPr/>
        <p:txBody>
          <a:bodyPr/>
          <a:lstStyle/>
          <a:p>
            <a:pPr algn="ctr"/>
            <a:r>
              <a:rPr lang="fr-FR" b="1" dirty="0"/>
              <a:t>Sans </a:t>
            </a:r>
            <a:r>
              <a:rPr lang="fr-FR" b="1" dirty="0" err="1"/>
              <a:t>Optional</a:t>
            </a:r>
            <a:r>
              <a:rPr lang="fr-FR" b="1" dirty="0"/>
              <a:t>, tu dois souvent écrire des vérifications manuelles :</a:t>
            </a:r>
          </a:p>
        </p:txBody>
      </p:sp>
      <p:pic>
        <p:nvPicPr>
          <p:cNvPr id="11" name="Espace réservé du contenu 10"/>
          <p:cNvPicPr>
            <a:picLocks noGrp="1" noChangeAspect="1"/>
          </p:cNvPicPr>
          <p:nvPr>
            <p:ph sz="half" idx="2"/>
          </p:nvPr>
        </p:nvPicPr>
        <p:blipFill>
          <a:blip r:embed="rId2">
            <a:duotone>
              <a:prstClr val="black"/>
              <a:srgbClr val="D9C3A5">
                <a:tint val="50000"/>
                <a:satMod val="180000"/>
              </a:srgbClr>
            </a:duotone>
          </a:blip>
          <a:stretch>
            <a:fillRect/>
          </a:stretch>
        </p:blipFill>
        <p:spPr>
          <a:xfrm>
            <a:off x="1097279" y="2798284"/>
            <a:ext cx="4763693" cy="24126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Espace réservé du texte 7"/>
          <p:cNvSpPr>
            <a:spLocks noGrp="1"/>
          </p:cNvSpPr>
          <p:nvPr>
            <p:ph type="body" sz="quarter" idx="3"/>
          </p:nvPr>
        </p:nvSpPr>
        <p:spPr/>
        <p:txBody>
          <a:bodyPr/>
          <a:lstStyle/>
          <a:p>
            <a:pPr algn="ctr"/>
            <a:r>
              <a:rPr lang="fr-FR" b="1" dirty="0"/>
              <a:t>Avec </a:t>
            </a:r>
            <a:r>
              <a:rPr lang="fr-FR" b="1" dirty="0" err="1"/>
              <a:t>Optional</a:t>
            </a:r>
            <a:r>
              <a:rPr lang="fr-FR" b="1" dirty="0"/>
              <a:t> :</a:t>
            </a:r>
          </a:p>
        </p:txBody>
      </p:sp>
      <p:pic>
        <p:nvPicPr>
          <p:cNvPr id="12" name="Espace réservé du contenu 11"/>
          <p:cNvPicPr>
            <a:picLocks noGrp="1" noChangeAspect="1"/>
          </p:cNvPicPr>
          <p:nvPr>
            <p:ph sz="quarter" idx="4"/>
          </p:nvPr>
        </p:nvPicPr>
        <p:blipFill>
          <a:blip r:embed="rId3">
            <a:duotone>
              <a:prstClr val="black"/>
              <a:srgbClr val="D9C3A5">
                <a:tint val="50000"/>
                <a:satMod val="180000"/>
              </a:srgbClr>
            </a:duotone>
          </a:blip>
          <a:stretch>
            <a:fillRect/>
          </a:stretch>
        </p:blipFill>
        <p:spPr>
          <a:xfrm>
            <a:off x="6252823" y="2798284"/>
            <a:ext cx="4867954" cy="24126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9443195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Éviter les </a:t>
            </a:r>
            <a:r>
              <a:rPr lang="fr-FR" b="1" dirty="0" err="1"/>
              <a:t>NullPointerException</a:t>
            </a:r>
            <a:endParaRPr lang="fr-FR" b="1" dirty="0"/>
          </a:p>
        </p:txBody>
      </p:sp>
      <p:sp>
        <p:nvSpPr>
          <p:cNvPr id="6" name="Espace réservé du texte 5"/>
          <p:cNvSpPr>
            <a:spLocks noGrp="1"/>
          </p:cNvSpPr>
          <p:nvPr>
            <p:ph type="body" idx="1"/>
          </p:nvPr>
        </p:nvSpPr>
        <p:spPr/>
        <p:txBody>
          <a:bodyPr/>
          <a:lstStyle/>
          <a:p>
            <a:pPr algn="ctr"/>
            <a:r>
              <a:rPr lang="fr-FR" b="1" dirty="0"/>
              <a:t>Sans </a:t>
            </a:r>
            <a:r>
              <a:rPr lang="fr-FR" b="1" dirty="0" err="1"/>
              <a:t>Optional</a:t>
            </a:r>
            <a:r>
              <a:rPr lang="fr-FR" b="1" dirty="0"/>
              <a:t>, tu dois souvent écrire des vérifications manuelles :</a:t>
            </a:r>
          </a:p>
        </p:txBody>
      </p:sp>
      <p:sp>
        <p:nvSpPr>
          <p:cNvPr id="8" name="Espace réservé du texte 7"/>
          <p:cNvSpPr>
            <a:spLocks noGrp="1"/>
          </p:cNvSpPr>
          <p:nvPr>
            <p:ph type="body" sz="quarter" idx="3"/>
          </p:nvPr>
        </p:nvSpPr>
        <p:spPr/>
        <p:txBody>
          <a:bodyPr/>
          <a:lstStyle/>
          <a:p>
            <a:pPr algn="ctr"/>
            <a:r>
              <a:rPr lang="fr-FR" b="1" dirty="0"/>
              <a:t>Avec </a:t>
            </a:r>
            <a:r>
              <a:rPr lang="fr-FR" b="1" dirty="0" err="1"/>
              <a:t>Optional</a:t>
            </a:r>
            <a:r>
              <a:rPr lang="fr-FR" b="1" dirty="0"/>
              <a:t> :</a:t>
            </a:r>
          </a:p>
        </p:txBody>
      </p:sp>
      <p:pic>
        <p:nvPicPr>
          <p:cNvPr id="4" name="Espace réservé du contenu 3"/>
          <p:cNvPicPr>
            <a:picLocks noGrp="1" noChangeAspect="1"/>
          </p:cNvPicPr>
          <p:nvPr>
            <p:ph sz="half" idx="2"/>
          </p:nvPr>
        </p:nvPicPr>
        <p:blipFill>
          <a:blip r:embed="rId2">
            <a:duotone>
              <a:prstClr val="black"/>
              <a:srgbClr val="D9C3A5">
                <a:tint val="50000"/>
                <a:satMod val="180000"/>
              </a:srgbClr>
            </a:duotone>
          </a:blip>
          <a:stretch>
            <a:fillRect/>
          </a:stretch>
        </p:blipFill>
        <p:spPr>
          <a:xfrm>
            <a:off x="363557" y="3040655"/>
            <a:ext cx="6411816" cy="21152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Espace réservé du contenu 6"/>
          <p:cNvPicPr>
            <a:picLocks noGrp="1" noChangeAspect="1"/>
          </p:cNvPicPr>
          <p:nvPr>
            <p:ph sz="quarter" idx="4"/>
          </p:nvPr>
        </p:nvPicPr>
        <p:blipFill>
          <a:blip r:embed="rId3">
            <a:duotone>
              <a:prstClr val="black"/>
              <a:srgbClr val="D9C3A5">
                <a:tint val="50000"/>
                <a:satMod val="180000"/>
              </a:srgbClr>
            </a:duotone>
          </a:blip>
          <a:stretch>
            <a:fillRect/>
          </a:stretch>
        </p:blipFill>
        <p:spPr>
          <a:xfrm>
            <a:off x="7014928" y="2691026"/>
            <a:ext cx="4420579" cy="28724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8849328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Objectif</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On vous fournit une classe </a:t>
            </a:r>
            <a:r>
              <a:rPr lang="fr-FR" sz="2800" b="1" dirty="0"/>
              <a:t>Utilisateur</a:t>
            </a:r>
            <a:r>
              <a:rPr lang="fr-FR" sz="2800" dirty="0"/>
              <a:t> et un service </a:t>
            </a:r>
            <a:r>
              <a:rPr lang="fr-FR" sz="2800" b="1" dirty="0" err="1"/>
              <a:t>UtilisateurService</a:t>
            </a:r>
            <a:r>
              <a:rPr lang="fr-FR" sz="2800" dirty="0"/>
              <a:t> partiellement codé. Votre tâche est de </a:t>
            </a:r>
            <a:r>
              <a:rPr lang="fr-FR" sz="2800" dirty="0" smtClean="0"/>
              <a:t>:</a:t>
            </a:r>
          </a:p>
          <a:p>
            <a:pPr lvl="1" algn="just">
              <a:lnSpc>
                <a:spcPct val="150000"/>
              </a:lnSpc>
              <a:buFont typeface="Wingdings" panose="05000000000000000000" pitchFamily="2" charset="2"/>
              <a:buChar char="Ø"/>
            </a:pPr>
            <a:r>
              <a:rPr lang="fr-FR" sz="2600" dirty="0" smtClean="0"/>
              <a:t> Remplacer </a:t>
            </a:r>
            <a:r>
              <a:rPr lang="fr-FR" sz="2600" dirty="0"/>
              <a:t>les retours pouvant être </a:t>
            </a:r>
            <a:r>
              <a:rPr lang="fr-FR" sz="2600" b="1" dirty="0" err="1"/>
              <a:t>null</a:t>
            </a:r>
            <a:r>
              <a:rPr lang="fr-FR" sz="2600" dirty="0"/>
              <a:t> par des objets </a:t>
            </a:r>
            <a:r>
              <a:rPr lang="fr-FR" sz="2600" b="1" dirty="0" err="1" smtClean="0"/>
              <a:t>Optional</a:t>
            </a:r>
            <a:endParaRPr lang="fr-FR" sz="2600" b="1" dirty="0" smtClean="0"/>
          </a:p>
          <a:p>
            <a:pPr lvl="1" algn="just">
              <a:lnSpc>
                <a:spcPct val="150000"/>
              </a:lnSpc>
              <a:buFont typeface="Wingdings" panose="05000000000000000000" pitchFamily="2" charset="2"/>
              <a:buChar char="Ø"/>
            </a:pPr>
            <a:r>
              <a:rPr lang="fr-FR" sz="2600" dirty="0"/>
              <a:t>Utiliser les méthodes </a:t>
            </a:r>
            <a:r>
              <a:rPr lang="fr-FR" sz="2600" b="1" dirty="0"/>
              <a:t>d’</a:t>
            </a:r>
            <a:r>
              <a:rPr lang="fr-FR" sz="2600" b="1" dirty="0" err="1"/>
              <a:t>Optional</a:t>
            </a:r>
            <a:r>
              <a:rPr lang="fr-FR" sz="2600" dirty="0"/>
              <a:t> pour consommer ou transformer les valeurs retournées sans jamais utiliser </a:t>
            </a:r>
            <a:r>
              <a:rPr lang="fr-FR" sz="2600" b="1" dirty="0" err="1"/>
              <a:t>null</a:t>
            </a:r>
            <a:r>
              <a:rPr lang="fr-FR" sz="2600" dirty="0"/>
              <a:t>.</a:t>
            </a:r>
          </a:p>
        </p:txBody>
      </p:sp>
    </p:spTree>
    <p:extLst>
      <p:ext uri="{BB962C8B-B14F-4D97-AF65-F5344CB8AC3E}">
        <p14:creationId xmlns:p14="http://schemas.microsoft.com/office/powerpoint/2010/main" val="394795342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Classes Utilisateur/Adresse</a:t>
            </a:r>
            <a:endParaRPr lang="fr-FR" b="1"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817783" y="1972020"/>
            <a:ext cx="8835528" cy="39660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7483646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Classe </a:t>
            </a:r>
            <a:r>
              <a:rPr lang="fr-FR" b="1" dirty="0" err="1" smtClean="0"/>
              <a:t>UtilisateurService</a:t>
            </a:r>
            <a:endParaRPr lang="fr-FR" b="1"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097280" y="1983035"/>
            <a:ext cx="10058400" cy="40431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717470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905918" y="2434728"/>
            <a:ext cx="8813494" cy="26660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itre 4"/>
          <p:cNvSpPr>
            <a:spLocks noGrp="1"/>
          </p:cNvSpPr>
          <p:nvPr>
            <p:ph type="title"/>
          </p:nvPr>
        </p:nvSpPr>
        <p:spPr/>
        <p:txBody>
          <a:bodyPr anchor="ctr"/>
          <a:lstStyle/>
          <a:p>
            <a:pPr algn="ctr"/>
            <a:r>
              <a:rPr lang="fr-FR" b="1" dirty="0" err="1"/>
              <a:t>Refactoriser</a:t>
            </a:r>
            <a:r>
              <a:rPr lang="fr-FR" b="1" dirty="0"/>
              <a:t> pour retourner </a:t>
            </a:r>
            <a:r>
              <a:rPr lang="fr-FR" b="1" dirty="0" smtClean="0"/>
              <a:t/>
            </a:r>
            <a:br>
              <a:rPr lang="fr-FR" b="1" dirty="0" smtClean="0"/>
            </a:br>
            <a:r>
              <a:rPr lang="fr-FR" b="1" dirty="0" smtClean="0"/>
              <a:t>un </a:t>
            </a:r>
            <a:r>
              <a:rPr lang="fr-FR" b="1" dirty="0" err="1"/>
              <a:t>Optional</a:t>
            </a:r>
            <a:r>
              <a:rPr lang="fr-FR" b="1" dirty="0"/>
              <a:t>&lt;Utilisateur&gt;</a:t>
            </a:r>
          </a:p>
        </p:txBody>
      </p:sp>
    </p:spTree>
    <p:extLst>
      <p:ext uri="{BB962C8B-B14F-4D97-AF65-F5344CB8AC3E}">
        <p14:creationId xmlns:p14="http://schemas.microsoft.com/office/powerpoint/2010/main" val="18859734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Afficher la ville d’un utilisateur si elle est disponible</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097280" y="2225407"/>
            <a:ext cx="10058399" cy="34482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81550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Fournir une valeur par défaut si l’adresse ou la ville est absente</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097280" y="2192357"/>
            <a:ext cx="10058400" cy="35143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568968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Lever une exception personnalisée si la ville est absente</a:t>
            </a:r>
          </a:p>
        </p:txBody>
      </p:sp>
      <p:pic>
        <p:nvPicPr>
          <p:cNvPr id="4" name="Espace réservé du contenu 3"/>
          <p:cNvPicPr>
            <a:picLocks noGrp="1" noChangeAspect="1"/>
          </p:cNvPicPr>
          <p:nvPr>
            <p:ph idx="1"/>
          </p:nvPr>
        </p:nvPicPr>
        <p:blipFill>
          <a:blip r:embed="rId2"/>
          <a:stretch>
            <a:fillRect/>
          </a:stretch>
        </p:blipFill>
        <p:spPr>
          <a:xfrm>
            <a:off x="1097280" y="2456761"/>
            <a:ext cx="10058400" cy="301862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154476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Création d’un </a:t>
            </a:r>
            <a:r>
              <a:rPr lang="fr-FR" b="1" dirty="0" err="1"/>
              <a:t>Optional</a:t>
            </a:r>
            <a:endParaRPr lang="fr-FR" b="1" dirty="0"/>
          </a:p>
        </p:txBody>
      </p:sp>
      <p:sp>
        <p:nvSpPr>
          <p:cNvPr id="3" name="Espace réservé du contenu 2"/>
          <p:cNvSpPr>
            <a:spLocks noGrp="1"/>
          </p:cNvSpPr>
          <p:nvPr>
            <p:ph idx="1"/>
          </p:nvPr>
        </p:nvSpPr>
        <p:spPr/>
        <p:txBody>
          <a:bodyPr>
            <a:normAutofit/>
          </a:bodyPr>
          <a:lstStyle/>
          <a:p>
            <a:pPr algn="just">
              <a:lnSpc>
                <a:spcPct val="100000"/>
              </a:lnSpc>
              <a:buFont typeface="Wingdings" panose="05000000000000000000" pitchFamily="2" charset="2"/>
              <a:buChar char="Ø"/>
            </a:pPr>
            <a:r>
              <a:rPr lang="fr-FR" sz="2800" dirty="0"/>
              <a:t> Créez une méthode qui retourne un </a:t>
            </a:r>
            <a:r>
              <a:rPr lang="fr-FR" sz="2800" b="1" dirty="0" err="1"/>
              <a:t>Optional</a:t>
            </a:r>
            <a:r>
              <a:rPr lang="fr-FR" sz="2800" dirty="0"/>
              <a:t> en fonction d’une condition. Si la condition est vraie, elle retourne un prénom, sinon un </a:t>
            </a:r>
            <a:r>
              <a:rPr lang="fr-FR" sz="2800" b="1" dirty="0" err="1"/>
              <a:t>Optional</a:t>
            </a:r>
            <a:r>
              <a:rPr lang="fr-FR" sz="2800" dirty="0"/>
              <a:t> vide.</a:t>
            </a:r>
          </a:p>
        </p:txBody>
      </p:sp>
      <p:pic>
        <p:nvPicPr>
          <p:cNvPr id="6" name="Image 5"/>
          <p:cNvPicPr>
            <a:picLocks noChangeAspect="1"/>
          </p:cNvPicPr>
          <p:nvPr/>
        </p:nvPicPr>
        <p:blipFill>
          <a:blip r:embed="rId2"/>
          <a:stretch>
            <a:fillRect/>
          </a:stretch>
        </p:blipFill>
        <p:spPr>
          <a:xfrm>
            <a:off x="3928533" y="2947900"/>
            <a:ext cx="7882466" cy="33052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5912394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2800" b="1" dirty="0"/>
              <a:t>Vérification de la présence d’une valeur avec </a:t>
            </a:r>
            <a:r>
              <a:rPr lang="fr-FR" sz="2800" b="1" dirty="0" err="1"/>
              <a:t>isPresent</a:t>
            </a:r>
            <a:r>
              <a:rPr lang="fr-FR" sz="2800" b="1" dirty="0"/>
              <a:t>() et </a:t>
            </a:r>
            <a:r>
              <a:rPr lang="fr-FR" sz="2800" b="1" dirty="0" err="1"/>
              <a:t>ifPresent</a:t>
            </a:r>
            <a:r>
              <a:rPr lang="fr-FR" sz="2800" b="1" dirty="0"/>
              <a:t>()</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400" dirty="0"/>
              <a:t>  Utilisation de </a:t>
            </a:r>
            <a:r>
              <a:rPr lang="fr-FR" sz="2400" b="1" dirty="0" err="1"/>
              <a:t>isPresent</a:t>
            </a:r>
            <a:r>
              <a:rPr lang="fr-FR" sz="2400" b="1" dirty="0" smtClean="0"/>
              <a:t>()</a:t>
            </a:r>
          </a:p>
          <a:p>
            <a:pPr lvl="1" algn="just">
              <a:lnSpc>
                <a:spcPct val="150000"/>
              </a:lnSpc>
              <a:buFont typeface="Wingdings" panose="05000000000000000000" pitchFamily="2" charset="2"/>
              <a:buChar char="Ø"/>
            </a:pPr>
            <a:r>
              <a:rPr lang="fr-FR" sz="2000" dirty="0"/>
              <a:t> La méthode </a:t>
            </a:r>
            <a:r>
              <a:rPr lang="fr-FR" sz="2000" b="1" dirty="0" err="1"/>
              <a:t>isPresent</a:t>
            </a:r>
            <a:r>
              <a:rPr lang="fr-FR" sz="2000" b="1" dirty="0"/>
              <a:t>() </a:t>
            </a:r>
            <a:r>
              <a:rPr lang="fr-FR" sz="2000" dirty="0"/>
              <a:t>permet de vérifier si une valeur est présente dans </a:t>
            </a:r>
            <a:r>
              <a:rPr lang="fr-FR" sz="2000" b="1" dirty="0"/>
              <a:t>l'</a:t>
            </a:r>
            <a:r>
              <a:rPr lang="fr-FR" sz="2000" b="1" dirty="0" err="1"/>
              <a:t>Optional</a:t>
            </a:r>
            <a:r>
              <a:rPr lang="fr-FR" sz="2000" dirty="0" smtClean="0"/>
              <a:t>.</a:t>
            </a:r>
          </a:p>
          <a:p>
            <a:pPr lvl="1" algn="just">
              <a:lnSpc>
                <a:spcPct val="150000"/>
              </a:lnSpc>
              <a:buFont typeface="Wingdings" panose="05000000000000000000" pitchFamily="2" charset="2"/>
              <a:buChar char="Ø"/>
            </a:pPr>
            <a:r>
              <a:rPr lang="fr-FR" sz="2000" dirty="0"/>
              <a:t> Ajoutez un test avec </a:t>
            </a:r>
            <a:r>
              <a:rPr lang="fr-FR" sz="2000" b="1" dirty="0" err="1"/>
              <a:t>isPresent</a:t>
            </a:r>
            <a:r>
              <a:rPr lang="fr-FR" sz="2000" b="1" dirty="0"/>
              <a:t>() </a:t>
            </a:r>
            <a:r>
              <a:rPr lang="fr-FR" sz="2000" dirty="0"/>
              <a:t>pour vérifier si une valeur est présente avant de l’afficher.</a:t>
            </a:r>
          </a:p>
        </p:txBody>
      </p:sp>
      <p:pic>
        <p:nvPicPr>
          <p:cNvPr id="9" name="Image 8"/>
          <p:cNvPicPr>
            <a:picLocks noChangeAspect="1"/>
          </p:cNvPicPr>
          <p:nvPr/>
        </p:nvPicPr>
        <p:blipFill>
          <a:blip r:embed="rId2"/>
          <a:stretch>
            <a:fillRect/>
          </a:stretch>
        </p:blipFill>
        <p:spPr>
          <a:xfrm>
            <a:off x="3782333" y="3857414"/>
            <a:ext cx="4991100" cy="20116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6247386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En résumé</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400" dirty="0"/>
              <a:t> </a:t>
            </a:r>
            <a:r>
              <a:rPr lang="fr-FR" sz="2400" b="1" dirty="0" err="1"/>
              <a:t>isPresent</a:t>
            </a:r>
            <a:r>
              <a:rPr lang="fr-FR" sz="2400" b="1" dirty="0"/>
              <a:t>() </a:t>
            </a:r>
            <a:r>
              <a:rPr lang="fr-FR" sz="2400" dirty="0"/>
              <a:t>vérifie explicitement si la valeur est présente dans </a:t>
            </a:r>
            <a:r>
              <a:rPr lang="fr-FR" sz="2400" b="1" dirty="0"/>
              <a:t>l'</a:t>
            </a:r>
            <a:r>
              <a:rPr lang="fr-FR" sz="2400" b="1" dirty="0" err="1"/>
              <a:t>Optional</a:t>
            </a:r>
            <a:r>
              <a:rPr lang="fr-FR" sz="2400" dirty="0"/>
              <a:t>, ce qui permet de prendre des décisions basées sur cette présence</a:t>
            </a:r>
            <a:r>
              <a:rPr lang="fr-FR" sz="2400" dirty="0" smtClean="0"/>
              <a:t>.</a:t>
            </a:r>
          </a:p>
          <a:p>
            <a:pPr algn="just">
              <a:lnSpc>
                <a:spcPct val="150000"/>
              </a:lnSpc>
              <a:buFont typeface="Wingdings" panose="05000000000000000000" pitchFamily="2" charset="2"/>
              <a:buChar char="Ø"/>
            </a:pPr>
            <a:r>
              <a:rPr lang="fr-FR" sz="2400" dirty="0"/>
              <a:t> </a:t>
            </a:r>
            <a:r>
              <a:rPr lang="fr-FR" sz="2400" b="1" dirty="0" err="1"/>
              <a:t>ifPresent</a:t>
            </a:r>
            <a:r>
              <a:rPr lang="fr-FR" sz="2400" b="1" dirty="0"/>
              <a:t>() </a:t>
            </a:r>
            <a:r>
              <a:rPr lang="fr-FR" sz="2400" dirty="0"/>
              <a:t>permet d'exécuter une action uniquement si la valeur est présente, simplifiant le code et évitant la nécessité de vérifier manuellement</a:t>
            </a:r>
            <a:r>
              <a:rPr lang="fr-FR" sz="2400" dirty="0" smtClean="0"/>
              <a:t>.</a:t>
            </a:r>
          </a:p>
          <a:p>
            <a:pPr algn="just">
              <a:lnSpc>
                <a:spcPct val="150000"/>
              </a:lnSpc>
              <a:buFont typeface="Wingdings" panose="05000000000000000000" pitchFamily="2" charset="2"/>
              <a:buChar char="Ø"/>
            </a:pPr>
            <a:r>
              <a:rPr lang="fr-FR" sz="2400" dirty="0"/>
              <a:t> </a:t>
            </a:r>
            <a:r>
              <a:rPr lang="fr-FR" sz="2400" b="1" dirty="0" err="1"/>
              <a:t>name.get</a:t>
            </a:r>
            <a:r>
              <a:rPr lang="fr-FR" sz="2400" b="1" dirty="0"/>
              <a:t>() </a:t>
            </a:r>
            <a:r>
              <a:rPr lang="fr-FR" sz="2400" dirty="0"/>
              <a:t>est dangereux sans </a:t>
            </a:r>
            <a:r>
              <a:rPr lang="fr-FR" sz="2400" b="1" dirty="0" err="1"/>
              <a:t>isPresent</a:t>
            </a:r>
            <a:r>
              <a:rPr lang="fr-FR" sz="2400" b="1" dirty="0"/>
              <a:t>() </a:t>
            </a:r>
            <a:r>
              <a:rPr lang="fr-FR" sz="2400" dirty="0"/>
              <a:t>car il peut provoquer une </a:t>
            </a:r>
            <a:r>
              <a:rPr lang="fr-FR" sz="2400" b="1" dirty="0" err="1"/>
              <a:t>NoSuchElementException</a:t>
            </a:r>
            <a:r>
              <a:rPr lang="fr-FR" sz="2400" dirty="0"/>
              <a:t> si </a:t>
            </a:r>
            <a:r>
              <a:rPr lang="fr-FR" sz="2400" b="1" dirty="0"/>
              <a:t>l'</a:t>
            </a:r>
            <a:r>
              <a:rPr lang="fr-FR" sz="2400" b="1" dirty="0" err="1"/>
              <a:t>Optional</a:t>
            </a:r>
            <a:r>
              <a:rPr lang="fr-FR" sz="2400" dirty="0"/>
              <a:t> est vide.</a:t>
            </a:r>
          </a:p>
        </p:txBody>
      </p:sp>
    </p:spTree>
    <p:extLst>
      <p:ext uri="{BB962C8B-B14F-4D97-AF65-F5344CB8AC3E}">
        <p14:creationId xmlns:p14="http://schemas.microsoft.com/office/powerpoint/2010/main" val="289015060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3200" b="1" dirty="0"/>
              <a:t>Transformation de la valeur avec </a:t>
            </a:r>
            <a:r>
              <a:rPr lang="fr-FR" sz="3200" b="1" dirty="0" err="1"/>
              <a:t>map</a:t>
            </a:r>
            <a:r>
              <a:rPr lang="fr-FR" sz="3200" b="1" dirty="0" smtClean="0"/>
              <a:t>()</a:t>
            </a:r>
            <a:endParaRPr lang="fr-FR" sz="3200"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Utilisation de </a:t>
            </a:r>
            <a:r>
              <a:rPr lang="fr-FR" sz="2800" b="1" dirty="0" err="1"/>
              <a:t>map</a:t>
            </a:r>
            <a:r>
              <a:rPr lang="fr-FR" sz="2800" b="1" dirty="0" smtClean="0"/>
              <a:t>()</a:t>
            </a:r>
          </a:p>
          <a:p>
            <a:pPr lvl="1" algn="just">
              <a:lnSpc>
                <a:spcPct val="150000"/>
              </a:lnSpc>
              <a:buFont typeface="Wingdings" panose="05000000000000000000" pitchFamily="2" charset="2"/>
              <a:buChar char="Ø"/>
            </a:pPr>
            <a:r>
              <a:rPr lang="fr-FR" sz="2400" dirty="0"/>
              <a:t> La méthode </a:t>
            </a:r>
            <a:r>
              <a:rPr lang="fr-FR" sz="2400" b="1" dirty="0" err="1"/>
              <a:t>map</a:t>
            </a:r>
            <a:r>
              <a:rPr lang="fr-FR" sz="2400" b="1" dirty="0"/>
              <a:t>() </a:t>
            </a:r>
            <a:r>
              <a:rPr lang="fr-FR" sz="2400" dirty="0"/>
              <a:t>permet de transformer la valeur contenue dans </a:t>
            </a:r>
            <a:r>
              <a:rPr lang="fr-FR" sz="2400" b="1" dirty="0"/>
              <a:t>l’</a:t>
            </a:r>
            <a:r>
              <a:rPr lang="fr-FR" sz="2400" b="1" dirty="0" err="1"/>
              <a:t>Optional</a:t>
            </a:r>
            <a:r>
              <a:rPr lang="fr-FR" sz="2400" dirty="0"/>
              <a:t> si elle est présente</a:t>
            </a:r>
            <a:r>
              <a:rPr lang="fr-FR" sz="2400" dirty="0" smtClean="0"/>
              <a:t>.</a:t>
            </a:r>
          </a:p>
          <a:p>
            <a:pPr lvl="1" algn="just">
              <a:lnSpc>
                <a:spcPct val="150000"/>
              </a:lnSpc>
              <a:buFont typeface="Wingdings" panose="05000000000000000000" pitchFamily="2" charset="2"/>
              <a:buChar char="Ø"/>
            </a:pPr>
            <a:r>
              <a:rPr lang="fr-FR" sz="2400" dirty="0"/>
              <a:t> Exemple : Modifiez l’exemple pour transformer le prénom en majuscules en utilisant </a:t>
            </a:r>
            <a:r>
              <a:rPr lang="fr-FR" sz="2400" b="1" dirty="0" err="1"/>
              <a:t>map</a:t>
            </a:r>
            <a:r>
              <a:rPr lang="fr-FR" sz="2400" b="1" dirty="0"/>
              <a:t>().</a:t>
            </a:r>
          </a:p>
        </p:txBody>
      </p:sp>
      <p:pic>
        <p:nvPicPr>
          <p:cNvPr id="8" name="Image 7"/>
          <p:cNvPicPr>
            <a:picLocks noChangeAspect="1"/>
          </p:cNvPicPr>
          <p:nvPr/>
        </p:nvPicPr>
        <p:blipFill>
          <a:blip r:embed="rId2"/>
          <a:stretch>
            <a:fillRect/>
          </a:stretch>
        </p:blipFill>
        <p:spPr>
          <a:xfrm>
            <a:off x="3752793" y="4374776"/>
            <a:ext cx="7402887" cy="18108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8673820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r>
              <a:rPr lang="fr-FR" sz="4400" b="1" dirty="0"/>
              <a:t>Transformation de la valeur avec </a:t>
            </a:r>
            <a:r>
              <a:rPr lang="fr-FR" sz="4400" b="1" dirty="0" err="1"/>
              <a:t>flatMap</a:t>
            </a:r>
            <a:r>
              <a:rPr lang="fr-FR" sz="4400" b="1" dirty="0"/>
              <a:t>()</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400" dirty="0"/>
              <a:t> La méthode </a:t>
            </a:r>
            <a:r>
              <a:rPr lang="fr-FR" sz="2400" b="1" dirty="0" err="1"/>
              <a:t>flatMap</a:t>
            </a:r>
            <a:r>
              <a:rPr lang="fr-FR" sz="2400" b="1" dirty="0"/>
              <a:t>() </a:t>
            </a:r>
            <a:r>
              <a:rPr lang="fr-FR" sz="2400" dirty="0"/>
              <a:t>est similaire à </a:t>
            </a:r>
            <a:r>
              <a:rPr lang="fr-FR" sz="2400" b="1" dirty="0" err="1"/>
              <a:t>map</a:t>
            </a:r>
            <a:r>
              <a:rPr lang="fr-FR" sz="2400" b="1" dirty="0"/>
              <a:t>()</a:t>
            </a:r>
            <a:r>
              <a:rPr lang="fr-FR" sz="2400" dirty="0"/>
              <a:t>, mais elle permet d’enchaîner des appels retournant des </a:t>
            </a:r>
            <a:r>
              <a:rPr lang="fr-FR" sz="2400" b="1" dirty="0" err="1"/>
              <a:t>Optional</a:t>
            </a:r>
            <a:r>
              <a:rPr lang="fr-FR" sz="2400" dirty="0" smtClean="0"/>
              <a:t>.</a:t>
            </a:r>
          </a:p>
          <a:p>
            <a:pPr algn="just">
              <a:lnSpc>
                <a:spcPct val="150000"/>
              </a:lnSpc>
              <a:buFont typeface="Wingdings" panose="05000000000000000000" pitchFamily="2" charset="2"/>
              <a:buChar char="Ø"/>
            </a:pPr>
            <a:r>
              <a:rPr lang="fr-FR" sz="2400" dirty="0"/>
              <a:t> Exemple : Créez une méthode qui renvoie un </a:t>
            </a:r>
            <a:r>
              <a:rPr lang="fr-FR" sz="2400" b="1" dirty="0" err="1"/>
              <a:t>Optional</a:t>
            </a:r>
            <a:r>
              <a:rPr lang="fr-FR" sz="2400" b="1" dirty="0"/>
              <a:t>&lt;String&gt;</a:t>
            </a:r>
            <a:r>
              <a:rPr lang="fr-FR" sz="2400" dirty="0"/>
              <a:t> à partir du prénom et utilisez </a:t>
            </a:r>
            <a:r>
              <a:rPr lang="fr-FR" sz="2400" b="1" dirty="0" err="1"/>
              <a:t>flatMap</a:t>
            </a:r>
            <a:r>
              <a:rPr lang="fr-FR" sz="2400" b="1" dirty="0"/>
              <a:t>() </a:t>
            </a:r>
            <a:r>
              <a:rPr lang="fr-FR" sz="2400" dirty="0"/>
              <a:t>pour obtenir un message de bienvenue.</a:t>
            </a:r>
          </a:p>
        </p:txBody>
      </p:sp>
      <p:pic>
        <p:nvPicPr>
          <p:cNvPr id="4" name="Image 3"/>
          <p:cNvPicPr>
            <a:picLocks noChangeAspect="1"/>
          </p:cNvPicPr>
          <p:nvPr/>
        </p:nvPicPr>
        <p:blipFill>
          <a:blip r:embed="rId2"/>
          <a:stretch>
            <a:fillRect/>
          </a:stretch>
        </p:blipFill>
        <p:spPr>
          <a:xfrm>
            <a:off x="1540933" y="4288896"/>
            <a:ext cx="8957733" cy="21965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5563606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Gérer les exceptions avec </a:t>
            </a:r>
            <a:r>
              <a:rPr lang="fr-FR" b="1" dirty="0" err="1"/>
              <a:t>Optional</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Utilisation de </a:t>
            </a:r>
            <a:r>
              <a:rPr lang="fr-FR" sz="2800" b="1" dirty="0" err="1"/>
              <a:t>orElseThrow</a:t>
            </a:r>
            <a:r>
              <a:rPr lang="fr-FR" sz="2800" b="1" dirty="0" smtClean="0"/>
              <a:t>()</a:t>
            </a:r>
          </a:p>
          <a:p>
            <a:pPr lvl="1" algn="just">
              <a:lnSpc>
                <a:spcPct val="150000"/>
              </a:lnSpc>
              <a:buFont typeface="Wingdings" panose="05000000000000000000" pitchFamily="2" charset="2"/>
              <a:buChar char="Ø"/>
            </a:pPr>
            <a:r>
              <a:rPr lang="fr-FR" sz="2400" dirty="0"/>
              <a:t> La méthode </a:t>
            </a:r>
            <a:r>
              <a:rPr lang="fr-FR" sz="2400" b="1" dirty="0" err="1"/>
              <a:t>orElseThrow</a:t>
            </a:r>
            <a:r>
              <a:rPr lang="fr-FR" sz="2400" b="1" dirty="0"/>
              <a:t>() </a:t>
            </a:r>
            <a:r>
              <a:rPr lang="fr-FR" sz="2400" dirty="0"/>
              <a:t>permet de lancer une exception si </a:t>
            </a:r>
            <a:r>
              <a:rPr lang="fr-FR" sz="2400" b="1" dirty="0"/>
              <a:t>l’</a:t>
            </a:r>
            <a:r>
              <a:rPr lang="fr-FR" sz="2400" b="1" dirty="0" err="1"/>
              <a:t>Optional</a:t>
            </a:r>
            <a:r>
              <a:rPr lang="fr-FR" sz="2400" dirty="0"/>
              <a:t> est vide</a:t>
            </a:r>
            <a:r>
              <a:rPr lang="fr-FR" sz="2400" dirty="0" smtClean="0"/>
              <a:t>.</a:t>
            </a:r>
          </a:p>
          <a:p>
            <a:pPr lvl="1" algn="just">
              <a:lnSpc>
                <a:spcPct val="150000"/>
              </a:lnSpc>
              <a:buFont typeface="Wingdings" panose="05000000000000000000" pitchFamily="2" charset="2"/>
              <a:buChar char="Ø"/>
            </a:pPr>
            <a:r>
              <a:rPr lang="fr-FR" sz="2400" dirty="0"/>
              <a:t> Exemple : Modifiez l’exemple pour lancer une exception si </a:t>
            </a:r>
            <a:r>
              <a:rPr lang="fr-FR" sz="2400" b="1" dirty="0"/>
              <a:t>l'</a:t>
            </a:r>
            <a:r>
              <a:rPr lang="fr-FR" sz="2400" b="1" dirty="0" err="1"/>
              <a:t>Optional</a:t>
            </a:r>
            <a:r>
              <a:rPr lang="fr-FR" sz="2400" dirty="0"/>
              <a:t> est vide au lieu de retourner une valeur par défaut.</a:t>
            </a:r>
          </a:p>
        </p:txBody>
      </p:sp>
      <p:pic>
        <p:nvPicPr>
          <p:cNvPr id="6" name="Image 5"/>
          <p:cNvPicPr>
            <a:picLocks noChangeAspect="1"/>
          </p:cNvPicPr>
          <p:nvPr/>
        </p:nvPicPr>
        <p:blipFill>
          <a:blip r:embed="rId2"/>
          <a:stretch>
            <a:fillRect/>
          </a:stretch>
        </p:blipFill>
        <p:spPr>
          <a:xfrm>
            <a:off x="3045882" y="5064759"/>
            <a:ext cx="8109797" cy="12513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009808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L’API </a:t>
            </a:r>
            <a:r>
              <a:rPr lang="fr-FR" b="1" dirty="0" err="1"/>
              <a:t>Process</a:t>
            </a:r>
            <a:r>
              <a:rPr lang="fr-FR" b="1" dirty="0"/>
              <a:t> (JDK 9 et plus</a:t>
            </a:r>
            <a:r>
              <a:rPr lang="fr-FR" b="1" dirty="0" smtClean="0"/>
              <a:t>)</a:t>
            </a:r>
            <a:br>
              <a:rPr lang="fr-FR" b="1" dirty="0" smtClean="0"/>
            </a:br>
            <a:r>
              <a:rPr lang="fr-FR" b="1" dirty="0" smtClean="0"/>
              <a:t>Introduction</a:t>
            </a:r>
            <a:endParaRPr lang="fr-FR"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L'API </a:t>
            </a:r>
            <a:r>
              <a:rPr lang="fr-FR" sz="3200" b="1" dirty="0" err="1"/>
              <a:t>Process</a:t>
            </a:r>
            <a:r>
              <a:rPr lang="fr-FR" sz="3200" dirty="0"/>
              <a:t> dans JDK 9 et versions ultérieures joue un rôle clé dans la gestion des processus système. Introduite avec des améliorations significatives, elle offre des fonctionnalités qui facilitent le contrôle, la surveillance et l'interaction avec les processus système.</a:t>
            </a:r>
          </a:p>
        </p:txBody>
      </p:sp>
    </p:spTree>
    <p:extLst>
      <p:ext uri="{BB962C8B-B14F-4D97-AF65-F5344CB8AC3E}">
        <p14:creationId xmlns:p14="http://schemas.microsoft.com/office/powerpoint/2010/main" val="372138304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smtClean="0"/>
              <a:t>Principaux </a:t>
            </a:r>
            <a:r>
              <a:rPr lang="fr-FR" dirty="0"/>
              <a:t>rôles et </a:t>
            </a:r>
            <a:r>
              <a:rPr lang="fr-FR" dirty="0" smtClean="0"/>
              <a:t>fonctionnalités</a:t>
            </a:r>
            <a:endParaRPr lang="fr-FR" dirty="0"/>
          </a:p>
        </p:txBody>
      </p:sp>
      <p:sp>
        <p:nvSpPr>
          <p:cNvPr id="3" name="Espace réservé du contenu 2"/>
          <p:cNvSpPr>
            <a:spLocks noGrp="1"/>
          </p:cNvSpPr>
          <p:nvPr>
            <p:ph idx="1"/>
          </p:nvPr>
        </p:nvSpPr>
        <p:spPr/>
        <p:txBody>
          <a:bodyPr>
            <a:noAutofit/>
          </a:bodyPr>
          <a:lstStyle/>
          <a:p>
            <a:pPr>
              <a:lnSpc>
                <a:spcPct val="150000"/>
              </a:lnSpc>
              <a:buFont typeface="Wingdings" panose="05000000000000000000" pitchFamily="2" charset="2"/>
              <a:buChar char="Ø"/>
            </a:pPr>
            <a:r>
              <a:rPr lang="fr-FR" sz="3200" dirty="0"/>
              <a:t> Amélioration de la gestion des processus </a:t>
            </a:r>
            <a:r>
              <a:rPr lang="fr-FR" sz="3200" dirty="0" smtClean="0"/>
              <a:t>enfants</a:t>
            </a:r>
          </a:p>
          <a:p>
            <a:pPr>
              <a:lnSpc>
                <a:spcPct val="150000"/>
              </a:lnSpc>
              <a:buFont typeface="Wingdings" panose="05000000000000000000" pitchFamily="2" charset="2"/>
              <a:buChar char="Ø"/>
            </a:pPr>
            <a:r>
              <a:rPr lang="fr-FR" sz="3200" dirty="0"/>
              <a:t> Nouvelle interface </a:t>
            </a:r>
            <a:r>
              <a:rPr lang="fr-FR" sz="3200" b="1" dirty="0" err="1" smtClean="0"/>
              <a:t>ProcessHandle</a:t>
            </a:r>
            <a:endParaRPr lang="fr-FR" sz="3200" b="1" dirty="0" smtClean="0"/>
          </a:p>
          <a:p>
            <a:pPr>
              <a:lnSpc>
                <a:spcPct val="150000"/>
              </a:lnSpc>
              <a:buFont typeface="Wingdings" panose="05000000000000000000" pitchFamily="2" charset="2"/>
              <a:buChar char="Ø"/>
            </a:pPr>
            <a:r>
              <a:rPr lang="fr-FR" sz="3200" dirty="0"/>
              <a:t> Notification et surveillance des </a:t>
            </a:r>
            <a:r>
              <a:rPr lang="fr-FR" sz="3200" dirty="0" smtClean="0"/>
              <a:t>processus</a:t>
            </a:r>
          </a:p>
          <a:p>
            <a:pPr>
              <a:lnSpc>
                <a:spcPct val="150000"/>
              </a:lnSpc>
              <a:buFont typeface="Wingdings" panose="05000000000000000000" pitchFamily="2" charset="2"/>
              <a:buChar char="Ø"/>
            </a:pPr>
            <a:r>
              <a:rPr lang="fr-FR" sz="3200" dirty="0"/>
              <a:t> Accès aux métadonnées des </a:t>
            </a:r>
            <a:r>
              <a:rPr lang="fr-FR" sz="3200" dirty="0" smtClean="0"/>
              <a:t>processus</a:t>
            </a:r>
          </a:p>
          <a:p>
            <a:pPr>
              <a:lnSpc>
                <a:spcPct val="150000"/>
              </a:lnSpc>
              <a:buFont typeface="Wingdings" panose="05000000000000000000" pitchFamily="2" charset="2"/>
              <a:buChar char="Ø"/>
            </a:pPr>
            <a:r>
              <a:rPr lang="fr-FR" sz="3200" dirty="0"/>
              <a:t> Support des processus parents et enfants</a:t>
            </a:r>
          </a:p>
        </p:txBody>
      </p:sp>
    </p:spTree>
    <p:extLst>
      <p:ext uri="{BB962C8B-B14F-4D97-AF65-F5344CB8AC3E}">
        <p14:creationId xmlns:p14="http://schemas.microsoft.com/office/powerpoint/2010/main" val="1298595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Amélioration de la gestion des processus enfants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L'API permet d'interagir plus facilement avec les processus enfants créés à partir de l'application Java</a:t>
            </a:r>
            <a:r>
              <a:rPr lang="fr-FR" sz="2800" dirty="0" smtClean="0"/>
              <a:t>.</a:t>
            </a:r>
          </a:p>
          <a:p>
            <a:pPr algn="just">
              <a:lnSpc>
                <a:spcPct val="150000"/>
              </a:lnSpc>
              <a:buFont typeface="Wingdings" panose="05000000000000000000" pitchFamily="2" charset="2"/>
              <a:buChar char="Ø"/>
            </a:pPr>
            <a:r>
              <a:rPr lang="fr-FR" sz="2800" dirty="0"/>
              <a:t> </a:t>
            </a:r>
            <a:r>
              <a:rPr lang="fr-FR" sz="2800" dirty="0" smtClean="0"/>
              <a:t>Vous </a:t>
            </a:r>
            <a:r>
              <a:rPr lang="fr-FR" sz="2800" dirty="0"/>
              <a:t>pouvez obtenir des informations détaillées sur un processus enfant, comme son ID, son statut, ou son temps d'exécution.</a:t>
            </a:r>
          </a:p>
        </p:txBody>
      </p:sp>
      <p:pic>
        <p:nvPicPr>
          <p:cNvPr id="4" name="Image 3"/>
          <p:cNvPicPr>
            <a:picLocks noChangeAspect="1"/>
          </p:cNvPicPr>
          <p:nvPr/>
        </p:nvPicPr>
        <p:blipFill>
          <a:blip r:embed="rId2"/>
          <a:stretch>
            <a:fillRect/>
          </a:stretch>
        </p:blipFill>
        <p:spPr>
          <a:xfrm>
            <a:off x="1256453" y="4702446"/>
            <a:ext cx="9740053" cy="1654916"/>
          </a:xfrm>
          <a:prstGeom prst="rect">
            <a:avLst/>
          </a:prstGeom>
        </p:spPr>
      </p:pic>
    </p:spTree>
    <p:extLst>
      <p:ext uri="{BB962C8B-B14F-4D97-AF65-F5344CB8AC3E}">
        <p14:creationId xmlns:p14="http://schemas.microsoft.com/office/powerpoint/2010/main" val="424128830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Nouvelle interface </a:t>
            </a:r>
            <a:r>
              <a:rPr lang="fr-FR" b="1" dirty="0" err="1"/>
              <a:t>ProcessHandle</a:t>
            </a:r>
            <a:endParaRPr lang="fr-FR" b="1" dirty="0"/>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2400" dirty="0"/>
              <a:t> </a:t>
            </a:r>
            <a:r>
              <a:rPr lang="fr-FR" sz="2400" dirty="0" smtClean="0"/>
              <a:t>Introduite </a:t>
            </a:r>
            <a:r>
              <a:rPr lang="fr-FR" sz="2400" dirty="0"/>
              <a:t>pour représenter et manipuler des processus</a:t>
            </a:r>
            <a:r>
              <a:rPr lang="fr-FR" sz="2400" dirty="0" smtClean="0"/>
              <a:t>.</a:t>
            </a:r>
          </a:p>
          <a:p>
            <a:pPr algn="just">
              <a:buFont typeface="Wingdings" panose="05000000000000000000" pitchFamily="2" charset="2"/>
              <a:buChar char="Ø"/>
            </a:pPr>
            <a:r>
              <a:rPr lang="fr-FR" sz="2400" dirty="0"/>
              <a:t> </a:t>
            </a:r>
            <a:r>
              <a:rPr lang="fr-FR" sz="2400" dirty="0" smtClean="0"/>
              <a:t>Permet </a:t>
            </a:r>
            <a:r>
              <a:rPr lang="fr-FR" sz="2400" dirty="0"/>
              <a:t>d'obtenir des informations sur le processus courant ou tout autre processus (si les permissions le permettent</a:t>
            </a:r>
            <a:r>
              <a:rPr lang="fr-FR" sz="2400" dirty="0" smtClean="0"/>
              <a:t>).</a:t>
            </a:r>
          </a:p>
          <a:p>
            <a:pPr algn="just">
              <a:buFont typeface="Wingdings" panose="05000000000000000000" pitchFamily="2" charset="2"/>
              <a:buChar char="Ø"/>
            </a:pPr>
            <a:r>
              <a:rPr lang="fr-FR" sz="2400" dirty="0"/>
              <a:t> Fonctionnalités </a:t>
            </a:r>
            <a:r>
              <a:rPr lang="fr-FR" sz="2400" dirty="0" smtClean="0"/>
              <a:t>:</a:t>
            </a:r>
          </a:p>
          <a:p>
            <a:pPr lvl="1" algn="just">
              <a:buFont typeface="Wingdings" panose="05000000000000000000" pitchFamily="2" charset="2"/>
              <a:buChar char="Ø"/>
            </a:pPr>
            <a:r>
              <a:rPr lang="fr-FR" sz="2000" dirty="0"/>
              <a:t> Accéder à l'ID du processus : </a:t>
            </a:r>
            <a:r>
              <a:rPr lang="fr-FR" sz="2000" b="1" dirty="0" err="1" smtClean="0"/>
              <a:t>ProcessHandle#pid.y</a:t>
            </a:r>
            <a:endParaRPr lang="fr-FR" sz="2000" b="1" dirty="0" smtClean="0"/>
          </a:p>
          <a:p>
            <a:pPr lvl="1" algn="just">
              <a:buFont typeface="Wingdings" panose="05000000000000000000" pitchFamily="2" charset="2"/>
              <a:buChar char="Ø"/>
            </a:pPr>
            <a:r>
              <a:rPr lang="fr-FR" sz="2000" dirty="0"/>
              <a:t> </a:t>
            </a:r>
            <a:r>
              <a:rPr lang="fr-FR" sz="2000" dirty="0" smtClean="0"/>
              <a:t>Vérifier </a:t>
            </a:r>
            <a:r>
              <a:rPr lang="fr-FR" sz="2000" dirty="0"/>
              <a:t>si un processus est encore en cours : </a:t>
            </a:r>
            <a:r>
              <a:rPr lang="fr-FR" sz="2000" b="1" dirty="0" err="1"/>
              <a:t>ProcessHandle#isAlive</a:t>
            </a:r>
            <a:r>
              <a:rPr lang="fr-FR" sz="2000" dirty="0" smtClean="0"/>
              <a:t>.</a:t>
            </a:r>
          </a:p>
          <a:p>
            <a:pPr lvl="1" algn="just">
              <a:buFont typeface="Wingdings" panose="05000000000000000000" pitchFamily="2" charset="2"/>
              <a:buChar char="Ø"/>
            </a:pPr>
            <a:r>
              <a:rPr lang="fr-FR" sz="2000" dirty="0" smtClean="0"/>
              <a:t> Terminer </a:t>
            </a:r>
            <a:r>
              <a:rPr lang="fr-FR" sz="2000" dirty="0"/>
              <a:t>un processus : </a:t>
            </a:r>
            <a:r>
              <a:rPr lang="fr-FR" sz="2000" b="1" dirty="0" err="1"/>
              <a:t>ProcessHandle#destroy</a:t>
            </a:r>
            <a:r>
              <a:rPr lang="fr-FR" sz="2000" dirty="0" smtClean="0"/>
              <a:t>.</a:t>
            </a:r>
          </a:p>
          <a:p>
            <a:pPr lvl="1" algn="just">
              <a:buFont typeface="Wingdings" panose="05000000000000000000" pitchFamily="2" charset="2"/>
              <a:buChar char="Ø"/>
            </a:pPr>
            <a:r>
              <a:rPr lang="fr-FR" sz="2000" dirty="0" smtClean="0"/>
              <a:t> Accéder </a:t>
            </a:r>
            <a:r>
              <a:rPr lang="fr-FR" sz="2000" dirty="0"/>
              <a:t>aux processus parents et enfants : </a:t>
            </a:r>
            <a:r>
              <a:rPr lang="fr-FR" sz="2000" b="1" dirty="0" err="1"/>
              <a:t>ProcessHandle#parent</a:t>
            </a:r>
            <a:r>
              <a:rPr lang="fr-FR" sz="2000" dirty="0"/>
              <a:t> et </a:t>
            </a:r>
            <a:r>
              <a:rPr lang="fr-FR" sz="2000" b="1" dirty="0" err="1"/>
              <a:t>ProcessHandle#children</a:t>
            </a:r>
            <a:r>
              <a:rPr lang="fr-FR" sz="2000" dirty="0"/>
              <a:t>.</a:t>
            </a:r>
          </a:p>
        </p:txBody>
      </p:sp>
      <p:pic>
        <p:nvPicPr>
          <p:cNvPr id="7" name="Image 6"/>
          <p:cNvPicPr>
            <a:picLocks noChangeAspect="1"/>
          </p:cNvPicPr>
          <p:nvPr/>
        </p:nvPicPr>
        <p:blipFill>
          <a:blip r:embed="rId2"/>
          <a:stretch>
            <a:fillRect/>
          </a:stretch>
        </p:blipFill>
        <p:spPr>
          <a:xfrm>
            <a:off x="1866348" y="5275897"/>
            <a:ext cx="8856133" cy="1186393"/>
          </a:xfrm>
          <a:prstGeom prst="rect">
            <a:avLst/>
          </a:prstGeom>
        </p:spPr>
      </p:pic>
    </p:spTree>
    <p:extLst>
      <p:ext uri="{BB962C8B-B14F-4D97-AF65-F5344CB8AC3E}">
        <p14:creationId xmlns:p14="http://schemas.microsoft.com/office/powerpoint/2010/main" val="1452051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down)">
                                      <p:cBhvr>
                                        <p:cTn id="20" dur="500"/>
                                        <p:tgtEl>
                                          <p:spTgt spid="3">
                                            <p:txEl>
                                              <p:pRg st="3" end="3"/>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down)">
                                      <p:cBhvr>
                                        <p:cTn id="23" dur="500"/>
                                        <p:tgtEl>
                                          <p:spTgt spid="3">
                                            <p:txEl>
                                              <p:pRg st="4" end="4"/>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down)">
                                      <p:cBhvr>
                                        <p:cTn id="26" dur="500"/>
                                        <p:tgtEl>
                                          <p:spTgt spid="3">
                                            <p:txEl>
                                              <p:pRg st="5" end="5"/>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down)">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6" presetClass="entr" presetSubtype="0"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down)">
                                      <p:cBhvr>
                                        <p:cTn id="34" dur="580">
                                          <p:stCondLst>
                                            <p:cond delay="0"/>
                                          </p:stCondLst>
                                        </p:cTn>
                                        <p:tgtEl>
                                          <p:spTgt spid="7"/>
                                        </p:tgtEl>
                                      </p:cBhvr>
                                    </p:animEffect>
                                    <p:anim calcmode="lin" valueType="num">
                                      <p:cBhvr>
                                        <p:cTn id="35"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6"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7"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8"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9"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40" dur="26">
                                          <p:stCondLst>
                                            <p:cond delay="650"/>
                                          </p:stCondLst>
                                        </p:cTn>
                                        <p:tgtEl>
                                          <p:spTgt spid="7"/>
                                        </p:tgtEl>
                                      </p:cBhvr>
                                      <p:to x="100000" y="60000"/>
                                    </p:animScale>
                                    <p:animScale>
                                      <p:cBhvr>
                                        <p:cTn id="41" dur="166" decel="50000">
                                          <p:stCondLst>
                                            <p:cond delay="676"/>
                                          </p:stCondLst>
                                        </p:cTn>
                                        <p:tgtEl>
                                          <p:spTgt spid="7"/>
                                        </p:tgtEl>
                                      </p:cBhvr>
                                      <p:to x="100000" y="100000"/>
                                    </p:animScale>
                                    <p:animScale>
                                      <p:cBhvr>
                                        <p:cTn id="42" dur="26">
                                          <p:stCondLst>
                                            <p:cond delay="1312"/>
                                          </p:stCondLst>
                                        </p:cTn>
                                        <p:tgtEl>
                                          <p:spTgt spid="7"/>
                                        </p:tgtEl>
                                      </p:cBhvr>
                                      <p:to x="100000" y="80000"/>
                                    </p:animScale>
                                    <p:animScale>
                                      <p:cBhvr>
                                        <p:cTn id="43" dur="166" decel="50000">
                                          <p:stCondLst>
                                            <p:cond delay="1338"/>
                                          </p:stCondLst>
                                        </p:cTn>
                                        <p:tgtEl>
                                          <p:spTgt spid="7"/>
                                        </p:tgtEl>
                                      </p:cBhvr>
                                      <p:to x="100000" y="100000"/>
                                    </p:animScale>
                                    <p:animScale>
                                      <p:cBhvr>
                                        <p:cTn id="44" dur="26">
                                          <p:stCondLst>
                                            <p:cond delay="1642"/>
                                          </p:stCondLst>
                                        </p:cTn>
                                        <p:tgtEl>
                                          <p:spTgt spid="7"/>
                                        </p:tgtEl>
                                      </p:cBhvr>
                                      <p:to x="100000" y="90000"/>
                                    </p:animScale>
                                    <p:animScale>
                                      <p:cBhvr>
                                        <p:cTn id="45" dur="166" decel="50000">
                                          <p:stCondLst>
                                            <p:cond delay="1668"/>
                                          </p:stCondLst>
                                        </p:cTn>
                                        <p:tgtEl>
                                          <p:spTgt spid="7"/>
                                        </p:tgtEl>
                                      </p:cBhvr>
                                      <p:to x="100000" y="100000"/>
                                    </p:animScale>
                                    <p:animScale>
                                      <p:cBhvr>
                                        <p:cTn id="46" dur="26">
                                          <p:stCondLst>
                                            <p:cond delay="1808"/>
                                          </p:stCondLst>
                                        </p:cTn>
                                        <p:tgtEl>
                                          <p:spTgt spid="7"/>
                                        </p:tgtEl>
                                      </p:cBhvr>
                                      <p:to x="100000" y="95000"/>
                                    </p:animScale>
                                    <p:animScale>
                                      <p:cBhvr>
                                        <p:cTn id="47"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Notification et surveillance des processus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Avec </a:t>
            </a:r>
            <a:r>
              <a:rPr lang="fr-FR" sz="2800" b="1" dirty="0" err="1"/>
              <a:t>ProcessHandle.onExit</a:t>
            </a:r>
            <a:r>
              <a:rPr lang="fr-FR" sz="2800" b="1" dirty="0"/>
              <a:t>()</a:t>
            </a:r>
            <a:r>
              <a:rPr lang="fr-FR" sz="2800" dirty="0"/>
              <a:t>, vous pouvez exécuter une action lorsque le processus se termine</a:t>
            </a:r>
            <a:r>
              <a:rPr lang="fr-FR" sz="2800" dirty="0" smtClean="0"/>
              <a:t>.</a:t>
            </a:r>
          </a:p>
          <a:p>
            <a:pPr algn="just">
              <a:lnSpc>
                <a:spcPct val="150000"/>
              </a:lnSpc>
              <a:buFont typeface="Wingdings" panose="05000000000000000000" pitchFamily="2" charset="2"/>
              <a:buChar char="Ø"/>
            </a:pPr>
            <a:r>
              <a:rPr lang="fr-FR" sz="2800" dirty="0"/>
              <a:t> </a:t>
            </a:r>
            <a:r>
              <a:rPr lang="fr-FR" sz="2800" dirty="0" smtClean="0"/>
              <a:t>Cela </a:t>
            </a:r>
            <a:r>
              <a:rPr lang="fr-FR" sz="2800" dirty="0"/>
              <a:t>facilite la surveillance asynchrone</a:t>
            </a:r>
            <a:r>
              <a:rPr lang="fr-FR" sz="2800" dirty="0" smtClean="0"/>
              <a:t>.</a:t>
            </a:r>
          </a:p>
          <a:p>
            <a:pPr algn="just">
              <a:lnSpc>
                <a:spcPct val="150000"/>
              </a:lnSpc>
              <a:buFont typeface="Wingdings" panose="05000000000000000000" pitchFamily="2" charset="2"/>
              <a:buChar char="Ø"/>
            </a:pPr>
            <a:r>
              <a:rPr lang="fr-FR" sz="2800" dirty="0"/>
              <a:t> </a:t>
            </a:r>
            <a:r>
              <a:rPr lang="fr-FR" sz="2800" dirty="0" smtClean="0"/>
              <a:t>Exemple :</a:t>
            </a:r>
            <a:endParaRPr lang="fr-FR" sz="2800" dirty="0"/>
          </a:p>
        </p:txBody>
      </p:sp>
      <p:pic>
        <p:nvPicPr>
          <p:cNvPr id="4" name="Image 3"/>
          <p:cNvPicPr>
            <a:picLocks noChangeAspect="1"/>
          </p:cNvPicPr>
          <p:nvPr/>
        </p:nvPicPr>
        <p:blipFill>
          <a:blip r:embed="rId2"/>
          <a:stretch>
            <a:fillRect/>
          </a:stretch>
        </p:blipFill>
        <p:spPr>
          <a:xfrm>
            <a:off x="1689947" y="4896126"/>
            <a:ext cx="9465733" cy="1409700"/>
          </a:xfrm>
          <a:prstGeom prst="rect">
            <a:avLst/>
          </a:prstGeom>
        </p:spPr>
      </p:pic>
    </p:spTree>
    <p:extLst>
      <p:ext uri="{BB962C8B-B14F-4D97-AF65-F5344CB8AC3E}">
        <p14:creationId xmlns:p14="http://schemas.microsoft.com/office/powerpoint/2010/main" val="40954996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Accès aux métadonnées des processus</a:t>
            </a:r>
          </a:p>
        </p:txBody>
      </p:sp>
      <p:sp>
        <p:nvSpPr>
          <p:cNvPr id="3" name="Espace réservé du contenu 2"/>
          <p:cNvSpPr>
            <a:spLocks noGrp="1"/>
          </p:cNvSpPr>
          <p:nvPr>
            <p:ph idx="1"/>
          </p:nvPr>
        </p:nvSpPr>
        <p:spPr/>
        <p:txBody>
          <a:bodyPr>
            <a:normAutofit/>
          </a:bodyPr>
          <a:lstStyle/>
          <a:p>
            <a:pPr algn="just">
              <a:lnSpc>
                <a:spcPct val="100000"/>
              </a:lnSpc>
              <a:buFont typeface="Wingdings" panose="05000000000000000000" pitchFamily="2" charset="2"/>
              <a:buChar char="Ø"/>
            </a:pPr>
            <a:r>
              <a:rPr lang="fr-FR" sz="2800" dirty="0"/>
              <a:t> Grâce à la classe </a:t>
            </a:r>
            <a:r>
              <a:rPr lang="fr-FR" sz="2800" b="1" dirty="0" err="1"/>
              <a:t>ProcessHandle.Info</a:t>
            </a:r>
            <a:r>
              <a:rPr lang="fr-FR" sz="2800" dirty="0"/>
              <a:t>, vous pouvez obtenir des détails comme </a:t>
            </a:r>
            <a:r>
              <a:rPr lang="fr-FR" sz="2800" dirty="0" smtClean="0"/>
              <a:t>:</a:t>
            </a:r>
          </a:p>
          <a:p>
            <a:pPr lvl="1" algn="just">
              <a:lnSpc>
                <a:spcPct val="100000"/>
              </a:lnSpc>
              <a:buFont typeface="Wingdings" panose="05000000000000000000" pitchFamily="2" charset="2"/>
              <a:buChar char="Ø"/>
            </a:pPr>
            <a:r>
              <a:rPr lang="fr-FR" sz="2400" dirty="0"/>
              <a:t> Le moment de démarrage du processus</a:t>
            </a:r>
            <a:r>
              <a:rPr lang="fr-FR" sz="2400" dirty="0" smtClean="0"/>
              <a:t>.</a:t>
            </a:r>
          </a:p>
          <a:p>
            <a:pPr lvl="1" algn="just">
              <a:lnSpc>
                <a:spcPct val="100000"/>
              </a:lnSpc>
              <a:buFont typeface="Wingdings" panose="05000000000000000000" pitchFamily="2" charset="2"/>
              <a:buChar char="Ø"/>
            </a:pPr>
            <a:r>
              <a:rPr lang="fr-FR" sz="2400" dirty="0" smtClean="0"/>
              <a:t> La </a:t>
            </a:r>
            <a:r>
              <a:rPr lang="fr-FR" sz="2400" dirty="0"/>
              <a:t>durée d'exécution</a:t>
            </a:r>
            <a:r>
              <a:rPr lang="fr-FR" sz="2400" dirty="0" smtClean="0"/>
              <a:t>.</a:t>
            </a:r>
          </a:p>
          <a:p>
            <a:pPr lvl="1" algn="just">
              <a:lnSpc>
                <a:spcPct val="100000"/>
              </a:lnSpc>
              <a:buFont typeface="Wingdings" panose="05000000000000000000" pitchFamily="2" charset="2"/>
              <a:buChar char="Ø"/>
            </a:pPr>
            <a:r>
              <a:rPr lang="fr-FR" sz="2400" dirty="0" smtClean="0"/>
              <a:t> Les </a:t>
            </a:r>
            <a:r>
              <a:rPr lang="fr-FR" sz="2400" dirty="0"/>
              <a:t>arguments utilisés pour démarrer le processus</a:t>
            </a:r>
            <a:r>
              <a:rPr lang="fr-FR" sz="2400" dirty="0" smtClean="0"/>
              <a:t>.</a:t>
            </a:r>
          </a:p>
          <a:p>
            <a:pPr lvl="1" algn="just">
              <a:lnSpc>
                <a:spcPct val="100000"/>
              </a:lnSpc>
              <a:buFont typeface="Wingdings" panose="05000000000000000000" pitchFamily="2" charset="2"/>
              <a:buChar char="Ø"/>
            </a:pPr>
            <a:r>
              <a:rPr lang="fr-FR" sz="2400" dirty="0"/>
              <a:t> </a:t>
            </a:r>
            <a:r>
              <a:rPr lang="fr-FR" sz="2400" dirty="0" smtClean="0"/>
              <a:t>Le </a:t>
            </a:r>
            <a:r>
              <a:rPr lang="fr-FR" sz="2400" dirty="0"/>
              <a:t>nom du processus.</a:t>
            </a:r>
          </a:p>
        </p:txBody>
      </p:sp>
      <p:pic>
        <p:nvPicPr>
          <p:cNvPr id="6" name="Image 5"/>
          <p:cNvPicPr>
            <a:picLocks noChangeAspect="1"/>
          </p:cNvPicPr>
          <p:nvPr/>
        </p:nvPicPr>
        <p:blipFill>
          <a:blip r:embed="rId2"/>
          <a:stretch>
            <a:fillRect/>
          </a:stretch>
        </p:blipFill>
        <p:spPr>
          <a:xfrm>
            <a:off x="1588348" y="4533275"/>
            <a:ext cx="9567332" cy="2011680"/>
          </a:xfrm>
          <a:prstGeom prst="rect">
            <a:avLst/>
          </a:prstGeom>
        </p:spPr>
      </p:pic>
    </p:spTree>
    <p:extLst>
      <p:ext uri="{BB962C8B-B14F-4D97-AF65-F5344CB8AC3E}">
        <p14:creationId xmlns:p14="http://schemas.microsoft.com/office/powerpoint/2010/main" val="33035069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Support des processus parents et enfants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a:t> Vous pouvez naviguer dans une hiérarchie de processus (parent et enfants).</a:t>
            </a:r>
          </a:p>
          <a:p>
            <a:pPr algn="just">
              <a:lnSpc>
                <a:spcPct val="150000"/>
              </a:lnSpc>
              <a:buFont typeface="Wingdings" panose="05000000000000000000" pitchFamily="2" charset="2"/>
              <a:buChar char="Ø"/>
            </a:pPr>
            <a:r>
              <a:rPr lang="fr-FR" sz="3600" dirty="0" smtClean="0"/>
              <a:t> Utile </a:t>
            </a:r>
            <a:r>
              <a:rPr lang="fr-FR" sz="3600" dirty="0"/>
              <a:t>pour les applications qui gèrent plusieurs processus simultanément.</a:t>
            </a:r>
          </a:p>
          <a:p>
            <a:pPr algn="just">
              <a:lnSpc>
                <a:spcPct val="150000"/>
              </a:lnSpc>
              <a:buFont typeface="Wingdings" panose="05000000000000000000" pitchFamily="2" charset="2"/>
              <a:buChar char="Ø"/>
            </a:pPr>
            <a:endParaRPr lang="fr-FR" sz="3600" dirty="0"/>
          </a:p>
        </p:txBody>
      </p:sp>
    </p:spTree>
    <p:extLst>
      <p:ext uri="{BB962C8B-B14F-4D97-AF65-F5344CB8AC3E}">
        <p14:creationId xmlns:p14="http://schemas.microsoft.com/office/powerpoint/2010/main" val="112590626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Avantages principaux </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a:t>
            </a:r>
            <a:r>
              <a:rPr lang="fr-FR" sz="2800" b="1" dirty="0"/>
              <a:t>Contrôle amélioré </a:t>
            </a:r>
            <a:r>
              <a:rPr lang="fr-FR" sz="2800" dirty="0"/>
              <a:t>: Une meilleure maîtrise des processus système</a:t>
            </a:r>
            <a:r>
              <a:rPr lang="fr-FR" sz="2800" dirty="0" smtClean="0"/>
              <a:t>.</a:t>
            </a:r>
          </a:p>
          <a:p>
            <a:pPr algn="just">
              <a:lnSpc>
                <a:spcPct val="150000"/>
              </a:lnSpc>
              <a:buFont typeface="Wingdings" panose="05000000000000000000" pitchFamily="2" charset="2"/>
              <a:buChar char="Ø"/>
            </a:pPr>
            <a:r>
              <a:rPr lang="fr-FR" sz="2800" dirty="0" smtClean="0"/>
              <a:t> </a:t>
            </a:r>
            <a:r>
              <a:rPr lang="fr-FR" sz="2800" b="1" dirty="0" smtClean="0"/>
              <a:t>Programmation </a:t>
            </a:r>
            <a:r>
              <a:rPr lang="fr-FR" sz="2800" b="1" dirty="0"/>
              <a:t>asynchrone </a:t>
            </a:r>
            <a:r>
              <a:rPr lang="fr-FR" sz="2800" dirty="0"/>
              <a:t>: Gestion simplifiée des événements liés aux processus</a:t>
            </a:r>
            <a:r>
              <a:rPr lang="fr-FR" sz="2800" dirty="0" smtClean="0"/>
              <a:t>.</a:t>
            </a:r>
          </a:p>
          <a:p>
            <a:pPr algn="just">
              <a:lnSpc>
                <a:spcPct val="150000"/>
              </a:lnSpc>
              <a:buFont typeface="Wingdings" panose="05000000000000000000" pitchFamily="2" charset="2"/>
              <a:buChar char="Ø"/>
            </a:pPr>
            <a:r>
              <a:rPr lang="fr-FR" sz="2800" dirty="0"/>
              <a:t> </a:t>
            </a:r>
            <a:r>
              <a:rPr lang="fr-FR" sz="2800" b="1" dirty="0" smtClean="0"/>
              <a:t>Informations </a:t>
            </a:r>
            <a:r>
              <a:rPr lang="fr-FR" sz="2800" b="1" dirty="0"/>
              <a:t>enrichies </a:t>
            </a:r>
            <a:r>
              <a:rPr lang="fr-FR" sz="2800" dirty="0"/>
              <a:t>: Accès à des métadonnées pour un diagnostic approfondi.</a:t>
            </a:r>
          </a:p>
        </p:txBody>
      </p:sp>
    </p:spTree>
    <p:extLst>
      <p:ext uri="{BB962C8B-B14F-4D97-AF65-F5344CB8AC3E}">
        <p14:creationId xmlns:p14="http://schemas.microsoft.com/office/powerpoint/2010/main" val="3692575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Cas D’utilisation</a:t>
            </a:r>
            <a:endParaRPr lang="fr-FR" b="1" dirty="0"/>
          </a:p>
        </p:txBody>
      </p:sp>
      <p:sp>
        <p:nvSpPr>
          <p:cNvPr id="3" name="Espace réservé du contenu 2"/>
          <p:cNvSpPr>
            <a:spLocks noGrp="1"/>
          </p:cNvSpPr>
          <p:nvPr>
            <p:ph idx="1"/>
          </p:nvPr>
        </p:nvSpPr>
        <p:spPr/>
        <p:txBody>
          <a:bodyPr/>
          <a:lstStyle/>
          <a:p>
            <a:pPr marL="457200" indent="-457200">
              <a:buFont typeface="+mj-lt"/>
              <a:buAutoNum type="arabicPeriod"/>
            </a:pPr>
            <a:r>
              <a:rPr lang="fr-FR" dirty="0"/>
              <a:t> Lancer des applications </a:t>
            </a:r>
            <a:r>
              <a:rPr lang="fr-FR" dirty="0" smtClean="0"/>
              <a:t>externes</a:t>
            </a:r>
          </a:p>
          <a:p>
            <a:pPr marL="457200" indent="-457200">
              <a:buFont typeface="+mj-lt"/>
              <a:buAutoNum type="arabicPeriod"/>
            </a:pPr>
            <a:r>
              <a:rPr lang="fr-FR" dirty="0"/>
              <a:t>Surveillance d'un processus </a:t>
            </a:r>
            <a:r>
              <a:rPr lang="fr-FR" dirty="0" smtClean="0"/>
              <a:t>enfant</a:t>
            </a:r>
          </a:p>
          <a:p>
            <a:pPr marL="457200" indent="-457200">
              <a:buFont typeface="+mj-lt"/>
              <a:buAutoNum type="arabicPeriod"/>
            </a:pPr>
            <a:r>
              <a:rPr lang="fr-FR" dirty="0"/>
              <a:t>Automatisation de tâches </a:t>
            </a:r>
            <a:r>
              <a:rPr lang="fr-FR" dirty="0" smtClean="0"/>
              <a:t>système</a:t>
            </a:r>
          </a:p>
          <a:p>
            <a:pPr marL="457200" indent="-457200">
              <a:buFont typeface="+mj-lt"/>
              <a:buAutoNum type="arabicPeriod"/>
            </a:pPr>
            <a:r>
              <a:rPr lang="fr-FR" dirty="0"/>
              <a:t>Monitoring des processus </a:t>
            </a:r>
            <a:r>
              <a:rPr lang="fr-FR" dirty="0" smtClean="0"/>
              <a:t>système</a:t>
            </a:r>
          </a:p>
          <a:p>
            <a:pPr marL="457200" indent="-457200">
              <a:buFont typeface="+mj-lt"/>
              <a:buAutoNum type="arabicPeriod"/>
            </a:pPr>
            <a:r>
              <a:rPr lang="fr-FR" dirty="0"/>
              <a:t>Gestion des processus parents et enfants dans des applications </a:t>
            </a:r>
            <a:r>
              <a:rPr lang="fr-FR" dirty="0" err="1" smtClean="0"/>
              <a:t>multi-processus</a:t>
            </a:r>
            <a:endParaRPr lang="fr-FR" dirty="0" smtClean="0"/>
          </a:p>
          <a:p>
            <a:pPr marL="457200" indent="-457200">
              <a:buFont typeface="+mj-lt"/>
              <a:buAutoNum type="arabicPeriod"/>
            </a:pPr>
            <a:r>
              <a:rPr lang="fr-FR" dirty="0"/>
              <a:t>Exécution sécurisée de commandes </a:t>
            </a:r>
            <a:r>
              <a:rPr lang="fr-FR" dirty="0" smtClean="0"/>
              <a:t>système</a:t>
            </a:r>
          </a:p>
          <a:p>
            <a:pPr marL="457200" indent="-457200">
              <a:buFont typeface="+mj-lt"/>
              <a:buAutoNum type="arabicPeriod"/>
            </a:pPr>
            <a:r>
              <a:rPr lang="fr-FR" dirty="0"/>
              <a:t>Kill ou redémarrage de processus </a:t>
            </a:r>
            <a:r>
              <a:rPr lang="fr-FR" dirty="0" smtClean="0"/>
              <a:t>spécifiques</a:t>
            </a:r>
          </a:p>
          <a:p>
            <a:pPr marL="457200" indent="-457200">
              <a:buFont typeface="+mj-lt"/>
              <a:buAutoNum type="arabicPeriod"/>
            </a:pPr>
            <a:r>
              <a:rPr lang="fr-FR" dirty="0"/>
              <a:t>Planification de tâches </a:t>
            </a:r>
            <a:r>
              <a:rPr lang="fr-FR" dirty="0" smtClean="0"/>
              <a:t>asynchrones</a:t>
            </a:r>
          </a:p>
          <a:p>
            <a:pPr marL="457200" indent="-457200">
              <a:buFont typeface="+mj-lt"/>
              <a:buAutoNum type="arabicPeriod"/>
            </a:pPr>
            <a:endParaRPr lang="fr-FR" dirty="0"/>
          </a:p>
        </p:txBody>
      </p:sp>
    </p:spTree>
    <p:extLst>
      <p:ext uri="{BB962C8B-B14F-4D97-AF65-F5344CB8AC3E}">
        <p14:creationId xmlns:p14="http://schemas.microsoft.com/office/powerpoint/2010/main" val="3000102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Lancer des applications externes</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Vous pouvez utiliser l'API </a:t>
            </a:r>
            <a:r>
              <a:rPr lang="fr-FR" dirty="0" err="1"/>
              <a:t>Process</a:t>
            </a:r>
            <a:r>
              <a:rPr lang="fr-FR" dirty="0"/>
              <a:t> pour lancer des applications ou commandes système externes depuis une application Java</a:t>
            </a:r>
            <a:r>
              <a:rPr lang="fr-FR" dirty="0" smtClean="0"/>
              <a:t>.</a:t>
            </a:r>
          </a:p>
          <a:p>
            <a:pPr>
              <a:buFont typeface="Wingdings" panose="05000000000000000000" pitchFamily="2" charset="2"/>
              <a:buChar char="Ø"/>
            </a:pPr>
            <a:r>
              <a:rPr lang="fr-FR" dirty="0"/>
              <a:t> Cas d'utilisation </a:t>
            </a:r>
            <a:r>
              <a:rPr lang="fr-FR" dirty="0" smtClean="0"/>
              <a:t>:</a:t>
            </a:r>
          </a:p>
          <a:p>
            <a:pPr lvl="1">
              <a:buFont typeface="Wingdings" panose="05000000000000000000" pitchFamily="2" charset="2"/>
              <a:buChar char="Ø"/>
            </a:pPr>
            <a:r>
              <a:rPr lang="fr-FR" dirty="0"/>
              <a:t> Lancer un éditeur de texte pour afficher un fichier</a:t>
            </a:r>
            <a:r>
              <a:rPr lang="fr-FR" dirty="0" smtClean="0"/>
              <a:t>.</a:t>
            </a:r>
          </a:p>
          <a:p>
            <a:pPr lvl="1">
              <a:buFont typeface="Wingdings" panose="05000000000000000000" pitchFamily="2" charset="2"/>
              <a:buChar char="Ø"/>
            </a:pPr>
            <a:r>
              <a:rPr lang="fr-FR" dirty="0"/>
              <a:t> </a:t>
            </a:r>
            <a:r>
              <a:rPr lang="fr-FR" dirty="0" smtClean="0"/>
              <a:t>Démarrer </a:t>
            </a:r>
            <a:r>
              <a:rPr lang="fr-FR" dirty="0"/>
              <a:t>un serveur ou un script </a:t>
            </a:r>
            <a:r>
              <a:rPr lang="fr-FR" dirty="0" err="1"/>
              <a:t>shell</a:t>
            </a:r>
            <a:r>
              <a:rPr lang="fr-FR" dirty="0"/>
              <a:t> depuis une application Java</a:t>
            </a:r>
            <a:r>
              <a:rPr lang="fr-FR" dirty="0" smtClean="0"/>
              <a:t>.</a:t>
            </a:r>
          </a:p>
          <a:p>
            <a:pPr>
              <a:buFont typeface="Wingdings" panose="05000000000000000000" pitchFamily="2" charset="2"/>
              <a:buChar char="Ø"/>
            </a:pPr>
            <a:r>
              <a:rPr lang="fr-FR" dirty="0"/>
              <a:t> </a:t>
            </a:r>
            <a:r>
              <a:rPr lang="fr-FR" dirty="0" smtClean="0"/>
              <a:t>Exemple :</a:t>
            </a:r>
            <a:endParaRPr lang="fr-FR" dirty="0"/>
          </a:p>
        </p:txBody>
      </p:sp>
      <p:pic>
        <p:nvPicPr>
          <p:cNvPr id="5" name="Image 4"/>
          <p:cNvPicPr>
            <a:picLocks noChangeAspect="1"/>
          </p:cNvPicPr>
          <p:nvPr/>
        </p:nvPicPr>
        <p:blipFill>
          <a:blip r:embed="rId2"/>
          <a:stretch>
            <a:fillRect/>
          </a:stretch>
        </p:blipFill>
        <p:spPr>
          <a:xfrm>
            <a:off x="1557867" y="4404254"/>
            <a:ext cx="9431866" cy="1234546"/>
          </a:xfrm>
          <a:prstGeom prst="rect">
            <a:avLst/>
          </a:prstGeom>
        </p:spPr>
      </p:pic>
    </p:spTree>
    <p:extLst>
      <p:ext uri="{BB962C8B-B14F-4D97-AF65-F5344CB8AC3E}">
        <p14:creationId xmlns:p14="http://schemas.microsoft.com/office/powerpoint/2010/main" val="1694390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down)">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6"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80">
                                          <p:stCondLst>
                                            <p:cond delay="0"/>
                                          </p:stCondLst>
                                        </p:cTn>
                                        <p:tgtEl>
                                          <p:spTgt spid="5"/>
                                        </p:tgtEl>
                                      </p:cBhvr>
                                    </p:animEffect>
                                    <p:anim calcmode="lin" valueType="num">
                                      <p:cBhvr>
                                        <p:cTn id="29"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34" dur="26">
                                          <p:stCondLst>
                                            <p:cond delay="650"/>
                                          </p:stCondLst>
                                        </p:cTn>
                                        <p:tgtEl>
                                          <p:spTgt spid="5"/>
                                        </p:tgtEl>
                                      </p:cBhvr>
                                      <p:to x="100000" y="60000"/>
                                    </p:animScale>
                                    <p:animScale>
                                      <p:cBhvr>
                                        <p:cTn id="35" dur="166" decel="50000">
                                          <p:stCondLst>
                                            <p:cond delay="676"/>
                                          </p:stCondLst>
                                        </p:cTn>
                                        <p:tgtEl>
                                          <p:spTgt spid="5"/>
                                        </p:tgtEl>
                                      </p:cBhvr>
                                      <p:to x="100000" y="100000"/>
                                    </p:animScale>
                                    <p:animScale>
                                      <p:cBhvr>
                                        <p:cTn id="36" dur="26">
                                          <p:stCondLst>
                                            <p:cond delay="1312"/>
                                          </p:stCondLst>
                                        </p:cTn>
                                        <p:tgtEl>
                                          <p:spTgt spid="5"/>
                                        </p:tgtEl>
                                      </p:cBhvr>
                                      <p:to x="100000" y="80000"/>
                                    </p:animScale>
                                    <p:animScale>
                                      <p:cBhvr>
                                        <p:cTn id="37" dur="166" decel="50000">
                                          <p:stCondLst>
                                            <p:cond delay="1338"/>
                                          </p:stCondLst>
                                        </p:cTn>
                                        <p:tgtEl>
                                          <p:spTgt spid="5"/>
                                        </p:tgtEl>
                                      </p:cBhvr>
                                      <p:to x="100000" y="100000"/>
                                    </p:animScale>
                                    <p:animScale>
                                      <p:cBhvr>
                                        <p:cTn id="38" dur="26">
                                          <p:stCondLst>
                                            <p:cond delay="1642"/>
                                          </p:stCondLst>
                                        </p:cTn>
                                        <p:tgtEl>
                                          <p:spTgt spid="5"/>
                                        </p:tgtEl>
                                      </p:cBhvr>
                                      <p:to x="100000" y="90000"/>
                                    </p:animScale>
                                    <p:animScale>
                                      <p:cBhvr>
                                        <p:cTn id="39" dur="166" decel="50000">
                                          <p:stCondLst>
                                            <p:cond delay="1668"/>
                                          </p:stCondLst>
                                        </p:cTn>
                                        <p:tgtEl>
                                          <p:spTgt spid="5"/>
                                        </p:tgtEl>
                                      </p:cBhvr>
                                      <p:to x="100000" y="100000"/>
                                    </p:animScale>
                                    <p:animScale>
                                      <p:cBhvr>
                                        <p:cTn id="40" dur="26">
                                          <p:stCondLst>
                                            <p:cond delay="1808"/>
                                          </p:stCondLst>
                                        </p:cTn>
                                        <p:tgtEl>
                                          <p:spTgt spid="5"/>
                                        </p:tgtEl>
                                      </p:cBhvr>
                                      <p:to x="100000" y="95000"/>
                                    </p:animScale>
                                    <p:animScale>
                                      <p:cBhvr>
                                        <p:cTn id="41"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Surveillance d'un processus enfant</a:t>
            </a:r>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2800" dirty="0"/>
              <a:t> Surveiller si un processus enfant (par exemple, une commande ou une application) s'exécute correctement ou s'il s'arrête de manière inattendue</a:t>
            </a:r>
            <a:r>
              <a:rPr lang="fr-FR" sz="2800" dirty="0" smtClean="0"/>
              <a:t>.</a:t>
            </a:r>
          </a:p>
          <a:p>
            <a:pPr algn="just">
              <a:buFont typeface="Wingdings" panose="05000000000000000000" pitchFamily="2" charset="2"/>
              <a:buChar char="Ø"/>
            </a:pPr>
            <a:r>
              <a:rPr lang="fr-FR" sz="2800" dirty="0"/>
              <a:t> Cas d'utilisation </a:t>
            </a:r>
            <a:r>
              <a:rPr lang="fr-FR" sz="2800" dirty="0" smtClean="0"/>
              <a:t>:</a:t>
            </a:r>
          </a:p>
          <a:p>
            <a:pPr lvl="1" algn="just">
              <a:buFont typeface="Wingdings" panose="05000000000000000000" pitchFamily="2" charset="2"/>
              <a:buChar char="Ø"/>
            </a:pPr>
            <a:r>
              <a:rPr lang="fr-FR" sz="2400" dirty="0"/>
              <a:t> Vérifier qu'une commande en ligne de commande s'est exécutée avec succès</a:t>
            </a:r>
            <a:r>
              <a:rPr lang="fr-FR" sz="2400" dirty="0" smtClean="0"/>
              <a:t>.</a:t>
            </a:r>
          </a:p>
          <a:p>
            <a:pPr lvl="1" algn="just">
              <a:buFont typeface="Wingdings" panose="05000000000000000000" pitchFamily="2" charset="2"/>
              <a:buChar char="Ø"/>
            </a:pPr>
            <a:r>
              <a:rPr lang="fr-FR" sz="2400" dirty="0"/>
              <a:t> Redémarrer un processus en cas d'échec.</a:t>
            </a:r>
          </a:p>
          <a:p>
            <a:pPr algn="just">
              <a:buFont typeface="Wingdings" panose="05000000000000000000" pitchFamily="2" charset="2"/>
              <a:buChar char="Ø"/>
            </a:pPr>
            <a:r>
              <a:rPr lang="fr-FR" sz="2800" dirty="0"/>
              <a:t> </a:t>
            </a:r>
            <a:r>
              <a:rPr lang="fr-FR" sz="2800" dirty="0" smtClean="0"/>
              <a:t>Exemple :</a:t>
            </a:r>
            <a:endParaRPr lang="fr-FR" sz="2800" dirty="0"/>
          </a:p>
        </p:txBody>
      </p:sp>
      <p:pic>
        <p:nvPicPr>
          <p:cNvPr id="4" name="Image 3"/>
          <p:cNvPicPr>
            <a:picLocks noChangeAspect="1"/>
          </p:cNvPicPr>
          <p:nvPr/>
        </p:nvPicPr>
        <p:blipFill>
          <a:blip r:embed="rId2"/>
          <a:stretch>
            <a:fillRect/>
          </a:stretch>
        </p:blipFill>
        <p:spPr>
          <a:xfrm>
            <a:off x="2937564" y="4813806"/>
            <a:ext cx="9110133" cy="1651636"/>
          </a:xfrm>
          <a:prstGeom prst="rect">
            <a:avLst/>
          </a:prstGeom>
        </p:spPr>
      </p:pic>
    </p:spTree>
    <p:extLst>
      <p:ext uri="{BB962C8B-B14F-4D97-AF65-F5344CB8AC3E}">
        <p14:creationId xmlns:p14="http://schemas.microsoft.com/office/powerpoint/2010/main" val="3536308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down)">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6"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down)">
                                      <p:cBhvr>
                                        <p:cTn id="28" dur="580">
                                          <p:stCondLst>
                                            <p:cond delay="0"/>
                                          </p:stCondLst>
                                        </p:cTn>
                                        <p:tgtEl>
                                          <p:spTgt spid="4"/>
                                        </p:tgtEl>
                                      </p:cBhvr>
                                    </p:animEffect>
                                    <p:anim calcmode="lin" valueType="num">
                                      <p:cBhvr>
                                        <p:cTn id="29"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4" dur="26">
                                          <p:stCondLst>
                                            <p:cond delay="650"/>
                                          </p:stCondLst>
                                        </p:cTn>
                                        <p:tgtEl>
                                          <p:spTgt spid="4"/>
                                        </p:tgtEl>
                                      </p:cBhvr>
                                      <p:to x="100000" y="60000"/>
                                    </p:animScale>
                                    <p:animScale>
                                      <p:cBhvr>
                                        <p:cTn id="35" dur="166" decel="50000">
                                          <p:stCondLst>
                                            <p:cond delay="676"/>
                                          </p:stCondLst>
                                        </p:cTn>
                                        <p:tgtEl>
                                          <p:spTgt spid="4"/>
                                        </p:tgtEl>
                                      </p:cBhvr>
                                      <p:to x="100000" y="100000"/>
                                    </p:animScale>
                                    <p:animScale>
                                      <p:cBhvr>
                                        <p:cTn id="36" dur="26">
                                          <p:stCondLst>
                                            <p:cond delay="1312"/>
                                          </p:stCondLst>
                                        </p:cTn>
                                        <p:tgtEl>
                                          <p:spTgt spid="4"/>
                                        </p:tgtEl>
                                      </p:cBhvr>
                                      <p:to x="100000" y="80000"/>
                                    </p:animScale>
                                    <p:animScale>
                                      <p:cBhvr>
                                        <p:cTn id="37" dur="166" decel="50000">
                                          <p:stCondLst>
                                            <p:cond delay="1338"/>
                                          </p:stCondLst>
                                        </p:cTn>
                                        <p:tgtEl>
                                          <p:spTgt spid="4"/>
                                        </p:tgtEl>
                                      </p:cBhvr>
                                      <p:to x="100000" y="100000"/>
                                    </p:animScale>
                                    <p:animScale>
                                      <p:cBhvr>
                                        <p:cTn id="38" dur="26">
                                          <p:stCondLst>
                                            <p:cond delay="1642"/>
                                          </p:stCondLst>
                                        </p:cTn>
                                        <p:tgtEl>
                                          <p:spTgt spid="4"/>
                                        </p:tgtEl>
                                      </p:cBhvr>
                                      <p:to x="100000" y="90000"/>
                                    </p:animScale>
                                    <p:animScale>
                                      <p:cBhvr>
                                        <p:cTn id="39" dur="166" decel="50000">
                                          <p:stCondLst>
                                            <p:cond delay="1668"/>
                                          </p:stCondLst>
                                        </p:cTn>
                                        <p:tgtEl>
                                          <p:spTgt spid="4"/>
                                        </p:tgtEl>
                                      </p:cBhvr>
                                      <p:to x="100000" y="100000"/>
                                    </p:animScale>
                                    <p:animScale>
                                      <p:cBhvr>
                                        <p:cTn id="40" dur="26">
                                          <p:stCondLst>
                                            <p:cond delay="1808"/>
                                          </p:stCondLst>
                                        </p:cTn>
                                        <p:tgtEl>
                                          <p:spTgt spid="4"/>
                                        </p:tgtEl>
                                      </p:cBhvr>
                                      <p:to x="100000" y="95000"/>
                                    </p:animScale>
                                    <p:animScale>
                                      <p:cBhvr>
                                        <p:cTn id="41"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Automatisation de tâches système</a:t>
            </a:r>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2800" dirty="0"/>
              <a:t> Utiliser Java pour automatiser des tâches comme </a:t>
            </a:r>
            <a:r>
              <a:rPr lang="fr-FR" sz="2800" dirty="0" smtClean="0"/>
              <a:t>:</a:t>
            </a:r>
          </a:p>
          <a:p>
            <a:pPr lvl="1" algn="just">
              <a:buFont typeface="Wingdings" panose="05000000000000000000" pitchFamily="2" charset="2"/>
              <a:buChar char="Ø"/>
            </a:pPr>
            <a:r>
              <a:rPr lang="fr-FR" sz="2400" dirty="0"/>
              <a:t> Nettoyage de fichiers inutiles</a:t>
            </a:r>
            <a:r>
              <a:rPr lang="fr-FR" sz="2400" dirty="0" smtClean="0"/>
              <a:t>.</a:t>
            </a:r>
          </a:p>
          <a:p>
            <a:pPr lvl="1" algn="just">
              <a:buFont typeface="Wingdings" panose="05000000000000000000" pitchFamily="2" charset="2"/>
              <a:buChar char="Ø"/>
            </a:pPr>
            <a:r>
              <a:rPr lang="fr-FR" sz="2400" dirty="0"/>
              <a:t> </a:t>
            </a:r>
            <a:r>
              <a:rPr lang="fr-FR" sz="2400" dirty="0" smtClean="0"/>
              <a:t>Compression </a:t>
            </a:r>
            <a:r>
              <a:rPr lang="fr-FR" sz="2400" dirty="0"/>
              <a:t>ou décompression de fichiers via des outils externes comme zip ou tar</a:t>
            </a:r>
            <a:r>
              <a:rPr lang="fr-FR" sz="2400" dirty="0" smtClean="0"/>
              <a:t>.</a:t>
            </a:r>
          </a:p>
          <a:p>
            <a:pPr lvl="1" algn="just">
              <a:buFont typeface="Wingdings" panose="05000000000000000000" pitchFamily="2" charset="2"/>
              <a:buChar char="Ø"/>
            </a:pPr>
            <a:r>
              <a:rPr lang="fr-FR" sz="2400" dirty="0"/>
              <a:t> </a:t>
            </a:r>
            <a:r>
              <a:rPr lang="fr-FR" sz="2400" dirty="0" smtClean="0"/>
              <a:t>Exécution </a:t>
            </a:r>
            <a:r>
              <a:rPr lang="fr-FR" sz="2400" dirty="0"/>
              <a:t>de scripts d'installation</a:t>
            </a:r>
            <a:r>
              <a:rPr lang="fr-FR" sz="2400" dirty="0" smtClean="0"/>
              <a:t>.</a:t>
            </a:r>
          </a:p>
          <a:p>
            <a:pPr algn="just">
              <a:buFont typeface="Wingdings" panose="05000000000000000000" pitchFamily="2" charset="2"/>
              <a:buChar char="Ø"/>
            </a:pPr>
            <a:r>
              <a:rPr lang="fr-FR" sz="2800" dirty="0" smtClean="0"/>
              <a:t>Exemple :</a:t>
            </a:r>
            <a:endParaRPr lang="fr-FR" sz="2800" dirty="0"/>
          </a:p>
        </p:txBody>
      </p:sp>
      <p:pic>
        <p:nvPicPr>
          <p:cNvPr id="5" name="Image 4"/>
          <p:cNvPicPr>
            <a:picLocks noChangeAspect="1"/>
          </p:cNvPicPr>
          <p:nvPr/>
        </p:nvPicPr>
        <p:blipFill>
          <a:blip r:embed="rId2"/>
          <a:stretch>
            <a:fillRect/>
          </a:stretch>
        </p:blipFill>
        <p:spPr>
          <a:xfrm>
            <a:off x="1656080" y="4580997"/>
            <a:ext cx="9499600" cy="1396471"/>
          </a:xfrm>
          <a:prstGeom prst="rect">
            <a:avLst/>
          </a:prstGeom>
        </p:spPr>
      </p:pic>
    </p:spTree>
    <p:extLst>
      <p:ext uri="{BB962C8B-B14F-4D97-AF65-F5344CB8AC3E}">
        <p14:creationId xmlns:p14="http://schemas.microsoft.com/office/powerpoint/2010/main" val="169101191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Monitoring des processus système</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a:t>
            </a:r>
            <a:r>
              <a:rPr lang="fr-FR" dirty="0" smtClean="0"/>
              <a:t>Lister </a:t>
            </a:r>
            <a:r>
              <a:rPr lang="fr-FR" dirty="0"/>
              <a:t>les processus en cours, surveiller leurs ressources (temps CPU, mémoire, etc.), ou interrompre un processus spécifique</a:t>
            </a:r>
            <a:r>
              <a:rPr lang="fr-FR" dirty="0" smtClean="0"/>
              <a:t>.</a:t>
            </a:r>
          </a:p>
          <a:p>
            <a:pPr>
              <a:buFont typeface="Wingdings" panose="05000000000000000000" pitchFamily="2" charset="2"/>
              <a:buChar char="Ø"/>
            </a:pPr>
            <a:r>
              <a:rPr lang="fr-FR" dirty="0"/>
              <a:t> Cas d'utilisation </a:t>
            </a:r>
            <a:r>
              <a:rPr lang="fr-FR" dirty="0" smtClean="0"/>
              <a:t>:</a:t>
            </a:r>
          </a:p>
          <a:p>
            <a:pPr lvl="1">
              <a:buFont typeface="Wingdings" panose="05000000000000000000" pitchFamily="2" charset="2"/>
              <a:buChar char="Ø"/>
            </a:pPr>
            <a:r>
              <a:rPr lang="fr-FR" dirty="0"/>
              <a:t> Surveiller des services critiques et redémarrer si nécessaire</a:t>
            </a:r>
            <a:r>
              <a:rPr lang="fr-FR" dirty="0" smtClean="0"/>
              <a:t>.</a:t>
            </a:r>
          </a:p>
          <a:p>
            <a:pPr lvl="1">
              <a:buFont typeface="Wingdings" panose="05000000000000000000" pitchFamily="2" charset="2"/>
              <a:buChar char="Ø"/>
            </a:pPr>
            <a:r>
              <a:rPr lang="fr-FR" dirty="0"/>
              <a:t> Obtenir des statistiques sur des processus liés à votre application</a:t>
            </a:r>
            <a:r>
              <a:rPr lang="fr-FR" dirty="0" smtClean="0"/>
              <a:t>.</a:t>
            </a:r>
          </a:p>
          <a:p>
            <a:pPr>
              <a:buFont typeface="Wingdings" panose="05000000000000000000" pitchFamily="2" charset="2"/>
              <a:buChar char="Ø"/>
            </a:pPr>
            <a:r>
              <a:rPr lang="fr-FR" dirty="0" smtClean="0"/>
              <a:t>Exemple :</a:t>
            </a:r>
            <a:endParaRPr lang="fr-FR" dirty="0"/>
          </a:p>
        </p:txBody>
      </p:sp>
      <p:pic>
        <p:nvPicPr>
          <p:cNvPr id="4" name="Image 3"/>
          <p:cNvPicPr>
            <a:picLocks noChangeAspect="1"/>
          </p:cNvPicPr>
          <p:nvPr/>
        </p:nvPicPr>
        <p:blipFill>
          <a:blip r:embed="rId2"/>
          <a:stretch>
            <a:fillRect/>
          </a:stretch>
        </p:blipFill>
        <p:spPr>
          <a:xfrm>
            <a:off x="1097280" y="4198407"/>
            <a:ext cx="9926320" cy="1999193"/>
          </a:xfrm>
          <a:prstGeom prst="rect">
            <a:avLst/>
          </a:prstGeom>
        </p:spPr>
      </p:pic>
    </p:spTree>
    <p:extLst>
      <p:ext uri="{BB962C8B-B14F-4D97-AF65-F5344CB8AC3E}">
        <p14:creationId xmlns:p14="http://schemas.microsoft.com/office/powerpoint/2010/main" val="32366859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t>Gestion des processus parents et enfants dans des applications </a:t>
            </a:r>
            <a:r>
              <a:rPr lang="fr-FR" b="1" dirty="0" err="1"/>
              <a:t>multi-processus</a:t>
            </a:r>
            <a:endParaRPr lang="fr-FR" b="1" dirty="0"/>
          </a:p>
        </p:txBody>
      </p:sp>
      <p:sp>
        <p:nvSpPr>
          <p:cNvPr id="3" name="Espace réservé du contenu 2"/>
          <p:cNvSpPr>
            <a:spLocks noGrp="1"/>
          </p:cNvSpPr>
          <p:nvPr>
            <p:ph idx="1"/>
          </p:nvPr>
        </p:nvSpPr>
        <p:spPr>
          <a:xfrm>
            <a:off x="1097280" y="1845733"/>
            <a:ext cx="10058400" cy="4023360"/>
          </a:xfrm>
        </p:spPr>
        <p:txBody>
          <a:bodyPr/>
          <a:lstStyle/>
          <a:p>
            <a:pPr>
              <a:buFont typeface="Wingdings" panose="05000000000000000000" pitchFamily="2" charset="2"/>
              <a:buChar char="Ø"/>
            </a:pPr>
            <a:r>
              <a:rPr lang="fr-FR" dirty="0"/>
              <a:t> Dans une application complexe qui lance plusieurs processus enfants (comme des serveurs ou des tâches parallèles), gérer leur état, leur hiérarchie, et leurs ressources</a:t>
            </a:r>
            <a:r>
              <a:rPr lang="fr-FR" dirty="0" smtClean="0"/>
              <a:t>.</a:t>
            </a:r>
          </a:p>
          <a:p>
            <a:pPr>
              <a:buFont typeface="Wingdings" panose="05000000000000000000" pitchFamily="2" charset="2"/>
              <a:buChar char="Ø"/>
            </a:pPr>
            <a:r>
              <a:rPr lang="fr-FR" dirty="0"/>
              <a:t> Cas d'utilisation </a:t>
            </a:r>
            <a:r>
              <a:rPr lang="fr-FR" dirty="0" smtClean="0"/>
              <a:t>:</a:t>
            </a:r>
          </a:p>
          <a:p>
            <a:pPr lvl="1">
              <a:buFont typeface="Wingdings" panose="05000000000000000000" pitchFamily="2" charset="2"/>
              <a:buChar char="Ø"/>
            </a:pPr>
            <a:r>
              <a:rPr lang="fr-FR" dirty="0"/>
              <a:t> Lancer des </a:t>
            </a:r>
            <a:r>
              <a:rPr lang="fr-FR" dirty="0" err="1"/>
              <a:t>microservices</a:t>
            </a:r>
            <a:r>
              <a:rPr lang="fr-FR" dirty="0"/>
              <a:t> et les arrêter proprement en cas d'arrêt de l'application principale</a:t>
            </a:r>
            <a:r>
              <a:rPr lang="fr-FR" dirty="0" smtClean="0"/>
              <a:t>.</a:t>
            </a:r>
          </a:p>
          <a:p>
            <a:pPr lvl="1">
              <a:buFont typeface="Wingdings" panose="05000000000000000000" pitchFamily="2" charset="2"/>
              <a:buChar char="Ø"/>
            </a:pPr>
            <a:r>
              <a:rPr lang="fr-FR" dirty="0"/>
              <a:t> Gérer les relations parent-enfant dans un environnement distribué</a:t>
            </a:r>
            <a:r>
              <a:rPr lang="fr-FR" dirty="0" smtClean="0"/>
              <a:t>.</a:t>
            </a:r>
          </a:p>
          <a:p>
            <a:pPr>
              <a:buFont typeface="Wingdings" panose="05000000000000000000" pitchFamily="2" charset="2"/>
              <a:buChar char="Ø"/>
            </a:pPr>
            <a:r>
              <a:rPr lang="fr-FR" dirty="0"/>
              <a:t> </a:t>
            </a:r>
            <a:r>
              <a:rPr lang="fr-FR" dirty="0" smtClean="0"/>
              <a:t>Exemple :</a:t>
            </a:r>
            <a:endParaRPr lang="fr-FR" dirty="0"/>
          </a:p>
        </p:txBody>
      </p:sp>
      <p:pic>
        <p:nvPicPr>
          <p:cNvPr id="4" name="Image 3"/>
          <p:cNvPicPr>
            <a:picLocks noChangeAspect="1"/>
          </p:cNvPicPr>
          <p:nvPr/>
        </p:nvPicPr>
        <p:blipFill>
          <a:blip r:embed="rId2"/>
          <a:stretch>
            <a:fillRect/>
          </a:stretch>
        </p:blipFill>
        <p:spPr>
          <a:xfrm>
            <a:off x="1320800" y="4218516"/>
            <a:ext cx="9834880" cy="1650577"/>
          </a:xfrm>
          <a:prstGeom prst="rect">
            <a:avLst/>
          </a:prstGeom>
        </p:spPr>
      </p:pic>
    </p:spTree>
    <p:extLst>
      <p:ext uri="{BB962C8B-B14F-4D97-AF65-F5344CB8AC3E}">
        <p14:creationId xmlns:p14="http://schemas.microsoft.com/office/powerpoint/2010/main" val="55085098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t>Exécution sécurisée de commandes système</a:t>
            </a:r>
            <a:endParaRPr lang="fr-FR" dirty="0"/>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Parfois, vous devez exécuter des commandes </a:t>
            </a:r>
            <a:r>
              <a:rPr lang="fr-FR" dirty="0" err="1"/>
              <a:t>shell</a:t>
            </a:r>
            <a:r>
              <a:rPr lang="fr-FR" dirty="0"/>
              <a:t> dans un environnement contrôlé, tout en capturant la sortie pour un traitement ultérieur</a:t>
            </a:r>
            <a:r>
              <a:rPr lang="fr-FR" dirty="0" smtClean="0"/>
              <a:t>.</a:t>
            </a:r>
          </a:p>
          <a:p>
            <a:pPr>
              <a:buFont typeface="Wingdings" panose="05000000000000000000" pitchFamily="2" charset="2"/>
              <a:buChar char="Ø"/>
            </a:pPr>
            <a:r>
              <a:rPr lang="fr-FR" dirty="0"/>
              <a:t> Cas d'utilisation </a:t>
            </a:r>
            <a:r>
              <a:rPr lang="fr-FR" dirty="0" smtClean="0"/>
              <a:t>:</a:t>
            </a:r>
          </a:p>
          <a:p>
            <a:pPr lvl="1">
              <a:buFont typeface="Wingdings" panose="05000000000000000000" pitchFamily="2" charset="2"/>
              <a:buChar char="Ø"/>
            </a:pPr>
            <a:r>
              <a:rPr lang="fr-FR" dirty="0"/>
              <a:t> Intégration avec des outils comme git, docker, ou </a:t>
            </a:r>
            <a:r>
              <a:rPr lang="fr-FR" dirty="0" err="1"/>
              <a:t>kubectl</a:t>
            </a:r>
            <a:r>
              <a:rPr lang="fr-FR" dirty="0"/>
              <a:t> pour automatiser des workflows </a:t>
            </a:r>
            <a:r>
              <a:rPr lang="fr-FR" dirty="0" err="1"/>
              <a:t>DevOps</a:t>
            </a:r>
            <a:r>
              <a:rPr lang="fr-FR" dirty="0" smtClean="0"/>
              <a:t>.</a:t>
            </a:r>
          </a:p>
          <a:p>
            <a:pPr lvl="1">
              <a:buFont typeface="Wingdings" panose="05000000000000000000" pitchFamily="2" charset="2"/>
              <a:buChar char="Ø"/>
            </a:pPr>
            <a:r>
              <a:rPr lang="fr-FR" dirty="0"/>
              <a:t> Lire les sorties de diagnostics de commandes pour analyser des problèmes</a:t>
            </a:r>
            <a:r>
              <a:rPr lang="fr-FR" dirty="0" smtClean="0"/>
              <a:t>.</a:t>
            </a:r>
          </a:p>
          <a:p>
            <a:pPr>
              <a:buFont typeface="Wingdings" panose="05000000000000000000" pitchFamily="2" charset="2"/>
              <a:buChar char="Ø"/>
            </a:pPr>
            <a:r>
              <a:rPr lang="fr-FR" dirty="0"/>
              <a:t> </a:t>
            </a:r>
            <a:r>
              <a:rPr lang="fr-FR" dirty="0" smtClean="0"/>
              <a:t>Exemple :</a:t>
            </a:r>
            <a:endParaRPr lang="fr-FR" dirty="0"/>
          </a:p>
        </p:txBody>
      </p:sp>
      <p:pic>
        <p:nvPicPr>
          <p:cNvPr id="5" name="Image 4"/>
          <p:cNvPicPr>
            <a:picLocks noChangeAspect="1"/>
          </p:cNvPicPr>
          <p:nvPr/>
        </p:nvPicPr>
        <p:blipFill>
          <a:blip r:embed="rId2"/>
          <a:stretch>
            <a:fillRect/>
          </a:stretch>
        </p:blipFill>
        <p:spPr>
          <a:xfrm>
            <a:off x="1405468" y="4141258"/>
            <a:ext cx="9750212" cy="2005541"/>
          </a:xfrm>
          <a:prstGeom prst="rect">
            <a:avLst/>
          </a:prstGeom>
        </p:spPr>
      </p:pic>
    </p:spTree>
    <p:extLst>
      <p:ext uri="{BB962C8B-B14F-4D97-AF65-F5344CB8AC3E}">
        <p14:creationId xmlns:p14="http://schemas.microsoft.com/office/powerpoint/2010/main" val="75832744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t>Kill ou redémarrage de processus spécifiques</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L'API permet de terminer un processus précis ou de redémarrer un service</a:t>
            </a:r>
            <a:r>
              <a:rPr lang="fr-FR" dirty="0" smtClean="0"/>
              <a:t>.</a:t>
            </a:r>
          </a:p>
          <a:p>
            <a:pPr>
              <a:buFont typeface="Wingdings" panose="05000000000000000000" pitchFamily="2" charset="2"/>
              <a:buChar char="Ø"/>
            </a:pPr>
            <a:r>
              <a:rPr lang="fr-FR" dirty="0"/>
              <a:t> Cas d'utilisation </a:t>
            </a:r>
            <a:r>
              <a:rPr lang="fr-FR" dirty="0" smtClean="0"/>
              <a:t>:</a:t>
            </a:r>
          </a:p>
          <a:p>
            <a:pPr lvl="1">
              <a:buFont typeface="Wingdings" panose="05000000000000000000" pitchFamily="2" charset="2"/>
              <a:buChar char="Ø"/>
            </a:pPr>
            <a:r>
              <a:rPr lang="fr-FR" dirty="0"/>
              <a:t> Terminer un processus consommant trop de ressources</a:t>
            </a:r>
            <a:r>
              <a:rPr lang="fr-FR" dirty="0" smtClean="0"/>
              <a:t>.</a:t>
            </a:r>
          </a:p>
          <a:p>
            <a:pPr lvl="1">
              <a:buFont typeface="Wingdings" panose="05000000000000000000" pitchFamily="2" charset="2"/>
              <a:buChar char="Ø"/>
            </a:pPr>
            <a:r>
              <a:rPr lang="fr-FR" dirty="0"/>
              <a:t> Redémarrer un processus critique après un échec</a:t>
            </a:r>
            <a:r>
              <a:rPr lang="fr-FR" dirty="0" smtClean="0"/>
              <a:t>.</a:t>
            </a:r>
          </a:p>
          <a:p>
            <a:pPr>
              <a:buFont typeface="Wingdings" panose="05000000000000000000" pitchFamily="2" charset="2"/>
              <a:buChar char="Ø"/>
            </a:pPr>
            <a:r>
              <a:rPr lang="fr-FR" dirty="0"/>
              <a:t> </a:t>
            </a:r>
            <a:r>
              <a:rPr lang="fr-FR" dirty="0" smtClean="0"/>
              <a:t>Exemple :</a:t>
            </a:r>
            <a:endParaRPr lang="fr-FR" dirty="0"/>
          </a:p>
        </p:txBody>
      </p:sp>
      <p:pic>
        <p:nvPicPr>
          <p:cNvPr id="4" name="Image 3"/>
          <p:cNvPicPr>
            <a:picLocks noChangeAspect="1"/>
          </p:cNvPicPr>
          <p:nvPr/>
        </p:nvPicPr>
        <p:blipFill>
          <a:blip r:embed="rId2"/>
          <a:stretch>
            <a:fillRect/>
          </a:stretch>
        </p:blipFill>
        <p:spPr>
          <a:xfrm>
            <a:off x="1896533" y="3925146"/>
            <a:ext cx="8365067" cy="1943947"/>
          </a:xfrm>
          <a:prstGeom prst="rect">
            <a:avLst/>
          </a:prstGeom>
        </p:spPr>
      </p:pic>
    </p:spTree>
    <p:extLst>
      <p:ext uri="{BB962C8B-B14F-4D97-AF65-F5344CB8AC3E}">
        <p14:creationId xmlns:p14="http://schemas.microsoft.com/office/powerpoint/2010/main" val="397303526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Planification de tâches asynchrones</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Utiliser </a:t>
            </a:r>
            <a:r>
              <a:rPr lang="fr-FR" b="1" dirty="0" err="1"/>
              <a:t>Process.onExit</a:t>
            </a:r>
            <a:r>
              <a:rPr lang="fr-FR" b="1" dirty="0"/>
              <a:t>()</a:t>
            </a:r>
            <a:r>
              <a:rPr lang="fr-FR" dirty="0"/>
              <a:t> pour exécuter automatiquement une action après la fin d'un processus</a:t>
            </a:r>
            <a:r>
              <a:rPr lang="fr-FR" dirty="0" smtClean="0"/>
              <a:t>.</a:t>
            </a:r>
          </a:p>
          <a:p>
            <a:pPr>
              <a:buFont typeface="Wingdings" panose="05000000000000000000" pitchFamily="2" charset="2"/>
              <a:buChar char="Ø"/>
            </a:pPr>
            <a:r>
              <a:rPr lang="fr-FR" dirty="0"/>
              <a:t> Cas d'utilisation </a:t>
            </a:r>
            <a:r>
              <a:rPr lang="fr-FR" dirty="0" smtClean="0"/>
              <a:t>:</a:t>
            </a:r>
          </a:p>
          <a:p>
            <a:pPr lvl="1">
              <a:buFont typeface="Wingdings" panose="05000000000000000000" pitchFamily="2" charset="2"/>
              <a:buChar char="Ø"/>
            </a:pPr>
            <a:r>
              <a:rPr lang="fr-FR" dirty="0"/>
              <a:t> Exécuter un script ou notifier un service après la fin d'une tâche</a:t>
            </a:r>
            <a:r>
              <a:rPr lang="fr-FR" dirty="0" smtClean="0"/>
              <a:t>.</a:t>
            </a:r>
          </a:p>
          <a:p>
            <a:pPr lvl="1">
              <a:buFont typeface="Wingdings" panose="05000000000000000000" pitchFamily="2" charset="2"/>
              <a:buChar char="Ø"/>
            </a:pPr>
            <a:r>
              <a:rPr lang="fr-FR" dirty="0"/>
              <a:t> Nettoyer les fichiers temporaires créés par un processus</a:t>
            </a:r>
            <a:r>
              <a:rPr lang="fr-FR" dirty="0" smtClean="0"/>
              <a:t>.</a:t>
            </a:r>
          </a:p>
          <a:p>
            <a:pPr>
              <a:buFont typeface="Wingdings" panose="05000000000000000000" pitchFamily="2" charset="2"/>
              <a:buChar char="Ø"/>
            </a:pPr>
            <a:r>
              <a:rPr lang="fr-FR" dirty="0" smtClean="0"/>
              <a:t>Exemple : </a:t>
            </a:r>
            <a:endParaRPr lang="fr-FR" dirty="0"/>
          </a:p>
        </p:txBody>
      </p:sp>
      <p:pic>
        <p:nvPicPr>
          <p:cNvPr id="5" name="Image 4"/>
          <p:cNvPicPr>
            <a:picLocks noChangeAspect="1"/>
          </p:cNvPicPr>
          <p:nvPr/>
        </p:nvPicPr>
        <p:blipFill>
          <a:blip r:embed="rId2"/>
          <a:stretch>
            <a:fillRect/>
          </a:stretch>
        </p:blipFill>
        <p:spPr>
          <a:xfrm>
            <a:off x="1283548" y="4433887"/>
            <a:ext cx="9872132" cy="1137180"/>
          </a:xfrm>
          <a:prstGeom prst="rect">
            <a:avLst/>
          </a:prstGeom>
        </p:spPr>
      </p:pic>
    </p:spTree>
    <p:extLst>
      <p:ext uri="{BB962C8B-B14F-4D97-AF65-F5344CB8AC3E}">
        <p14:creationId xmlns:p14="http://schemas.microsoft.com/office/powerpoint/2010/main" val="252301826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En résumé, l'API </a:t>
            </a:r>
            <a:r>
              <a:rPr lang="fr-FR" sz="3200" b="1" dirty="0" err="1"/>
              <a:t>Process</a:t>
            </a:r>
            <a:r>
              <a:rPr lang="fr-FR" sz="3200" dirty="0"/>
              <a:t> dans JDK 9+ rend la gestion des processus système plus puissante, intuitive et moderne, facilitant les tâches telles que la surveillance, l'interaction et le contrôle des processus pour les développeurs Java.</a:t>
            </a:r>
          </a:p>
        </p:txBody>
      </p:sp>
    </p:spTree>
    <p:extLst>
      <p:ext uri="{BB962C8B-B14F-4D97-AF65-F5344CB8AC3E}">
        <p14:creationId xmlns:p14="http://schemas.microsoft.com/office/powerpoint/2010/main" val="351268451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TP</a:t>
            </a:r>
            <a:endParaRPr lang="fr-FR" b="1" dirty="0"/>
          </a:p>
        </p:txBody>
      </p:sp>
      <p:sp>
        <p:nvSpPr>
          <p:cNvPr id="3" name="Espace réservé du contenu 2"/>
          <p:cNvSpPr>
            <a:spLocks noGrp="1"/>
          </p:cNvSpPr>
          <p:nvPr>
            <p:ph idx="1"/>
          </p:nvPr>
        </p:nvSpPr>
        <p:spPr/>
        <p:txBody>
          <a:bodyPr>
            <a:normAutofit/>
          </a:bodyPr>
          <a:lstStyle/>
          <a:p>
            <a:pPr marL="457200" indent="-457200" algn="just">
              <a:lnSpc>
                <a:spcPct val="150000"/>
              </a:lnSpc>
              <a:buFont typeface="+mj-lt"/>
              <a:buAutoNum type="arabicPeriod"/>
            </a:pPr>
            <a:r>
              <a:rPr lang="fr-FR" sz="3600" dirty="0"/>
              <a:t>Créez un outil pour lister et surveiller les processus en cours</a:t>
            </a:r>
            <a:r>
              <a:rPr lang="fr-FR" sz="3600" dirty="0" smtClean="0"/>
              <a:t>.</a:t>
            </a:r>
          </a:p>
          <a:p>
            <a:pPr marL="457200" indent="-457200" algn="just">
              <a:lnSpc>
                <a:spcPct val="150000"/>
              </a:lnSpc>
              <a:buFont typeface="+mj-lt"/>
              <a:buAutoNum type="arabicPeriod"/>
            </a:pPr>
            <a:r>
              <a:rPr lang="fr-FR" sz="3600" dirty="0" smtClean="0"/>
              <a:t>Implémentez </a:t>
            </a:r>
            <a:r>
              <a:rPr lang="fr-FR" sz="3600" dirty="0"/>
              <a:t>un programme qui termine un processus spécifique.</a:t>
            </a:r>
          </a:p>
        </p:txBody>
      </p:sp>
    </p:spTree>
    <p:extLst>
      <p:ext uri="{BB962C8B-B14F-4D97-AF65-F5344CB8AC3E}">
        <p14:creationId xmlns:p14="http://schemas.microsoft.com/office/powerpoint/2010/main" val="378959483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Atelier API </a:t>
            </a:r>
            <a:r>
              <a:rPr lang="fr-FR" b="1" dirty="0" err="1" smtClean="0"/>
              <a:t>Process</a:t>
            </a:r>
            <a:endParaRPr lang="fr-FR" b="1" dirty="0"/>
          </a:p>
        </p:txBody>
      </p:sp>
      <p:sp>
        <p:nvSpPr>
          <p:cNvPr id="3" name="Espace réservé du contenu 2"/>
          <p:cNvSpPr>
            <a:spLocks noGrp="1"/>
          </p:cNvSpPr>
          <p:nvPr>
            <p:ph idx="1"/>
          </p:nvPr>
        </p:nvSpPr>
        <p:spPr/>
        <p:txBody>
          <a:bodyPr>
            <a:noAutofit/>
          </a:bodyPr>
          <a:lstStyle/>
          <a:p>
            <a:pPr algn="just">
              <a:lnSpc>
                <a:spcPct val="200000"/>
              </a:lnSpc>
              <a:buFont typeface="Wingdings" panose="05000000000000000000" pitchFamily="2" charset="2"/>
              <a:buChar char="Ø"/>
            </a:pPr>
            <a:r>
              <a:rPr lang="fr-FR" sz="2800" dirty="0"/>
              <a:t> Objectifs </a:t>
            </a:r>
            <a:r>
              <a:rPr lang="fr-FR" sz="2800" dirty="0" smtClean="0"/>
              <a:t>:</a:t>
            </a:r>
          </a:p>
          <a:p>
            <a:pPr lvl="1" algn="just">
              <a:lnSpc>
                <a:spcPct val="200000"/>
              </a:lnSpc>
              <a:buFont typeface="Wingdings" panose="05000000000000000000" pitchFamily="2" charset="2"/>
              <a:buChar char="Ø"/>
            </a:pPr>
            <a:r>
              <a:rPr lang="fr-FR" sz="2400" dirty="0"/>
              <a:t> Lancer un processus depuis </a:t>
            </a:r>
            <a:r>
              <a:rPr lang="fr-FR" sz="2400" dirty="0" smtClean="0"/>
              <a:t>Java</a:t>
            </a:r>
          </a:p>
          <a:p>
            <a:pPr lvl="1" algn="just">
              <a:lnSpc>
                <a:spcPct val="200000"/>
              </a:lnSpc>
              <a:buFont typeface="Wingdings" panose="05000000000000000000" pitchFamily="2" charset="2"/>
              <a:buChar char="Ø"/>
            </a:pPr>
            <a:r>
              <a:rPr lang="fr-FR" sz="2400" dirty="0"/>
              <a:t> Lister les </a:t>
            </a:r>
            <a:r>
              <a:rPr lang="fr-FR" sz="2400" b="1" dirty="0"/>
              <a:t>processus</a:t>
            </a:r>
            <a:r>
              <a:rPr lang="fr-FR" sz="2400" dirty="0"/>
              <a:t> en cours avec </a:t>
            </a:r>
            <a:r>
              <a:rPr lang="fr-FR" sz="2400" b="1" dirty="0" err="1" smtClean="0"/>
              <a:t>ProcessHandle</a:t>
            </a:r>
            <a:endParaRPr lang="fr-FR" sz="2400" b="1" dirty="0" smtClean="0"/>
          </a:p>
          <a:p>
            <a:pPr lvl="1" algn="just">
              <a:lnSpc>
                <a:spcPct val="200000"/>
              </a:lnSpc>
              <a:buFont typeface="Wingdings" panose="05000000000000000000" pitchFamily="2" charset="2"/>
              <a:buChar char="Ø"/>
            </a:pPr>
            <a:r>
              <a:rPr lang="fr-FR" sz="2400" dirty="0" smtClean="0"/>
              <a:t> </a:t>
            </a:r>
            <a:r>
              <a:rPr lang="fr-FR" sz="2400" dirty="0"/>
              <a:t>Accéder aux informations utiles (</a:t>
            </a:r>
            <a:r>
              <a:rPr lang="fr-FR" sz="2400" b="1" dirty="0"/>
              <a:t>PID</a:t>
            </a:r>
            <a:r>
              <a:rPr lang="fr-FR" sz="2400" dirty="0"/>
              <a:t>, </a:t>
            </a:r>
            <a:r>
              <a:rPr lang="fr-FR" sz="2400" b="1" dirty="0"/>
              <a:t>commande</a:t>
            </a:r>
            <a:r>
              <a:rPr lang="fr-FR" sz="2400" dirty="0"/>
              <a:t>, </a:t>
            </a:r>
            <a:r>
              <a:rPr lang="fr-FR" sz="2400" b="1" dirty="0" smtClean="0"/>
              <a:t>arguments</a:t>
            </a:r>
            <a:r>
              <a:rPr lang="fr-FR" sz="2400" dirty="0" smtClean="0"/>
              <a:t>…)</a:t>
            </a:r>
          </a:p>
          <a:p>
            <a:pPr lvl="1" algn="just">
              <a:lnSpc>
                <a:spcPct val="200000"/>
              </a:lnSpc>
              <a:buFont typeface="Wingdings" panose="05000000000000000000" pitchFamily="2" charset="2"/>
              <a:buChar char="Ø"/>
            </a:pPr>
            <a:r>
              <a:rPr lang="fr-FR" sz="2400" dirty="0"/>
              <a:t> Arrêter un </a:t>
            </a:r>
            <a:r>
              <a:rPr lang="fr-FR" sz="2400" b="1" dirty="0"/>
              <a:t>processus</a:t>
            </a:r>
            <a:r>
              <a:rPr lang="fr-FR" sz="2400" dirty="0"/>
              <a:t> à partir de son </a:t>
            </a:r>
            <a:r>
              <a:rPr lang="fr-FR" sz="2400" b="1" dirty="0"/>
              <a:t>identifiant</a:t>
            </a:r>
          </a:p>
        </p:txBody>
      </p:sp>
    </p:spTree>
    <p:extLst>
      <p:ext uri="{BB962C8B-B14F-4D97-AF65-F5344CB8AC3E}">
        <p14:creationId xmlns:p14="http://schemas.microsoft.com/office/powerpoint/2010/main" val="2165516505"/>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Lancer un processus externe</a:t>
            </a:r>
          </a:p>
        </p:txBody>
      </p:sp>
      <p:sp>
        <p:nvSpPr>
          <p:cNvPr id="3" name="Espace réservé du contenu 2"/>
          <p:cNvSpPr>
            <a:spLocks noGrp="1"/>
          </p:cNvSpPr>
          <p:nvPr>
            <p:ph idx="1"/>
          </p:nvPr>
        </p:nvSpPr>
        <p:spPr/>
        <p:txBody>
          <a:bodyPr>
            <a:normAutofit fontScale="92500"/>
          </a:bodyPr>
          <a:lstStyle/>
          <a:p>
            <a:pPr algn="just">
              <a:lnSpc>
                <a:spcPct val="150000"/>
              </a:lnSpc>
              <a:buFont typeface="Wingdings" panose="05000000000000000000" pitchFamily="2" charset="2"/>
              <a:buChar char="Ø"/>
            </a:pPr>
            <a:r>
              <a:rPr lang="fr-FR" sz="2800" dirty="0"/>
              <a:t> Démarrer une application simple depuis Java (ex : éditeur de texte ou navigateur</a:t>
            </a:r>
            <a:r>
              <a:rPr lang="fr-FR" sz="2800" dirty="0" smtClean="0"/>
              <a:t>).</a:t>
            </a:r>
          </a:p>
          <a:p>
            <a:pPr algn="just">
              <a:lnSpc>
                <a:spcPct val="150000"/>
              </a:lnSpc>
              <a:buFont typeface="Wingdings" panose="05000000000000000000" pitchFamily="2" charset="2"/>
              <a:buChar char="Ø"/>
            </a:pPr>
            <a:endParaRPr lang="fr-FR" sz="2800" dirty="0"/>
          </a:p>
          <a:p>
            <a:pPr algn="just">
              <a:lnSpc>
                <a:spcPct val="150000"/>
              </a:lnSpc>
              <a:buFont typeface="Wingdings" panose="05000000000000000000" pitchFamily="2" charset="2"/>
              <a:buChar char="Ø"/>
            </a:pPr>
            <a:endParaRPr lang="fr-FR" sz="2800" dirty="0" smtClean="0"/>
          </a:p>
          <a:p>
            <a:pPr algn="just">
              <a:lnSpc>
                <a:spcPct val="150000"/>
              </a:lnSpc>
              <a:buFont typeface="Wingdings" panose="05000000000000000000" pitchFamily="2" charset="2"/>
              <a:buChar char="Ø"/>
            </a:pPr>
            <a:r>
              <a:rPr lang="fr-FR" sz="2800" dirty="0"/>
              <a:t> Exercice : tester avec différentes commandes : </a:t>
            </a:r>
            <a:r>
              <a:rPr lang="fr-FR" sz="2800" dirty="0" err="1"/>
              <a:t>notepad</a:t>
            </a:r>
            <a:r>
              <a:rPr lang="fr-FR" sz="2800" dirty="0"/>
              <a:t>, </a:t>
            </a:r>
            <a:r>
              <a:rPr lang="fr-FR" sz="2800" dirty="0" err="1"/>
              <a:t>calc</a:t>
            </a:r>
            <a:r>
              <a:rPr lang="fr-FR" sz="2800" dirty="0"/>
              <a:t>, cmd, etc.</a:t>
            </a:r>
          </a:p>
          <a:p>
            <a:pPr algn="just">
              <a:lnSpc>
                <a:spcPct val="150000"/>
              </a:lnSpc>
              <a:buFont typeface="Wingdings" panose="05000000000000000000" pitchFamily="2" charset="2"/>
              <a:buChar char="Ø"/>
            </a:pPr>
            <a:endParaRPr lang="fr-FR" sz="2800"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540490" y="3239988"/>
            <a:ext cx="7171980" cy="14421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80916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Lister tous les processus en cours</a:t>
            </a:r>
          </a:p>
        </p:txBody>
      </p:sp>
      <p:sp>
        <p:nvSpPr>
          <p:cNvPr id="3" name="Espace réservé du contenu 2"/>
          <p:cNvSpPr>
            <a:spLocks noGrp="1"/>
          </p:cNvSpPr>
          <p:nvPr>
            <p:ph idx="1"/>
          </p:nvPr>
        </p:nvSpPr>
        <p:spPr/>
        <p:txBody>
          <a:bodyPr>
            <a:noAutofit/>
          </a:bodyPr>
          <a:lstStyle/>
          <a:p>
            <a:pPr algn="just">
              <a:lnSpc>
                <a:spcPct val="160000"/>
              </a:lnSpc>
              <a:buFont typeface="Wingdings" panose="05000000000000000000" pitchFamily="2" charset="2"/>
              <a:buChar char="Ø"/>
            </a:pPr>
            <a:r>
              <a:rPr lang="fr-FR" sz="2400" dirty="0"/>
              <a:t> Afficher tous les processus visibles pour l'utilisateur actuel</a:t>
            </a:r>
            <a:r>
              <a:rPr lang="fr-FR" sz="2400" dirty="0" smtClean="0"/>
              <a:t>.</a:t>
            </a:r>
          </a:p>
          <a:p>
            <a:pPr algn="just">
              <a:lnSpc>
                <a:spcPct val="160000"/>
              </a:lnSpc>
              <a:buFont typeface="Wingdings" panose="05000000000000000000" pitchFamily="2" charset="2"/>
              <a:buChar char="Ø"/>
            </a:pPr>
            <a:endParaRPr lang="fr-FR" sz="2400" dirty="0"/>
          </a:p>
          <a:p>
            <a:pPr algn="just">
              <a:lnSpc>
                <a:spcPct val="160000"/>
              </a:lnSpc>
              <a:buFont typeface="Wingdings" panose="05000000000000000000" pitchFamily="2" charset="2"/>
              <a:buChar char="Ø"/>
            </a:pPr>
            <a:endParaRPr lang="fr-FR" sz="2400" dirty="0" smtClean="0"/>
          </a:p>
          <a:p>
            <a:pPr algn="just">
              <a:lnSpc>
                <a:spcPct val="160000"/>
              </a:lnSpc>
              <a:buFont typeface="Wingdings" panose="05000000000000000000" pitchFamily="2" charset="2"/>
              <a:buChar char="Ø"/>
            </a:pPr>
            <a:endParaRPr lang="fr-FR" sz="2400" dirty="0"/>
          </a:p>
          <a:p>
            <a:pPr algn="just">
              <a:lnSpc>
                <a:spcPct val="160000"/>
              </a:lnSpc>
              <a:buFont typeface="Wingdings" panose="05000000000000000000" pitchFamily="2" charset="2"/>
              <a:buChar char="Ø"/>
            </a:pPr>
            <a:r>
              <a:rPr lang="fr-FR" sz="2400" dirty="0" smtClean="0"/>
              <a:t> </a:t>
            </a:r>
            <a:r>
              <a:rPr lang="fr-FR" sz="2400" b="1" dirty="0"/>
              <a:t>Exercice :</a:t>
            </a:r>
            <a:r>
              <a:rPr lang="fr-FR" sz="2400" dirty="0"/>
              <a:t> Filtrer uniquement les processus dont la commande contient "java".</a:t>
            </a:r>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236424" y="2673841"/>
            <a:ext cx="7623672" cy="22176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1314954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Processus JAVA</a:t>
            </a:r>
            <a:endParaRPr lang="fr-FR" b="1"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097280" y="1916934"/>
            <a:ext cx="10058400" cy="40982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300259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Afficher les informations détaillées d’un processus</a:t>
            </a:r>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2400" dirty="0"/>
              <a:t> Extraire les infos utiles d’un </a:t>
            </a:r>
            <a:r>
              <a:rPr lang="fr-FR" sz="2400" b="1" dirty="0" err="1"/>
              <a:t>ProcessHandle.Info</a:t>
            </a:r>
            <a:r>
              <a:rPr lang="fr-FR" sz="2400" dirty="0"/>
              <a:t> : démarrage, arguments, etc</a:t>
            </a:r>
            <a:r>
              <a:rPr lang="fr-FR" sz="2400" dirty="0" smtClean="0"/>
              <a:t>.</a:t>
            </a:r>
          </a:p>
          <a:p>
            <a:pPr algn="just">
              <a:buFont typeface="Wingdings" panose="05000000000000000000" pitchFamily="2" charset="2"/>
              <a:buChar char="Ø"/>
            </a:pPr>
            <a:endParaRPr lang="fr-FR" sz="2400" dirty="0"/>
          </a:p>
          <a:p>
            <a:pPr algn="just">
              <a:buFont typeface="Wingdings" panose="05000000000000000000" pitchFamily="2" charset="2"/>
              <a:buChar char="Ø"/>
            </a:pPr>
            <a:endParaRPr lang="fr-FR" sz="2400" dirty="0" smtClean="0"/>
          </a:p>
          <a:p>
            <a:pPr algn="just">
              <a:buFont typeface="Wingdings" panose="05000000000000000000" pitchFamily="2" charset="2"/>
              <a:buChar char="Ø"/>
            </a:pPr>
            <a:endParaRPr lang="fr-FR" sz="2400" dirty="0"/>
          </a:p>
          <a:p>
            <a:pPr algn="just">
              <a:buFont typeface="Wingdings" panose="05000000000000000000" pitchFamily="2" charset="2"/>
              <a:buChar char="Ø"/>
            </a:pPr>
            <a:endParaRPr lang="fr-FR" sz="2400" dirty="0" smtClean="0"/>
          </a:p>
          <a:p>
            <a:pPr algn="just">
              <a:buFont typeface="Wingdings" panose="05000000000000000000" pitchFamily="2" charset="2"/>
              <a:buChar char="Ø"/>
            </a:pPr>
            <a:r>
              <a:rPr lang="fr-FR" sz="2400" dirty="0"/>
              <a:t> </a:t>
            </a:r>
            <a:r>
              <a:rPr lang="fr-FR" sz="2400" b="1" dirty="0"/>
              <a:t>Exercice</a:t>
            </a:r>
            <a:r>
              <a:rPr lang="fr-FR" sz="2400" dirty="0"/>
              <a:t> : créer une méthode </a:t>
            </a:r>
            <a:r>
              <a:rPr lang="fr-FR" sz="2400" b="1" dirty="0" err="1"/>
              <a:t>afficherInfos</a:t>
            </a:r>
            <a:r>
              <a:rPr lang="fr-FR" sz="2400" b="1" dirty="0"/>
              <a:t>(</a:t>
            </a:r>
            <a:r>
              <a:rPr lang="fr-FR" sz="2400" b="1" dirty="0" err="1"/>
              <a:t>ProcessHandle</a:t>
            </a:r>
            <a:r>
              <a:rPr lang="fr-FR" sz="2400" dirty="0"/>
              <a:t>).</a:t>
            </a:r>
          </a:p>
        </p:txBody>
      </p:sp>
      <p:pic>
        <p:nvPicPr>
          <p:cNvPr id="5" name="Image 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302526" y="2578537"/>
            <a:ext cx="7810958" cy="16960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203068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err="1"/>
              <a:t>afficherInfos</a:t>
            </a:r>
            <a:r>
              <a:rPr lang="fr-FR" b="1" dirty="0"/>
              <a:t>(</a:t>
            </a:r>
            <a:r>
              <a:rPr lang="fr-FR" b="1" dirty="0" err="1"/>
              <a:t>ProcessHandle</a:t>
            </a:r>
            <a:r>
              <a:rPr lang="fr-FR" b="1" dirty="0"/>
              <a:t>)</a:t>
            </a:r>
          </a:p>
        </p:txBody>
      </p:sp>
      <p:pic>
        <p:nvPicPr>
          <p:cNvPr id="4" name="Espace réservé du contenu 3"/>
          <p:cNvPicPr>
            <a:picLocks noGrp="1" noChangeAspect="1"/>
          </p:cNvPicPr>
          <p:nvPr>
            <p:ph idx="1"/>
          </p:nvPr>
        </p:nvPicPr>
        <p:blipFill>
          <a:blip r:embed="rId2"/>
          <a:stretch>
            <a:fillRect/>
          </a:stretch>
        </p:blipFill>
        <p:spPr>
          <a:xfrm>
            <a:off x="1097280" y="1943002"/>
            <a:ext cx="10058400" cy="42705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5121589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Terminer un processus donné </a:t>
            </a:r>
            <a:r>
              <a:rPr lang="fr-FR" b="1" dirty="0" smtClean="0"/>
              <a:t/>
            </a:r>
            <a:br>
              <a:rPr lang="fr-FR" b="1" dirty="0" smtClean="0"/>
            </a:br>
            <a:r>
              <a:rPr lang="fr-FR" b="1" dirty="0" smtClean="0"/>
              <a:t>(</a:t>
            </a:r>
            <a:r>
              <a:rPr lang="fr-FR" b="1" dirty="0"/>
              <a:t>avec confirmation)</a:t>
            </a:r>
          </a:p>
        </p:txBody>
      </p:sp>
      <p:sp>
        <p:nvSpPr>
          <p:cNvPr id="3" name="Espace réservé du contenu 2"/>
          <p:cNvSpPr>
            <a:spLocks noGrp="1"/>
          </p:cNvSpPr>
          <p:nvPr>
            <p:ph idx="1"/>
          </p:nvPr>
        </p:nvSpPr>
        <p:spPr>
          <a:xfrm>
            <a:off x="1097280" y="1845733"/>
            <a:ext cx="10058400" cy="4389813"/>
          </a:xfrm>
        </p:spPr>
        <p:txBody>
          <a:bodyPr>
            <a:normAutofit/>
          </a:bodyPr>
          <a:lstStyle/>
          <a:p>
            <a:pPr>
              <a:buFont typeface="Wingdings" panose="05000000000000000000" pitchFamily="2" charset="2"/>
              <a:buChar char="Ø"/>
            </a:pPr>
            <a:r>
              <a:rPr lang="fr-FR" sz="3200" dirty="0"/>
              <a:t> Tuer un processus à partir de son </a:t>
            </a:r>
            <a:r>
              <a:rPr lang="fr-FR" sz="3200" b="1" dirty="0"/>
              <a:t>PID</a:t>
            </a:r>
            <a:r>
              <a:rPr lang="fr-FR" sz="3200" dirty="0" smtClean="0"/>
              <a:t>.</a:t>
            </a:r>
          </a:p>
          <a:p>
            <a:pPr>
              <a:buFont typeface="Wingdings" panose="05000000000000000000" pitchFamily="2" charset="2"/>
              <a:buChar char="Ø"/>
            </a:pPr>
            <a:endParaRPr lang="fr-FR" sz="3200" dirty="0"/>
          </a:p>
          <a:p>
            <a:pPr>
              <a:buFont typeface="Wingdings" panose="05000000000000000000" pitchFamily="2" charset="2"/>
              <a:buChar char="Ø"/>
            </a:pPr>
            <a:endParaRPr lang="fr-FR" sz="3200" dirty="0" smtClean="0"/>
          </a:p>
          <a:p>
            <a:pPr>
              <a:buFont typeface="Wingdings" panose="05000000000000000000" pitchFamily="2" charset="2"/>
              <a:buChar char="Ø"/>
            </a:pPr>
            <a:endParaRPr lang="fr-FR" sz="3200" dirty="0"/>
          </a:p>
          <a:p>
            <a:pPr>
              <a:buFont typeface="Wingdings" panose="05000000000000000000" pitchFamily="2" charset="2"/>
              <a:buChar char="Ø"/>
            </a:pPr>
            <a:endParaRPr lang="fr-FR" sz="3200" dirty="0" smtClean="0"/>
          </a:p>
          <a:p>
            <a:pPr>
              <a:buFont typeface="Wingdings" panose="05000000000000000000" pitchFamily="2" charset="2"/>
              <a:buChar char="Ø"/>
            </a:pPr>
            <a:endParaRPr lang="fr-FR" sz="3200" dirty="0"/>
          </a:p>
          <a:p>
            <a:pPr>
              <a:buFont typeface="Wingdings" panose="05000000000000000000" pitchFamily="2" charset="2"/>
              <a:buChar char="Ø"/>
            </a:pPr>
            <a:r>
              <a:rPr lang="fr-FR" sz="3200" dirty="0"/>
              <a:t> Exercice : Créer une méthode </a:t>
            </a:r>
            <a:r>
              <a:rPr lang="fr-FR" sz="3200" b="1" dirty="0" err="1"/>
              <a:t>tuerProcessus</a:t>
            </a:r>
            <a:r>
              <a:rPr lang="fr-FR" sz="3200" b="1" dirty="0"/>
              <a:t>(long</a:t>
            </a:r>
            <a:r>
              <a:rPr lang="fr-FR" sz="3200" dirty="0"/>
              <a:t> </a:t>
            </a:r>
            <a:r>
              <a:rPr lang="fr-FR" sz="3200" b="1" dirty="0" err="1"/>
              <a:t>pid</a:t>
            </a:r>
            <a:r>
              <a:rPr lang="fr-FR" sz="3200" dirty="0"/>
              <a:t>).</a:t>
            </a:r>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3183874" y="2581575"/>
            <a:ext cx="6081311" cy="27616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0787424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Tuer Processus</a:t>
            </a:r>
            <a:endParaRPr lang="fr-FR" b="1" dirty="0"/>
          </a:p>
        </p:txBody>
      </p:sp>
      <p:pic>
        <p:nvPicPr>
          <p:cNvPr id="4" name="Espace réservé du contenu 3"/>
          <p:cNvPicPr>
            <a:picLocks noGrp="1" noChangeAspect="1"/>
          </p:cNvPicPr>
          <p:nvPr>
            <p:ph idx="1"/>
          </p:nvPr>
        </p:nvPicPr>
        <p:blipFill>
          <a:blip r:embed="rId2"/>
          <a:stretch>
            <a:fillRect/>
          </a:stretch>
        </p:blipFill>
        <p:spPr>
          <a:xfrm>
            <a:off x="1097280" y="1846263"/>
            <a:ext cx="9952638" cy="40227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8393512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rmAutofit fontScale="85000" lnSpcReduction="20000"/>
          </a:bodyPr>
          <a:lstStyle/>
          <a:p>
            <a:pPr algn="just">
              <a:lnSpc>
                <a:spcPct val="150000"/>
              </a:lnSpc>
              <a:buFont typeface="Wingdings" panose="05000000000000000000" pitchFamily="2" charset="2"/>
              <a:buChar char="Ø"/>
            </a:pPr>
            <a:r>
              <a:rPr lang="fr-FR" sz="2400" dirty="0"/>
              <a:t> Depuis Java 9, la nouvelle </a:t>
            </a:r>
            <a:r>
              <a:rPr lang="fr-FR" sz="2400" b="1" dirty="0"/>
              <a:t>API</a:t>
            </a:r>
            <a:r>
              <a:rPr lang="fr-FR" sz="2400" dirty="0"/>
              <a:t> </a:t>
            </a:r>
            <a:r>
              <a:rPr lang="fr-FR" sz="2400" b="1" dirty="0" err="1"/>
              <a:t>ProcessHandle</a:t>
            </a:r>
            <a:r>
              <a:rPr lang="fr-FR" sz="2400" dirty="0"/>
              <a:t> offre un moyen moderne, simple et puissant de gérer les processus système à partir de Java. Elle permet </a:t>
            </a:r>
            <a:r>
              <a:rPr lang="fr-FR" sz="2400" dirty="0" smtClean="0"/>
              <a:t>:</a:t>
            </a:r>
          </a:p>
          <a:p>
            <a:pPr lvl="1" algn="just">
              <a:lnSpc>
                <a:spcPct val="150000"/>
              </a:lnSpc>
              <a:buFont typeface="Wingdings" panose="05000000000000000000" pitchFamily="2" charset="2"/>
              <a:buChar char="Ø"/>
            </a:pPr>
            <a:r>
              <a:rPr lang="fr-FR" sz="2000" dirty="0"/>
              <a:t> De </a:t>
            </a:r>
            <a:r>
              <a:rPr lang="fr-FR" sz="2000" b="1" dirty="0"/>
              <a:t>lister tous les processus</a:t>
            </a:r>
            <a:r>
              <a:rPr lang="fr-FR" sz="2000" dirty="0"/>
              <a:t> en cours sur la machine</a:t>
            </a:r>
            <a:r>
              <a:rPr lang="fr-FR" sz="2000" dirty="0" smtClean="0"/>
              <a:t>.</a:t>
            </a:r>
          </a:p>
          <a:p>
            <a:pPr lvl="1" algn="just">
              <a:lnSpc>
                <a:spcPct val="150000"/>
              </a:lnSpc>
              <a:buFont typeface="Wingdings" panose="05000000000000000000" pitchFamily="2" charset="2"/>
              <a:buChar char="Ø"/>
            </a:pPr>
            <a:r>
              <a:rPr lang="fr-FR" sz="2000" dirty="0"/>
              <a:t> D’</a:t>
            </a:r>
            <a:r>
              <a:rPr lang="fr-FR" sz="2000" b="1" dirty="0"/>
              <a:t>obtenir des informations détaillées</a:t>
            </a:r>
            <a:r>
              <a:rPr lang="fr-FR" sz="2000" dirty="0"/>
              <a:t> (commande, arguments, utilisateur, durée CPU</a:t>
            </a:r>
            <a:r>
              <a:rPr lang="fr-FR" sz="2000" dirty="0" smtClean="0"/>
              <a:t>…).</a:t>
            </a:r>
          </a:p>
          <a:p>
            <a:pPr lvl="1" algn="just">
              <a:lnSpc>
                <a:spcPct val="150000"/>
              </a:lnSpc>
              <a:buFont typeface="Wingdings" panose="05000000000000000000" pitchFamily="2" charset="2"/>
              <a:buChar char="Ø"/>
            </a:pPr>
            <a:r>
              <a:rPr lang="fr-FR" sz="2000" dirty="0"/>
              <a:t> De </a:t>
            </a:r>
            <a:r>
              <a:rPr lang="fr-FR" sz="2000" b="1" dirty="0"/>
              <a:t>gérer la vie d’un processus</a:t>
            </a:r>
            <a:r>
              <a:rPr lang="fr-FR" sz="2000" dirty="0"/>
              <a:t> (arrêt doux ou forcé</a:t>
            </a:r>
            <a:r>
              <a:rPr lang="fr-FR" sz="2000" dirty="0" smtClean="0"/>
              <a:t>).</a:t>
            </a:r>
          </a:p>
          <a:p>
            <a:pPr lvl="1" algn="just">
              <a:lnSpc>
                <a:spcPct val="150000"/>
              </a:lnSpc>
              <a:buFont typeface="Wingdings" panose="05000000000000000000" pitchFamily="2" charset="2"/>
              <a:buChar char="Ø"/>
            </a:pPr>
            <a:r>
              <a:rPr lang="fr-FR" sz="2000" dirty="0"/>
              <a:t> D’interagir avec les processus de manière non bloquante via des APIs fonctionnelles (comme </a:t>
            </a:r>
            <a:r>
              <a:rPr lang="fr-FR" sz="2000" b="1" dirty="0" err="1"/>
              <a:t>Optional</a:t>
            </a:r>
            <a:r>
              <a:rPr lang="fr-FR" sz="2000" dirty="0"/>
              <a:t>, </a:t>
            </a:r>
            <a:r>
              <a:rPr lang="fr-FR" sz="2000" b="1" dirty="0"/>
              <a:t>Stream</a:t>
            </a:r>
            <a:r>
              <a:rPr lang="fr-FR" sz="2000" dirty="0"/>
              <a:t>, etc</a:t>
            </a:r>
            <a:r>
              <a:rPr lang="fr-FR" sz="2000" dirty="0" smtClean="0"/>
              <a:t>.).</a:t>
            </a:r>
          </a:p>
          <a:p>
            <a:pPr algn="just">
              <a:lnSpc>
                <a:spcPct val="150000"/>
              </a:lnSpc>
              <a:buFont typeface="Wingdings" panose="05000000000000000000" pitchFamily="2" charset="2"/>
              <a:buChar char="Ø"/>
            </a:pPr>
            <a:r>
              <a:rPr lang="fr-FR" sz="2200" dirty="0"/>
              <a:t> </a:t>
            </a:r>
            <a:r>
              <a:rPr lang="fr-FR" sz="2400" dirty="0"/>
              <a:t>Cela ouvre la porte à la création d'outils d'administration système, de superviseurs de processus, ou d’outils de débogage internes aux applications.</a:t>
            </a:r>
            <a:endParaRPr lang="fr-FR" sz="2200" dirty="0"/>
          </a:p>
        </p:txBody>
      </p:sp>
    </p:spTree>
    <p:extLst>
      <p:ext uri="{BB962C8B-B14F-4D97-AF65-F5344CB8AC3E}">
        <p14:creationId xmlns:p14="http://schemas.microsoft.com/office/powerpoint/2010/main" val="405879628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Les bonnes pratiques</a:t>
            </a:r>
            <a:endParaRPr lang="fr-FR" b="1" dirty="0"/>
          </a:p>
        </p:txBody>
      </p:sp>
      <p:pic>
        <p:nvPicPr>
          <p:cNvPr id="4" name="Espace réservé du contenu 3"/>
          <p:cNvPicPr>
            <a:picLocks noGrp="1" noChangeAspect="1"/>
          </p:cNvPicPr>
          <p:nvPr>
            <p:ph idx="1"/>
          </p:nvPr>
        </p:nvPicPr>
        <p:blipFill>
          <a:blip r:embed="rId2"/>
          <a:stretch>
            <a:fillRect/>
          </a:stretch>
        </p:blipFill>
        <p:spPr>
          <a:xfrm>
            <a:off x="1097280" y="2044607"/>
            <a:ext cx="10058400" cy="4113822"/>
          </a:xfrm>
          <a:prstGeom prst="rect">
            <a:avLst/>
          </a:prstGeom>
        </p:spPr>
      </p:pic>
    </p:spTree>
    <p:extLst>
      <p:ext uri="{BB962C8B-B14F-4D97-AF65-F5344CB8AC3E}">
        <p14:creationId xmlns:p14="http://schemas.microsoft.com/office/powerpoint/2010/main" val="4183997216"/>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noAutofit/>
          </a:bodyPr>
          <a:lstStyle/>
          <a:p>
            <a:pPr algn="ctr">
              <a:lnSpc>
                <a:spcPct val="100000"/>
              </a:lnSpc>
            </a:pPr>
            <a:r>
              <a:rPr lang="fr-FR" b="1" dirty="0"/>
              <a:t>Le système de modules (</a:t>
            </a:r>
            <a:r>
              <a:rPr lang="fr-FR" b="1" dirty="0">
                <a:solidFill>
                  <a:srgbClr val="FF0000"/>
                </a:solidFill>
              </a:rPr>
              <a:t>JDK 9 et plus</a:t>
            </a:r>
            <a:r>
              <a:rPr lang="fr-FR" b="1" dirty="0"/>
              <a:t>)</a:t>
            </a:r>
          </a:p>
        </p:txBody>
      </p:sp>
      <p:pic>
        <p:nvPicPr>
          <p:cNvPr id="2" name="Image 1"/>
          <p:cNvPicPr>
            <a:picLocks noChangeAspect="1"/>
          </p:cNvPicPr>
          <p:nvPr/>
        </p:nvPicPr>
        <p:blipFill>
          <a:blip r:embed="rId2"/>
          <a:stretch>
            <a:fillRect/>
          </a:stretch>
        </p:blipFill>
        <p:spPr>
          <a:xfrm>
            <a:off x="3505200" y="4470400"/>
            <a:ext cx="5486400" cy="1620837"/>
          </a:xfrm>
          <a:prstGeom prst="rect">
            <a:avLst/>
          </a:prstGeom>
        </p:spPr>
      </p:pic>
    </p:spTree>
    <p:extLst>
      <p:ext uri="{BB962C8B-B14F-4D97-AF65-F5344CB8AC3E}">
        <p14:creationId xmlns:p14="http://schemas.microsoft.com/office/powerpoint/2010/main" val="1341092740"/>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Définition </a:t>
            </a:r>
            <a:r>
              <a:rPr lang="fr-FR" b="1" dirty="0"/>
              <a:t>et objectifs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3200" dirty="0"/>
              <a:t> Le système de modules permet de diviser une application Java en modules distincts, favorisant la modularité et l'encapsulation forte</a:t>
            </a:r>
            <a:r>
              <a:rPr lang="fr-FR" sz="3200" dirty="0" smtClean="0"/>
              <a:t>.</a:t>
            </a:r>
          </a:p>
          <a:p>
            <a:pPr algn="just">
              <a:lnSpc>
                <a:spcPct val="150000"/>
              </a:lnSpc>
              <a:buFont typeface="Wingdings" panose="05000000000000000000" pitchFamily="2" charset="2"/>
              <a:buChar char="Ø"/>
            </a:pPr>
            <a:r>
              <a:rPr lang="fr-FR" sz="3200" dirty="0" smtClean="0"/>
              <a:t>Objectifs </a:t>
            </a:r>
            <a:r>
              <a:rPr lang="fr-FR" sz="3200" dirty="0"/>
              <a:t>: réduire la complexité, faciliter le développement, améliorer les performances et réduire les dépendances inutiles.</a:t>
            </a:r>
          </a:p>
        </p:txBody>
      </p:sp>
    </p:spTree>
    <p:extLst>
      <p:ext uri="{BB962C8B-B14F-4D97-AF65-F5344CB8AC3E}">
        <p14:creationId xmlns:p14="http://schemas.microsoft.com/office/powerpoint/2010/main" val="1131231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Pourquoi un système de modules ?</a:t>
            </a:r>
          </a:p>
        </p:txBody>
      </p:sp>
      <p:sp>
        <p:nvSpPr>
          <p:cNvPr id="3" name="Espace réservé du contenu 2"/>
          <p:cNvSpPr>
            <a:spLocks noGrp="1"/>
          </p:cNvSpPr>
          <p:nvPr>
            <p:ph idx="1"/>
          </p:nvPr>
        </p:nvSpPr>
        <p:spPr>
          <a:xfrm>
            <a:off x="1097280" y="1737360"/>
            <a:ext cx="10058400" cy="4023360"/>
          </a:xfrm>
        </p:spPr>
        <p:txBody>
          <a:bodyPr>
            <a:noAutofit/>
          </a:bodyPr>
          <a:lstStyle/>
          <a:p>
            <a:pPr algn="just">
              <a:lnSpc>
                <a:spcPct val="150000"/>
              </a:lnSpc>
              <a:buFont typeface="Wingdings" panose="05000000000000000000" pitchFamily="2" charset="2"/>
              <a:buChar char="Ø"/>
            </a:pPr>
            <a:r>
              <a:rPr lang="fr-FR" sz="3200" dirty="0"/>
              <a:t> Limites du </a:t>
            </a:r>
            <a:r>
              <a:rPr lang="fr-FR" sz="3200" b="1" dirty="0" err="1"/>
              <a:t>classpath</a:t>
            </a:r>
            <a:r>
              <a:rPr lang="fr-FR" sz="3200" dirty="0"/>
              <a:t> traditionnel : collision de classes, difficultés de gestion de dépendances, manque d'encapsulation</a:t>
            </a:r>
            <a:r>
              <a:rPr lang="fr-FR" sz="3200" dirty="0" smtClean="0"/>
              <a:t>.</a:t>
            </a:r>
          </a:p>
          <a:p>
            <a:pPr algn="just">
              <a:lnSpc>
                <a:spcPct val="150000"/>
              </a:lnSpc>
              <a:buFont typeface="Wingdings" panose="05000000000000000000" pitchFamily="2" charset="2"/>
              <a:buChar char="Ø"/>
            </a:pPr>
            <a:r>
              <a:rPr lang="fr-FR" sz="3200" dirty="0" smtClean="0"/>
              <a:t> Objectifs </a:t>
            </a:r>
            <a:r>
              <a:rPr lang="fr-FR" sz="3200" dirty="0"/>
              <a:t>du </a:t>
            </a:r>
            <a:r>
              <a:rPr lang="fr-FR" sz="3200" b="1" dirty="0" err="1"/>
              <a:t>Jigsaw</a:t>
            </a:r>
            <a:r>
              <a:rPr lang="fr-FR" sz="3200" dirty="0"/>
              <a:t> Project : amélioration de la modularité, réduction des tailles des applications, meilleur contrôle des dépendances.</a:t>
            </a:r>
          </a:p>
          <a:p>
            <a:pPr algn="just">
              <a:lnSpc>
                <a:spcPct val="150000"/>
              </a:lnSpc>
              <a:buFont typeface="Wingdings" panose="05000000000000000000" pitchFamily="2" charset="2"/>
              <a:buChar char="Ø"/>
            </a:pPr>
            <a:endParaRPr lang="fr-FR" sz="3200" dirty="0"/>
          </a:p>
        </p:txBody>
      </p:sp>
    </p:spTree>
    <p:extLst>
      <p:ext uri="{BB962C8B-B14F-4D97-AF65-F5344CB8AC3E}">
        <p14:creationId xmlns:p14="http://schemas.microsoft.com/office/powerpoint/2010/main" val="3358467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Concepts de base de la modularité dans le JDK 9</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smtClean="0"/>
              <a:t> </a:t>
            </a:r>
            <a:r>
              <a:rPr lang="fr-FR" sz="2800" b="1" dirty="0"/>
              <a:t>Définitions importantes :</a:t>
            </a:r>
            <a:endParaRPr lang="fr-FR" sz="2800" dirty="0"/>
          </a:p>
          <a:p>
            <a:pPr lvl="1" algn="just">
              <a:lnSpc>
                <a:spcPct val="150000"/>
              </a:lnSpc>
              <a:buFont typeface="Wingdings" panose="05000000000000000000" pitchFamily="2" charset="2"/>
              <a:buChar char="Ø"/>
            </a:pPr>
            <a:r>
              <a:rPr lang="fr-FR" sz="2400" dirty="0"/>
              <a:t> </a:t>
            </a:r>
            <a:r>
              <a:rPr lang="fr-FR" sz="2400" b="1" dirty="0"/>
              <a:t>Module</a:t>
            </a:r>
            <a:r>
              <a:rPr lang="fr-FR" sz="2400" dirty="0"/>
              <a:t> : Un regroupement logique de packages avec des dépendances explicites</a:t>
            </a:r>
            <a:r>
              <a:rPr lang="fr-FR" sz="2400" dirty="0" smtClean="0"/>
              <a:t>.</a:t>
            </a:r>
          </a:p>
          <a:p>
            <a:pPr lvl="1" algn="just">
              <a:lnSpc>
                <a:spcPct val="150000"/>
              </a:lnSpc>
              <a:buFont typeface="Wingdings" panose="05000000000000000000" pitchFamily="2" charset="2"/>
              <a:buChar char="Ø"/>
            </a:pPr>
            <a:r>
              <a:rPr lang="fr-FR" sz="2400" dirty="0"/>
              <a:t> </a:t>
            </a:r>
            <a:r>
              <a:rPr lang="fr-FR" sz="2400" b="1" dirty="0"/>
              <a:t>Module </a:t>
            </a:r>
            <a:r>
              <a:rPr lang="fr-FR" sz="2400" b="1" dirty="0" err="1"/>
              <a:t>descriptor</a:t>
            </a:r>
            <a:r>
              <a:rPr lang="fr-FR" sz="2400" b="1" dirty="0"/>
              <a:t> (module-info.java) </a:t>
            </a:r>
            <a:r>
              <a:rPr lang="fr-FR" sz="2400" dirty="0"/>
              <a:t>: Décrit le nom du module, ses dépendances, et les API qu'il exporte</a:t>
            </a:r>
            <a:r>
              <a:rPr lang="fr-FR" sz="2400" dirty="0" smtClean="0"/>
              <a:t>.</a:t>
            </a:r>
          </a:p>
          <a:p>
            <a:pPr algn="just">
              <a:lnSpc>
                <a:spcPct val="150000"/>
              </a:lnSpc>
              <a:buFont typeface="Wingdings" panose="05000000000000000000" pitchFamily="2" charset="2"/>
              <a:buChar char="Ø"/>
            </a:pPr>
            <a:r>
              <a:rPr lang="fr-FR" sz="2800" dirty="0"/>
              <a:t> </a:t>
            </a:r>
            <a:r>
              <a:rPr lang="fr-FR" sz="2800" b="1" dirty="0"/>
              <a:t>Structure d'un module </a:t>
            </a:r>
            <a:r>
              <a:rPr lang="fr-FR" sz="2800" dirty="0" smtClean="0"/>
              <a:t>:</a:t>
            </a:r>
          </a:p>
          <a:p>
            <a:pPr lvl="1" algn="just">
              <a:lnSpc>
                <a:spcPct val="150000"/>
              </a:lnSpc>
              <a:buFont typeface="Wingdings" panose="05000000000000000000" pitchFamily="2" charset="2"/>
              <a:buChar char="Ø"/>
            </a:pPr>
            <a:r>
              <a:rPr lang="fr-FR" sz="2400" dirty="0"/>
              <a:t> Exemple simple </a:t>
            </a:r>
            <a:r>
              <a:rPr lang="fr-FR" sz="2400" dirty="0" smtClean="0"/>
              <a:t>:</a:t>
            </a:r>
          </a:p>
        </p:txBody>
      </p:sp>
      <p:pic>
        <p:nvPicPr>
          <p:cNvPr id="7" name="Image 6"/>
          <p:cNvPicPr>
            <a:picLocks noChangeAspect="1"/>
          </p:cNvPicPr>
          <p:nvPr/>
        </p:nvPicPr>
        <p:blipFill>
          <a:blip r:embed="rId2"/>
          <a:stretch>
            <a:fillRect/>
          </a:stretch>
        </p:blipFill>
        <p:spPr>
          <a:xfrm>
            <a:off x="4958080" y="5638800"/>
            <a:ext cx="3650721" cy="10091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5158799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Fonctionnement du système de modules</a:t>
            </a:r>
          </a:p>
        </p:txBody>
      </p:sp>
      <p:sp>
        <p:nvSpPr>
          <p:cNvPr id="3" name="Espace réservé du contenu 2"/>
          <p:cNvSpPr>
            <a:spLocks noGrp="1"/>
          </p:cNvSpPr>
          <p:nvPr>
            <p:ph idx="1"/>
          </p:nvPr>
        </p:nvSpPr>
        <p:spPr>
          <a:xfrm>
            <a:off x="1097280" y="1628987"/>
            <a:ext cx="10058400" cy="4023360"/>
          </a:xfrm>
        </p:spPr>
        <p:txBody>
          <a:bodyPr>
            <a:noAutofit/>
          </a:bodyPr>
          <a:lstStyle/>
          <a:p>
            <a:pPr algn="just">
              <a:lnSpc>
                <a:spcPct val="150000"/>
              </a:lnSpc>
              <a:buFont typeface="Wingdings" panose="05000000000000000000" pitchFamily="2" charset="2"/>
              <a:buChar char="Ø"/>
            </a:pPr>
            <a:r>
              <a:rPr lang="fr-FR" sz="2400" b="1" dirty="0"/>
              <a:t> Encapsulation stricte </a:t>
            </a:r>
            <a:r>
              <a:rPr lang="fr-FR" sz="2400" b="1" dirty="0" smtClean="0"/>
              <a:t>:</a:t>
            </a:r>
          </a:p>
          <a:p>
            <a:pPr lvl="1" algn="just">
              <a:lnSpc>
                <a:spcPct val="150000"/>
              </a:lnSpc>
              <a:buFont typeface="Wingdings" panose="05000000000000000000" pitchFamily="2" charset="2"/>
              <a:buChar char="Ø"/>
            </a:pPr>
            <a:r>
              <a:rPr lang="fr-FR" sz="2000" dirty="0"/>
              <a:t> Les packages ne sont pas accessibles par défaut, contrairement au </a:t>
            </a:r>
            <a:r>
              <a:rPr lang="fr-FR" sz="2000" b="1" dirty="0" err="1"/>
              <a:t>classpath</a:t>
            </a:r>
            <a:r>
              <a:rPr lang="fr-FR" sz="2000" dirty="0" smtClean="0"/>
              <a:t>.</a:t>
            </a:r>
          </a:p>
          <a:p>
            <a:pPr lvl="1" algn="just">
              <a:lnSpc>
                <a:spcPct val="150000"/>
              </a:lnSpc>
              <a:buFont typeface="Wingdings" panose="05000000000000000000" pitchFamily="2" charset="2"/>
              <a:buChar char="Ø"/>
            </a:pPr>
            <a:r>
              <a:rPr lang="fr-FR" sz="2000" dirty="0"/>
              <a:t> Utilisation de </a:t>
            </a:r>
            <a:r>
              <a:rPr lang="fr-FR" sz="2000" b="1" dirty="0"/>
              <a:t>exports</a:t>
            </a:r>
            <a:r>
              <a:rPr lang="fr-FR" sz="2000" dirty="0"/>
              <a:t> pour rendre un package accessible</a:t>
            </a:r>
            <a:r>
              <a:rPr lang="fr-FR" sz="2000" dirty="0" smtClean="0"/>
              <a:t>.</a:t>
            </a:r>
          </a:p>
          <a:p>
            <a:pPr algn="just">
              <a:lnSpc>
                <a:spcPct val="150000"/>
              </a:lnSpc>
              <a:buFont typeface="Wingdings" panose="05000000000000000000" pitchFamily="2" charset="2"/>
              <a:buChar char="Ø"/>
            </a:pPr>
            <a:r>
              <a:rPr lang="fr-FR" sz="2400" dirty="0"/>
              <a:t> </a:t>
            </a:r>
            <a:r>
              <a:rPr lang="fr-FR" sz="2400" b="1" dirty="0"/>
              <a:t>Résolution des dépendances :</a:t>
            </a:r>
            <a:endParaRPr lang="fr-FR" sz="2400" dirty="0"/>
          </a:p>
          <a:p>
            <a:pPr lvl="1" algn="just">
              <a:lnSpc>
                <a:spcPct val="150000"/>
              </a:lnSpc>
              <a:buFont typeface="Wingdings" panose="05000000000000000000" pitchFamily="2" charset="2"/>
              <a:buChar char="Ø"/>
            </a:pPr>
            <a:r>
              <a:rPr lang="fr-FR" sz="2000" dirty="0"/>
              <a:t> Le système de modules vérifie à la compilation et à l'exécution que toutes les dépendances sont présentes</a:t>
            </a:r>
            <a:r>
              <a:rPr lang="fr-FR" sz="2000" dirty="0" smtClean="0"/>
              <a:t>.</a:t>
            </a:r>
          </a:p>
          <a:p>
            <a:pPr algn="just">
              <a:lnSpc>
                <a:spcPct val="150000"/>
              </a:lnSpc>
              <a:buFont typeface="Wingdings" panose="05000000000000000000" pitchFamily="2" charset="2"/>
              <a:buChar char="Ø"/>
            </a:pPr>
            <a:r>
              <a:rPr lang="fr-FR" sz="2400" dirty="0"/>
              <a:t> </a:t>
            </a:r>
            <a:r>
              <a:rPr lang="fr-FR" sz="2400" b="1" dirty="0"/>
              <a:t>Graphes de dépendances :</a:t>
            </a:r>
            <a:endParaRPr lang="fr-FR" sz="2400" dirty="0"/>
          </a:p>
          <a:p>
            <a:pPr lvl="1" algn="just">
              <a:lnSpc>
                <a:spcPct val="150000"/>
              </a:lnSpc>
              <a:buFont typeface="Wingdings" panose="05000000000000000000" pitchFamily="2" charset="2"/>
              <a:buChar char="Ø"/>
            </a:pPr>
            <a:r>
              <a:rPr lang="fr-FR" sz="2000" dirty="0" smtClean="0"/>
              <a:t>Détection </a:t>
            </a:r>
            <a:r>
              <a:rPr lang="fr-FR" sz="2000" dirty="0"/>
              <a:t>des cycles et simplification de la maintenance.</a:t>
            </a:r>
          </a:p>
          <a:p>
            <a:pPr lvl="1" algn="just">
              <a:lnSpc>
                <a:spcPct val="150000"/>
              </a:lnSpc>
              <a:buFont typeface="Wingdings" panose="05000000000000000000" pitchFamily="2" charset="2"/>
              <a:buChar char="Ø"/>
            </a:pPr>
            <a:endParaRPr lang="fr-FR" sz="2000" dirty="0"/>
          </a:p>
        </p:txBody>
      </p:sp>
    </p:spTree>
    <p:extLst>
      <p:ext uri="{BB962C8B-B14F-4D97-AF65-F5344CB8AC3E}">
        <p14:creationId xmlns:p14="http://schemas.microsoft.com/office/powerpoint/2010/main" val="1882680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down)">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down)">
                                      <p:cBhvr>
                                        <p:cTn id="26" dur="500"/>
                                        <p:tgtEl>
                                          <p:spTgt spid="3">
                                            <p:txEl>
                                              <p:pRg st="5" end="5"/>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down)">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3600" b="1" dirty="0"/>
              <a:t>Avantages clés pour les développeurs et </a:t>
            </a:r>
            <a:r>
              <a:rPr lang="fr-FR" sz="3600" b="1" dirty="0" smtClean="0"/>
              <a:t>l'entreprise</a:t>
            </a:r>
            <a:endParaRPr lang="fr-FR" sz="3600" dirty="0"/>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smtClean="0"/>
              <a:t> </a:t>
            </a:r>
            <a:r>
              <a:rPr lang="fr-FR" sz="2800" b="1" dirty="0"/>
              <a:t>Performance et sécurité :</a:t>
            </a:r>
            <a:endParaRPr lang="fr-FR" sz="2800" dirty="0"/>
          </a:p>
          <a:p>
            <a:pPr lvl="1" algn="just">
              <a:lnSpc>
                <a:spcPct val="150000"/>
              </a:lnSpc>
              <a:buFont typeface="Wingdings" panose="05000000000000000000" pitchFamily="2" charset="2"/>
              <a:buChar char="Ø"/>
            </a:pPr>
            <a:r>
              <a:rPr lang="fr-FR" sz="2400" dirty="0"/>
              <a:t> Temps de démarrage réduit grâce à des dépendances limitées</a:t>
            </a:r>
            <a:r>
              <a:rPr lang="fr-FR" sz="2400" dirty="0" smtClean="0"/>
              <a:t>.</a:t>
            </a:r>
          </a:p>
          <a:p>
            <a:pPr lvl="1" algn="just">
              <a:lnSpc>
                <a:spcPct val="150000"/>
              </a:lnSpc>
              <a:buFont typeface="Wingdings" panose="05000000000000000000" pitchFamily="2" charset="2"/>
              <a:buChar char="Ø"/>
            </a:pPr>
            <a:r>
              <a:rPr lang="fr-FR" sz="2400" dirty="0"/>
              <a:t> API internes (comme </a:t>
            </a:r>
            <a:r>
              <a:rPr lang="fr-FR" sz="2400" b="1" dirty="0" err="1"/>
              <a:t>sun.misc</a:t>
            </a:r>
            <a:r>
              <a:rPr lang="fr-FR" sz="2400" dirty="0"/>
              <a:t>) inaccessibles par défaut</a:t>
            </a:r>
            <a:r>
              <a:rPr lang="fr-FR" sz="2400" dirty="0" smtClean="0"/>
              <a:t>.</a:t>
            </a:r>
          </a:p>
          <a:p>
            <a:pPr algn="just">
              <a:lnSpc>
                <a:spcPct val="150000"/>
              </a:lnSpc>
              <a:buFont typeface="Wingdings" panose="05000000000000000000" pitchFamily="2" charset="2"/>
              <a:buChar char="Ø"/>
            </a:pPr>
            <a:r>
              <a:rPr lang="fr-FR" sz="2800" dirty="0"/>
              <a:t> </a:t>
            </a:r>
            <a:r>
              <a:rPr lang="fr-FR" sz="2800" b="1" dirty="0"/>
              <a:t>Maintenance facilitée </a:t>
            </a:r>
            <a:r>
              <a:rPr lang="fr-FR" sz="2800" b="1" dirty="0" smtClean="0"/>
              <a:t>:</a:t>
            </a:r>
            <a:endParaRPr lang="fr-FR" sz="2800" dirty="0" smtClean="0"/>
          </a:p>
          <a:p>
            <a:pPr lvl="1" algn="just">
              <a:lnSpc>
                <a:spcPct val="150000"/>
              </a:lnSpc>
              <a:buFont typeface="Wingdings" panose="05000000000000000000" pitchFamily="2" charset="2"/>
              <a:buChar char="Ø"/>
            </a:pPr>
            <a:r>
              <a:rPr lang="fr-FR" sz="2400" dirty="0"/>
              <a:t> Détection anticipée des problèmes de dépendance</a:t>
            </a:r>
            <a:r>
              <a:rPr lang="fr-FR" sz="2400" dirty="0" smtClean="0"/>
              <a:t>.</a:t>
            </a:r>
          </a:p>
          <a:p>
            <a:pPr lvl="1" algn="just">
              <a:lnSpc>
                <a:spcPct val="150000"/>
              </a:lnSpc>
              <a:buFont typeface="Wingdings" panose="05000000000000000000" pitchFamily="2" charset="2"/>
              <a:buChar char="Ø"/>
            </a:pPr>
            <a:r>
              <a:rPr lang="fr-FR" sz="2400" dirty="0"/>
              <a:t> Déploiements plus modulaires, permettant un débogage et une mise à jour plus simples.</a:t>
            </a:r>
          </a:p>
        </p:txBody>
      </p:sp>
    </p:spTree>
    <p:extLst>
      <p:ext uri="{BB962C8B-B14F-4D97-AF65-F5344CB8AC3E}">
        <p14:creationId xmlns:p14="http://schemas.microsoft.com/office/powerpoint/2010/main" val="402053246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Étapes pratiques pour créer un projet </a:t>
            </a:r>
            <a:r>
              <a:rPr lang="fr-FR" sz="4000" b="1" dirty="0" smtClean="0"/>
              <a:t>modulaire</a:t>
            </a:r>
            <a:endParaRPr lang="fr-FR" sz="4000" dirty="0"/>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smtClean="0"/>
              <a:t> </a:t>
            </a:r>
            <a:r>
              <a:rPr lang="fr-FR" b="1" dirty="0"/>
              <a:t>Organisation des fichiers :</a:t>
            </a:r>
            <a:endParaRPr lang="fr-FR" dirty="0"/>
          </a:p>
          <a:p>
            <a:pPr lvl="1">
              <a:buFont typeface="Wingdings" panose="05000000000000000000" pitchFamily="2" charset="2"/>
              <a:buChar char="Ø"/>
            </a:pPr>
            <a:r>
              <a:rPr lang="fr-FR" dirty="0"/>
              <a:t> Exemple </a:t>
            </a:r>
            <a:r>
              <a:rPr lang="fr-FR" b="1" dirty="0"/>
              <a:t>d’arborescence</a:t>
            </a:r>
            <a:r>
              <a:rPr lang="fr-FR" dirty="0"/>
              <a:t> </a:t>
            </a:r>
            <a:r>
              <a:rPr lang="fr-FR" dirty="0" smtClean="0"/>
              <a:t>:</a:t>
            </a:r>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endParaRPr lang="fr-FR" dirty="0"/>
          </a:p>
          <a:p>
            <a:pPr>
              <a:buFont typeface="Wingdings" panose="05000000000000000000" pitchFamily="2" charset="2"/>
              <a:buChar char="Ø"/>
            </a:pPr>
            <a:r>
              <a:rPr lang="fr-FR" dirty="0" smtClean="0"/>
              <a:t> </a:t>
            </a:r>
            <a:r>
              <a:rPr lang="fr-FR" dirty="0"/>
              <a:t>Compilation et exécution d’un projet modulaire </a:t>
            </a:r>
            <a:r>
              <a:rPr lang="fr-FR" dirty="0" smtClean="0"/>
              <a:t>:</a:t>
            </a:r>
          </a:p>
          <a:p>
            <a:pPr lvl="1">
              <a:buFont typeface="Wingdings" panose="05000000000000000000" pitchFamily="2" charset="2"/>
              <a:buChar char="Ø"/>
            </a:pPr>
            <a:r>
              <a:rPr lang="fr-FR" dirty="0"/>
              <a:t> </a:t>
            </a:r>
            <a:r>
              <a:rPr lang="fr-FR" b="1" dirty="0"/>
              <a:t>Compilation</a:t>
            </a:r>
            <a:r>
              <a:rPr lang="fr-FR" dirty="0"/>
              <a:t> </a:t>
            </a:r>
            <a:r>
              <a:rPr lang="fr-FR" dirty="0" smtClean="0"/>
              <a:t>:</a:t>
            </a:r>
          </a:p>
          <a:p>
            <a:pPr lvl="1">
              <a:buFont typeface="Wingdings" panose="05000000000000000000" pitchFamily="2" charset="2"/>
              <a:buChar char="Ø"/>
            </a:pPr>
            <a:endParaRPr lang="fr-FR" dirty="0"/>
          </a:p>
          <a:p>
            <a:pPr lvl="1">
              <a:buFont typeface="Wingdings" panose="05000000000000000000" pitchFamily="2" charset="2"/>
              <a:buChar char="Ø"/>
            </a:pPr>
            <a:endParaRPr lang="fr-FR" dirty="0" smtClean="0"/>
          </a:p>
          <a:p>
            <a:pPr lvl="1">
              <a:buFont typeface="Wingdings" panose="05000000000000000000" pitchFamily="2" charset="2"/>
              <a:buChar char="Ø"/>
            </a:pPr>
            <a:r>
              <a:rPr lang="fr-FR" dirty="0"/>
              <a:t> </a:t>
            </a:r>
            <a:r>
              <a:rPr lang="fr-FR" b="1" dirty="0"/>
              <a:t>Exécution</a:t>
            </a:r>
            <a:r>
              <a:rPr lang="fr-FR" dirty="0"/>
              <a:t> </a:t>
            </a:r>
            <a:r>
              <a:rPr lang="fr-FR" dirty="0" smtClean="0"/>
              <a:t>:</a:t>
            </a:r>
            <a:endParaRPr lang="fr-FR" dirty="0"/>
          </a:p>
        </p:txBody>
      </p:sp>
      <p:pic>
        <p:nvPicPr>
          <p:cNvPr id="5" name="Image 4"/>
          <p:cNvPicPr>
            <a:picLocks noChangeAspect="1"/>
          </p:cNvPicPr>
          <p:nvPr/>
        </p:nvPicPr>
        <p:blipFill>
          <a:blip r:embed="rId2"/>
          <a:stretch>
            <a:fillRect/>
          </a:stretch>
        </p:blipFill>
        <p:spPr>
          <a:xfrm>
            <a:off x="4434204" y="2057189"/>
            <a:ext cx="4400551" cy="20720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Image 6"/>
          <p:cNvPicPr>
            <a:picLocks noChangeAspect="1"/>
          </p:cNvPicPr>
          <p:nvPr/>
        </p:nvPicPr>
        <p:blipFill>
          <a:blip r:embed="rId3"/>
          <a:stretch>
            <a:fillRect/>
          </a:stretch>
        </p:blipFill>
        <p:spPr>
          <a:xfrm>
            <a:off x="3285067" y="4618155"/>
            <a:ext cx="5361171" cy="7497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Image 8"/>
          <p:cNvPicPr>
            <a:picLocks noChangeAspect="1"/>
          </p:cNvPicPr>
          <p:nvPr/>
        </p:nvPicPr>
        <p:blipFill>
          <a:blip r:embed="rId4"/>
          <a:stretch>
            <a:fillRect/>
          </a:stretch>
        </p:blipFill>
        <p:spPr>
          <a:xfrm>
            <a:off x="3283663" y="5613499"/>
            <a:ext cx="7512833" cy="6179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9369422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Cas d'utilisation </a:t>
            </a:r>
            <a:r>
              <a:rPr lang="fr-FR" b="1" dirty="0" smtClean="0"/>
              <a:t>concret</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a:t>
            </a:r>
            <a:r>
              <a:rPr lang="fr-FR" sz="2800" b="1" dirty="0"/>
              <a:t>Scénario :</a:t>
            </a:r>
            <a:r>
              <a:rPr lang="fr-FR" sz="2800" dirty="0"/>
              <a:t> Découpage d'une application monolithique en modules</a:t>
            </a:r>
            <a:r>
              <a:rPr lang="fr-FR" sz="2800" dirty="0" smtClean="0"/>
              <a:t>.</a:t>
            </a:r>
          </a:p>
          <a:p>
            <a:pPr algn="just">
              <a:lnSpc>
                <a:spcPct val="150000"/>
              </a:lnSpc>
              <a:buFont typeface="Wingdings" panose="05000000000000000000" pitchFamily="2" charset="2"/>
              <a:buChar char="Ø"/>
            </a:pPr>
            <a:r>
              <a:rPr lang="fr-FR" sz="2800" dirty="0"/>
              <a:t> </a:t>
            </a:r>
            <a:r>
              <a:rPr lang="fr-FR" sz="2800" b="1" dirty="0"/>
              <a:t>Étapes :</a:t>
            </a:r>
            <a:endParaRPr lang="fr-FR" sz="2800" dirty="0"/>
          </a:p>
          <a:p>
            <a:pPr lvl="1" algn="just">
              <a:lnSpc>
                <a:spcPct val="150000"/>
              </a:lnSpc>
              <a:buFont typeface="Wingdings" panose="05000000000000000000" pitchFamily="2" charset="2"/>
              <a:buChar char="Ø"/>
            </a:pPr>
            <a:r>
              <a:rPr lang="fr-FR" sz="2400" dirty="0"/>
              <a:t> Identifier les dépendances critiques</a:t>
            </a:r>
            <a:r>
              <a:rPr lang="fr-FR" sz="2400" dirty="0" smtClean="0"/>
              <a:t>.</a:t>
            </a:r>
          </a:p>
          <a:p>
            <a:pPr lvl="1" algn="just">
              <a:lnSpc>
                <a:spcPct val="150000"/>
              </a:lnSpc>
              <a:buFont typeface="Wingdings" panose="05000000000000000000" pitchFamily="2" charset="2"/>
              <a:buChar char="Ø"/>
            </a:pPr>
            <a:r>
              <a:rPr lang="fr-FR" sz="2400" dirty="0"/>
              <a:t> Créer des modules et définir les relations entre eux</a:t>
            </a:r>
            <a:r>
              <a:rPr lang="fr-FR" sz="2400" dirty="0" smtClean="0"/>
              <a:t>.</a:t>
            </a:r>
          </a:p>
          <a:p>
            <a:pPr lvl="1" algn="just">
              <a:lnSpc>
                <a:spcPct val="150000"/>
              </a:lnSpc>
              <a:buFont typeface="Wingdings" panose="05000000000000000000" pitchFamily="2" charset="2"/>
              <a:buChar char="Ø"/>
            </a:pPr>
            <a:r>
              <a:rPr lang="fr-FR" sz="2400" dirty="0"/>
              <a:t> Tester la migration et valider la modularité.</a:t>
            </a:r>
          </a:p>
        </p:txBody>
      </p:sp>
    </p:spTree>
    <p:extLst>
      <p:ext uri="{BB962C8B-B14F-4D97-AF65-F5344CB8AC3E}">
        <p14:creationId xmlns:p14="http://schemas.microsoft.com/office/powerpoint/2010/main" val="958375772"/>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3200" b="1" dirty="0"/>
              <a:t>Migration des projets existants vers le système de modules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smtClean="0"/>
              <a:t> </a:t>
            </a:r>
            <a:r>
              <a:rPr lang="fr-FR" sz="2800" b="1" dirty="0"/>
              <a:t>Modularisation progressive :</a:t>
            </a:r>
            <a:endParaRPr lang="fr-FR" sz="2800" dirty="0"/>
          </a:p>
          <a:p>
            <a:pPr lvl="1" algn="just">
              <a:lnSpc>
                <a:spcPct val="150000"/>
              </a:lnSpc>
              <a:buFont typeface="Wingdings" panose="05000000000000000000" pitchFamily="2" charset="2"/>
              <a:buChar char="Ø"/>
            </a:pPr>
            <a:r>
              <a:rPr lang="fr-FR" sz="2400" dirty="0"/>
              <a:t> Débuter par un module racine et ajouter des modules étape par étape</a:t>
            </a:r>
            <a:r>
              <a:rPr lang="fr-FR" sz="2400" dirty="0" smtClean="0"/>
              <a:t>.</a:t>
            </a:r>
          </a:p>
          <a:p>
            <a:pPr lvl="1" algn="just">
              <a:lnSpc>
                <a:spcPct val="150000"/>
              </a:lnSpc>
              <a:buFont typeface="Wingdings" panose="05000000000000000000" pitchFamily="2" charset="2"/>
              <a:buChar char="Ø"/>
            </a:pPr>
            <a:r>
              <a:rPr lang="fr-FR" sz="2400" dirty="0"/>
              <a:t> Utiliser des modules automatiques pour intégrer les bibliothèques tierces non modulaires</a:t>
            </a:r>
            <a:r>
              <a:rPr lang="fr-FR" sz="2400" dirty="0" smtClean="0"/>
              <a:t>.</a:t>
            </a:r>
          </a:p>
          <a:p>
            <a:pPr algn="just">
              <a:lnSpc>
                <a:spcPct val="150000"/>
              </a:lnSpc>
              <a:buFont typeface="Wingdings" panose="05000000000000000000" pitchFamily="2" charset="2"/>
              <a:buChar char="Ø"/>
            </a:pPr>
            <a:r>
              <a:rPr lang="fr-FR" sz="2800" dirty="0"/>
              <a:t> </a:t>
            </a:r>
            <a:r>
              <a:rPr lang="fr-FR" sz="2800" b="1" dirty="0"/>
              <a:t>Compatibilité descendante :</a:t>
            </a:r>
            <a:endParaRPr lang="fr-FR" sz="2800" dirty="0"/>
          </a:p>
          <a:p>
            <a:pPr lvl="1" algn="just">
              <a:lnSpc>
                <a:spcPct val="150000"/>
              </a:lnSpc>
              <a:buFont typeface="Wingdings" panose="05000000000000000000" pitchFamily="2" charset="2"/>
              <a:buChar char="Ø"/>
            </a:pPr>
            <a:r>
              <a:rPr lang="fr-FR" sz="2400" dirty="0"/>
              <a:t> Le </a:t>
            </a:r>
            <a:r>
              <a:rPr lang="fr-FR" sz="2400" b="1" dirty="0" err="1"/>
              <a:t>classpath</a:t>
            </a:r>
            <a:r>
              <a:rPr lang="fr-FR" sz="2400" dirty="0"/>
              <a:t> fonctionne toujours en parallèle avec le </a:t>
            </a:r>
            <a:r>
              <a:rPr lang="fr-FR" sz="2400" b="1" dirty="0" err="1"/>
              <a:t>modulepath</a:t>
            </a:r>
            <a:r>
              <a:rPr lang="fr-FR" sz="2400" dirty="0"/>
              <a:t>, permettant une adoption graduelle.</a:t>
            </a:r>
          </a:p>
        </p:txBody>
      </p:sp>
    </p:spTree>
    <p:extLst>
      <p:ext uri="{BB962C8B-B14F-4D97-AF65-F5344CB8AC3E}">
        <p14:creationId xmlns:p14="http://schemas.microsoft.com/office/powerpoint/2010/main" val="557738789"/>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Impact du système de modules</a:t>
            </a:r>
          </a:p>
        </p:txBody>
      </p:sp>
      <p:sp>
        <p:nvSpPr>
          <p:cNvPr id="3" name="Espace réservé du contenu 2"/>
          <p:cNvSpPr>
            <a:spLocks noGrp="1"/>
          </p:cNvSpPr>
          <p:nvPr>
            <p:ph idx="1"/>
          </p:nvPr>
        </p:nvSpPr>
        <p:spPr>
          <a:xfrm>
            <a:off x="1097280" y="1788161"/>
            <a:ext cx="10058400" cy="4023360"/>
          </a:xfrm>
        </p:spPr>
        <p:txBody>
          <a:bodyPr>
            <a:normAutofit/>
          </a:bodyPr>
          <a:lstStyle/>
          <a:p>
            <a:pPr algn="just">
              <a:lnSpc>
                <a:spcPct val="150000"/>
              </a:lnSpc>
              <a:buFont typeface="Wingdings" panose="05000000000000000000" pitchFamily="2" charset="2"/>
              <a:buChar char="Ø"/>
            </a:pPr>
            <a:r>
              <a:rPr lang="fr-FR" sz="3600" dirty="0"/>
              <a:t> Amélioration significative de la gestion des dépendances et de l'encapsulation</a:t>
            </a:r>
            <a:r>
              <a:rPr lang="fr-FR" sz="3600" dirty="0" smtClean="0"/>
              <a:t>.</a:t>
            </a:r>
          </a:p>
          <a:p>
            <a:pPr algn="just">
              <a:lnSpc>
                <a:spcPct val="150000"/>
              </a:lnSpc>
              <a:buFont typeface="Wingdings" panose="05000000000000000000" pitchFamily="2" charset="2"/>
              <a:buChar char="Ø"/>
            </a:pPr>
            <a:r>
              <a:rPr lang="fr-FR" sz="3600" dirty="0"/>
              <a:t> Base solide pour le développement d'applications modernes et performantes.</a:t>
            </a:r>
          </a:p>
        </p:txBody>
      </p:sp>
    </p:spTree>
    <p:extLst>
      <p:ext uri="{BB962C8B-B14F-4D97-AF65-F5344CB8AC3E}">
        <p14:creationId xmlns:p14="http://schemas.microsoft.com/office/powerpoint/2010/main" val="3011125944"/>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Exemple</a:t>
            </a:r>
            <a:endParaRPr lang="fr-FR" b="1" dirty="0"/>
          </a:p>
        </p:txBody>
      </p:sp>
      <p:pic>
        <p:nvPicPr>
          <p:cNvPr id="4" name="Espace réservé du contenu 3"/>
          <p:cNvPicPr>
            <a:picLocks noGrp="1" noChangeAspect="1"/>
          </p:cNvPicPr>
          <p:nvPr>
            <p:ph idx="1"/>
          </p:nvPr>
        </p:nvPicPr>
        <p:blipFill>
          <a:blip r:embed="rId2"/>
          <a:stretch>
            <a:fillRect/>
          </a:stretch>
        </p:blipFill>
        <p:spPr>
          <a:xfrm>
            <a:off x="2184400" y="2556933"/>
            <a:ext cx="7840133" cy="24553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8688221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Déclaration des Modules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a:t>
            </a:r>
            <a:r>
              <a:rPr lang="fr-FR" sz="2800" b="1" dirty="0" err="1"/>
              <a:t>requires</a:t>
            </a:r>
            <a:r>
              <a:rPr lang="fr-FR" sz="2800" dirty="0"/>
              <a:t> : Déclare une dépendance entre modules</a:t>
            </a:r>
            <a:r>
              <a:rPr lang="fr-FR" sz="2800" dirty="0" smtClean="0"/>
              <a:t>.</a:t>
            </a:r>
          </a:p>
          <a:p>
            <a:pPr algn="just">
              <a:lnSpc>
                <a:spcPct val="150000"/>
              </a:lnSpc>
              <a:buFont typeface="Wingdings" panose="05000000000000000000" pitchFamily="2" charset="2"/>
              <a:buChar char="Ø"/>
            </a:pPr>
            <a:r>
              <a:rPr lang="fr-FR" sz="2800" dirty="0"/>
              <a:t> </a:t>
            </a:r>
            <a:r>
              <a:rPr lang="fr-FR" sz="2800" b="1" dirty="0"/>
              <a:t>exports</a:t>
            </a:r>
            <a:r>
              <a:rPr lang="fr-FR" sz="2800" dirty="0"/>
              <a:t> : Exporte un package pour le rendre accessible aux autres modules</a:t>
            </a:r>
            <a:r>
              <a:rPr lang="fr-FR" sz="2800" dirty="0" smtClean="0"/>
              <a:t>.</a:t>
            </a:r>
          </a:p>
          <a:p>
            <a:pPr algn="just">
              <a:lnSpc>
                <a:spcPct val="150000"/>
              </a:lnSpc>
              <a:buFont typeface="Wingdings" panose="05000000000000000000" pitchFamily="2" charset="2"/>
              <a:buChar char="Ø"/>
            </a:pPr>
            <a:r>
              <a:rPr lang="fr-FR" sz="2800" b="1" dirty="0"/>
              <a:t> uses et </a:t>
            </a:r>
            <a:r>
              <a:rPr lang="fr-FR" sz="2800" b="1" dirty="0" err="1"/>
              <a:t>provides</a:t>
            </a:r>
            <a:r>
              <a:rPr lang="fr-FR" sz="2800" b="1" dirty="0"/>
              <a:t> ... </a:t>
            </a:r>
            <a:r>
              <a:rPr lang="fr-FR" sz="2800" b="1" dirty="0" err="1"/>
              <a:t>with</a:t>
            </a:r>
            <a:r>
              <a:rPr lang="fr-FR" sz="2800" b="1" dirty="0"/>
              <a:t> </a:t>
            </a:r>
            <a:r>
              <a:rPr lang="fr-FR" sz="2800" dirty="0"/>
              <a:t>: Implémentent le mécanisme de services Java SPI (Service Provider Interface</a:t>
            </a:r>
            <a:r>
              <a:rPr lang="fr-FR" sz="2800" dirty="0" smtClean="0"/>
              <a:t>).</a:t>
            </a:r>
          </a:p>
          <a:p>
            <a:pPr algn="just">
              <a:lnSpc>
                <a:spcPct val="150000"/>
              </a:lnSpc>
              <a:buFont typeface="Wingdings" panose="05000000000000000000" pitchFamily="2" charset="2"/>
              <a:buChar char="Ø"/>
            </a:pPr>
            <a:r>
              <a:rPr lang="fr-FR" sz="2800" dirty="0"/>
              <a:t> </a:t>
            </a:r>
            <a:r>
              <a:rPr lang="fr-FR" sz="2800" b="1" dirty="0"/>
              <a:t>opens</a:t>
            </a:r>
            <a:r>
              <a:rPr lang="fr-FR" sz="2800" dirty="0"/>
              <a:t> : Rend un package accessible à la réflexion.</a:t>
            </a:r>
          </a:p>
        </p:txBody>
      </p:sp>
    </p:spTree>
    <p:extLst>
      <p:ext uri="{BB962C8B-B14F-4D97-AF65-F5344CB8AC3E}">
        <p14:creationId xmlns:p14="http://schemas.microsoft.com/office/powerpoint/2010/main" val="2401857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Exemple : module-info.java</a:t>
            </a:r>
          </a:p>
        </p:txBody>
      </p:sp>
      <p:pic>
        <p:nvPicPr>
          <p:cNvPr id="4" name="Espace réservé du contenu 3"/>
          <p:cNvPicPr>
            <a:picLocks noGrp="1" noChangeAspect="1"/>
          </p:cNvPicPr>
          <p:nvPr>
            <p:ph idx="1"/>
          </p:nvPr>
        </p:nvPicPr>
        <p:blipFill>
          <a:blip r:embed="rId2"/>
          <a:stretch>
            <a:fillRect/>
          </a:stretch>
        </p:blipFill>
        <p:spPr>
          <a:xfrm>
            <a:off x="1097280" y="2048933"/>
            <a:ext cx="10058400" cy="4064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3033982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7280" y="286604"/>
            <a:ext cx="10058400" cy="847930"/>
          </a:xfrm>
        </p:spPr>
        <p:txBody>
          <a:bodyPr anchor="ctr"/>
          <a:lstStyle/>
          <a:p>
            <a:pPr algn="ctr"/>
            <a:r>
              <a:rPr lang="fr-FR" b="1" dirty="0" smtClean="0"/>
              <a:t>Mots Clés</a:t>
            </a:r>
            <a:endParaRPr lang="fr-FR" b="1" dirty="0"/>
          </a:p>
        </p:txBody>
      </p:sp>
      <p:pic>
        <p:nvPicPr>
          <p:cNvPr id="6" name="Espace réservé du contenu 5"/>
          <p:cNvPicPr>
            <a:picLocks noGrp="1" noChangeAspect="1"/>
          </p:cNvPicPr>
          <p:nvPr>
            <p:ph idx="1"/>
          </p:nvPr>
        </p:nvPicPr>
        <p:blipFill>
          <a:blip r:embed="rId2"/>
          <a:stretch>
            <a:fillRect/>
          </a:stretch>
        </p:blipFill>
        <p:spPr>
          <a:xfrm>
            <a:off x="1097280" y="1270000"/>
            <a:ext cx="10058400" cy="50799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08014600"/>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3600" b="1" dirty="0"/>
              <a:t>Exemple </a:t>
            </a:r>
            <a:r>
              <a:rPr lang="fr-FR" sz="3600" b="1" dirty="0" smtClean="0"/>
              <a:t>: </a:t>
            </a:r>
            <a:r>
              <a:rPr lang="fr-FR" sz="3600" b="1" dirty="0"/>
              <a:t>Une application simple avec deux modules</a:t>
            </a:r>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2800" dirty="0" smtClean="0"/>
              <a:t> </a:t>
            </a:r>
            <a:r>
              <a:rPr lang="fr-FR" sz="2800" b="1" dirty="0"/>
              <a:t>Description :</a:t>
            </a:r>
          </a:p>
          <a:p>
            <a:pPr>
              <a:lnSpc>
                <a:spcPct val="150000"/>
              </a:lnSpc>
              <a:buFont typeface="Wingdings" panose="05000000000000000000" pitchFamily="2" charset="2"/>
              <a:buChar char="Ø"/>
            </a:pPr>
            <a:r>
              <a:rPr lang="fr-FR" sz="2800" dirty="0"/>
              <a:t> Une application comporte :</a:t>
            </a:r>
          </a:p>
          <a:p>
            <a:pPr lvl="1">
              <a:lnSpc>
                <a:spcPct val="150000"/>
              </a:lnSpc>
              <a:buFont typeface="Wingdings" panose="05000000000000000000" pitchFamily="2" charset="2"/>
              <a:buChar char="Ø"/>
            </a:pPr>
            <a:r>
              <a:rPr lang="fr-FR" sz="2400" dirty="0"/>
              <a:t> Un module </a:t>
            </a:r>
            <a:r>
              <a:rPr lang="fr-FR" sz="2400" b="1" dirty="0" err="1"/>
              <a:t>com.atos.app</a:t>
            </a:r>
            <a:r>
              <a:rPr lang="fr-FR" sz="2400" dirty="0"/>
              <a:t> qui contient la logique principale</a:t>
            </a:r>
            <a:r>
              <a:rPr lang="fr-FR" sz="2400" dirty="0" smtClean="0"/>
              <a:t>.</a:t>
            </a:r>
          </a:p>
          <a:p>
            <a:pPr lvl="1">
              <a:lnSpc>
                <a:spcPct val="150000"/>
              </a:lnSpc>
              <a:buFont typeface="Wingdings" panose="05000000000000000000" pitchFamily="2" charset="2"/>
              <a:buChar char="Ø"/>
            </a:pPr>
            <a:r>
              <a:rPr lang="fr-FR" sz="2400" dirty="0"/>
              <a:t> Un module </a:t>
            </a:r>
            <a:r>
              <a:rPr lang="fr-FR" sz="2400" b="1" dirty="0" err="1" smtClean="0"/>
              <a:t>com.atos.utils</a:t>
            </a:r>
            <a:r>
              <a:rPr lang="fr-FR" sz="2400" dirty="0" smtClean="0"/>
              <a:t> </a:t>
            </a:r>
            <a:r>
              <a:rPr lang="fr-FR" sz="2400" dirty="0"/>
              <a:t>qui offre des utilitaires réutilisables</a:t>
            </a:r>
            <a:r>
              <a:rPr lang="fr-FR" sz="2400" dirty="0" smtClean="0"/>
              <a:t>.</a:t>
            </a:r>
          </a:p>
          <a:p>
            <a:pPr>
              <a:lnSpc>
                <a:spcPct val="150000"/>
              </a:lnSpc>
              <a:buFont typeface="Wingdings" panose="05000000000000000000" pitchFamily="2" charset="2"/>
              <a:buChar char="Ø"/>
            </a:pPr>
            <a:r>
              <a:rPr lang="fr-FR" sz="2800" dirty="0"/>
              <a:t> Structure des fichiers </a:t>
            </a:r>
            <a:r>
              <a:rPr lang="fr-FR" sz="2800" dirty="0" smtClean="0"/>
              <a:t>:</a:t>
            </a:r>
            <a:endParaRPr lang="fr-FR" sz="2800" dirty="0"/>
          </a:p>
        </p:txBody>
      </p:sp>
      <p:pic>
        <p:nvPicPr>
          <p:cNvPr id="6" name="Image 5"/>
          <p:cNvPicPr>
            <a:picLocks noChangeAspect="1"/>
          </p:cNvPicPr>
          <p:nvPr/>
        </p:nvPicPr>
        <p:blipFill>
          <a:blip r:embed="rId2"/>
          <a:stretch>
            <a:fillRect/>
          </a:stretch>
        </p:blipFill>
        <p:spPr>
          <a:xfrm>
            <a:off x="5266266" y="4613143"/>
            <a:ext cx="4226136" cy="16691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53030596"/>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Code des modules</a:t>
            </a:r>
          </a:p>
        </p:txBody>
      </p:sp>
      <p:sp>
        <p:nvSpPr>
          <p:cNvPr id="4" name="Espace réservé du texte 3"/>
          <p:cNvSpPr>
            <a:spLocks noGrp="1"/>
          </p:cNvSpPr>
          <p:nvPr>
            <p:ph type="body" idx="1"/>
          </p:nvPr>
        </p:nvSpPr>
        <p:spPr/>
        <p:txBody>
          <a:bodyPr>
            <a:normAutofit/>
          </a:bodyPr>
          <a:lstStyle/>
          <a:p>
            <a:pPr algn="ctr"/>
            <a:r>
              <a:rPr lang="fr-FR" sz="1600" b="1" dirty="0"/>
              <a:t>Module </a:t>
            </a:r>
            <a:r>
              <a:rPr lang="fr-FR" sz="1600" b="1" dirty="0" err="1"/>
              <a:t>com.atos.utils</a:t>
            </a:r>
            <a:r>
              <a:rPr lang="fr-FR" sz="1600" b="1" dirty="0"/>
              <a:t> (module des utilitaires) :</a:t>
            </a:r>
          </a:p>
        </p:txBody>
      </p:sp>
      <p:pic>
        <p:nvPicPr>
          <p:cNvPr id="9" name="Espace réservé du contenu 8"/>
          <p:cNvPicPr>
            <a:picLocks noGrp="1" noChangeAspect="1"/>
          </p:cNvPicPr>
          <p:nvPr>
            <p:ph sz="half" idx="2"/>
          </p:nvPr>
        </p:nvPicPr>
        <p:blipFill>
          <a:blip r:embed="rId2"/>
          <a:stretch>
            <a:fillRect/>
          </a:stretch>
        </p:blipFill>
        <p:spPr>
          <a:xfrm>
            <a:off x="1096963" y="3183467"/>
            <a:ext cx="4938712" cy="18965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Espace réservé du texte 5"/>
          <p:cNvSpPr>
            <a:spLocks noGrp="1"/>
          </p:cNvSpPr>
          <p:nvPr>
            <p:ph type="body" sz="quarter" idx="3"/>
          </p:nvPr>
        </p:nvSpPr>
        <p:spPr/>
        <p:txBody>
          <a:bodyPr/>
          <a:lstStyle/>
          <a:p>
            <a:pPr algn="ctr"/>
            <a:r>
              <a:rPr lang="fr-FR" b="1" dirty="0"/>
              <a:t>Classe </a:t>
            </a:r>
            <a:r>
              <a:rPr lang="fr-FR" b="1" dirty="0" smtClean="0"/>
              <a:t>Utility</a:t>
            </a:r>
            <a:endParaRPr lang="fr-FR" b="1" dirty="0"/>
          </a:p>
        </p:txBody>
      </p:sp>
      <p:pic>
        <p:nvPicPr>
          <p:cNvPr id="10" name="Espace réservé du contenu 9"/>
          <p:cNvPicPr>
            <a:picLocks noGrp="1" noChangeAspect="1"/>
          </p:cNvPicPr>
          <p:nvPr>
            <p:ph sz="quarter" idx="4"/>
          </p:nvPr>
        </p:nvPicPr>
        <p:blipFill>
          <a:blip r:embed="rId3"/>
          <a:stretch>
            <a:fillRect/>
          </a:stretch>
        </p:blipFill>
        <p:spPr>
          <a:xfrm>
            <a:off x="6958013" y="3183467"/>
            <a:ext cx="3743854" cy="190288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39877512"/>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Code des modules</a:t>
            </a:r>
          </a:p>
        </p:txBody>
      </p:sp>
      <p:sp>
        <p:nvSpPr>
          <p:cNvPr id="3" name="Espace réservé du texte 2"/>
          <p:cNvSpPr>
            <a:spLocks noGrp="1"/>
          </p:cNvSpPr>
          <p:nvPr>
            <p:ph type="body" idx="1"/>
          </p:nvPr>
        </p:nvSpPr>
        <p:spPr/>
        <p:txBody>
          <a:bodyPr>
            <a:normAutofit/>
          </a:bodyPr>
          <a:lstStyle/>
          <a:p>
            <a:pPr algn="ctr"/>
            <a:r>
              <a:rPr lang="fr-FR" sz="1800" b="1" dirty="0"/>
              <a:t>Module </a:t>
            </a:r>
            <a:r>
              <a:rPr lang="fr-FR" sz="1800" b="1" dirty="0" err="1"/>
              <a:t>com.atos.app</a:t>
            </a:r>
            <a:r>
              <a:rPr lang="fr-FR" sz="1800" b="1" dirty="0"/>
              <a:t> (module principal) </a:t>
            </a:r>
            <a:endParaRPr lang="fr-FR" sz="1800" dirty="0"/>
          </a:p>
        </p:txBody>
      </p:sp>
      <p:pic>
        <p:nvPicPr>
          <p:cNvPr id="9" name="Espace réservé du contenu 8"/>
          <p:cNvPicPr>
            <a:picLocks noGrp="1" noChangeAspect="1"/>
          </p:cNvPicPr>
          <p:nvPr>
            <p:ph sz="half" idx="2"/>
          </p:nvPr>
        </p:nvPicPr>
        <p:blipFill>
          <a:blip r:embed="rId2"/>
          <a:stretch>
            <a:fillRect/>
          </a:stretch>
        </p:blipFill>
        <p:spPr>
          <a:xfrm>
            <a:off x="1180306" y="3217333"/>
            <a:ext cx="4772025" cy="16594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Espace réservé du texte 4"/>
          <p:cNvSpPr>
            <a:spLocks noGrp="1"/>
          </p:cNvSpPr>
          <p:nvPr>
            <p:ph type="body" sz="quarter" idx="3"/>
          </p:nvPr>
        </p:nvSpPr>
        <p:spPr/>
        <p:txBody>
          <a:bodyPr/>
          <a:lstStyle/>
          <a:p>
            <a:pPr algn="ctr"/>
            <a:r>
              <a:rPr lang="fr-FR" dirty="0"/>
              <a:t>Classe Main :</a:t>
            </a:r>
            <a:r>
              <a:rPr lang="fr-FR" dirty="0" err="1"/>
              <a:t>javaCopierModifier</a:t>
            </a:r>
            <a:endParaRPr lang="fr-FR" dirty="0"/>
          </a:p>
        </p:txBody>
      </p:sp>
      <p:pic>
        <p:nvPicPr>
          <p:cNvPr id="10" name="Espace réservé du contenu 9"/>
          <p:cNvPicPr>
            <a:picLocks noGrp="1" noChangeAspect="1"/>
          </p:cNvPicPr>
          <p:nvPr>
            <p:ph sz="quarter" idx="4"/>
          </p:nvPr>
        </p:nvPicPr>
        <p:blipFill>
          <a:blip r:embed="rId3"/>
          <a:stretch>
            <a:fillRect/>
          </a:stretch>
        </p:blipFill>
        <p:spPr>
          <a:xfrm>
            <a:off x="6415087" y="2861733"/>
            <a:ext cx="4543425" cy="2590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73205338"/>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Compilation et exécution</a:t>
            </a:r>
          </a:p>
        </p:txBody>
      </p:sp>
      <p:sp>
        <p:nvSpPr>
          <p:cNvPr id="3" name="Espace réservé du texte 2"/>
          <p:cNvSpPr>
            <a:spLocks noGrp="1"/>
          </p:cNvSpPr>
          <p:nvPr>
            <p:ph type="body" idx="1"/>
          </p:nvPr>
        </p:nvSpPr>
        <p:spPr/>
        <p:txBody>
          <a:bodyPr/>
          <a:lstStyle/>
          <a:p>
            <a:pPr algn="ctr"/>
            <a:r>
              <a:rPr lang="fr-FR" b="1" dirty="0"/>
              <a:t>Compilation :</a:t>
            </a:r>
          </a:p>
        </p:txBody>
      </p:sp>
      <p:pic>
        <p:nvPicPr>
          <p:cNvPr id="8" name="Espace réservé du contenu 7"/>
          <p:cNvPicPr>
            <a:picLocks noGrp="1" noChangeAspect="1"/>
          </p:cNvPicPr>
          <p:nvPr>
            <p:ph sz="half" idx="2"/>
          </p:nvPr>
        </p:nvPicPr>
        <p:blipFill>
          <a:blip r:embed="rId2"/>
          <a:stretch>
            <a:fillRect/>
          </a:stretch>
        </p:blipFill>
        <p:spPr>
          <a:xfrm>
            <a:off x="524934" y="3522133"/>
            <a:ext cx="5465498" cy="1066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Espace réservé du texte 4"/>
          <p:cNvSpPr>
            <a:spLocks noGrp="1"/>
          </p:cNvSpPr>
          <p:nvPr>
            <p:ph type="body" sz="quarter" idx="3"/>
          </p:nvPr>
        </p:nvSpPr>
        <p:spPr/>
        <p:txBody>
          <a:bodyPr/>
          <a:lstStyle/>
          <a:p>
            <a:pPr algn="ctr"/>
            <a:r>
              <a:rPr lang="fr-FR" b="1" dirty="0" smtClean="0"/>
              <a:t>Exécution</a:t>
            </a:r>
            <a:endParaRPr lang="fr-FR" b="1" dirty="0"/>
          </a:p>
        </p:txBody>
      </p:sp>
      <p:pic>
        <p:nvPicPr>
          <p:cNvPr id="9" name="Espace réservé du contenu 8"/>
          <p:cNvPicPr>
            <a:picLocks noGrp="1" noChangeAspect="1"/>
          </p:cNvPicPr>
          <p:nvPr>
            <p:ph sz="quarter" idx="4"/>
          </p:nvPr>
        </p:nvPicPr>
        <p:blipFill>
          <a:blip r:embed="rId3"/>
          <a:stretch>
            <a:fillRect/>
          </a:stretch>
        </p:blipFill>
        <p:spPr>
          <a:xfrm>
            <a:off x="6329363" y="3522133"/>
            <a:ext cx="5540904" cy="1066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10021681"/>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chor="ctr"/>
          <a:lstStyle/>
          <a:p>
            <a:pPr algn="ctr"/>
            <a:r>
              <a:rPr lang="fr-FR" b="1" dirty="0" smtClean="0"/>
              <a:t>Module-info.java</a:t>
            </a:r>
            <a:endParaRPr lang="fr-FR" b="1" dirty="0"/>
          </a:p>
        </p:txBody>
      </p:sp>
      <p:sp>
        <p:nvSpPr>
          <p:cNvPr id="8" name="Espace réservé du contenu 7"/>
          <p:cNvSpPr>
            <a:spLocks noGrp="1"/>
          </p:cNvSpPr>
          <p:nvPr>
            <p:ph idx="1"/>
          </p:nvPr>
        </p:nvSpPr>
        <p:spPr/>
        <p:txBody>
          <a:bodyPr>
            <a:noAutofit/>
          </a:bodyPr>
          <a:lstStyle/>
          <a:p>
            <a:pPr algn="just">
              <a:lnSpc>
                <a:spcPct val="150000"/>
              </a:lnSpc>
              <a:buFont typeface="Wingdings" panose="05000000000000000000" pitchFamily="2" charset="2"/>
              <a:buChar char="Ø"/>
            </a:pPr>
            <a:r>
              <a:rPr lang="fr-FR" sz="3200" dirty="0"/>
              <a:t> Le fichier module-info.java est une nouveauté introduite avec le JDK 9 pour permettre la déclaration des modules dans une application Java. Il joue un rôle central dans le système modulaire en définissant les dépendances, les exportations, et les interactions entre les modules.</a:t>
            </a:r>
          </a:p>
        </p:txBody>
      </p:sp>
    </p:spTree>
    <p:extLst>
      <p:ext uri="{BB962C8B-B14F-4D97-AF65-F5344CB8AC3E}">
        <p14:creationId xmlns:p14="http://schemas.microsoft.com/office/powerpoint/2010/main" val="1565489684"/>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Emplacement du fichier module-info.java</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2800" dirty="0" smtClean="0"/>
              <a:t> </a:t>
            </a:r>
            <a:r>
              <a:rPr lang="fr-FR" sz="2800" b="1" dirty="0"/>
              <a:t>Position :</a:t>
            </a:r>
            <a:r>
              <a:rPr lang="fr-FR" sz="2800" dirty="0"/>
              <a:t> Il doit être placé directement dans le répertoire racine du module (c'est-à-dire au même niveau que les packages du module</a:t>
            </a:r>
            <a:r>
              <a:rPr lang="fr-FR" sz="2800" dirty="0" smtClean="0"/>
              <a:t>).</a:t>
            </a:r>
          </a:p>
          <a:p>
            <a:pPr algn="just">
              <a:lnSpc>
                <a:spcPct val="200000"/>
              </a:lnSpc>
              <a:buFont typeface="Wingdings" panose="05000000000000000000" pitchFamily="2" charset="2"/>
              <a:buChar char="Ø"/>
            </a:pPr>
            <a:r>
              <a:rPr lang="fr-FR" sz="2800" dirty="0"/>
              <a:t> Exemple </a:t>
            </a:r>
            <a:r>
              <a:rPr lang="fr-FR" sz="2800" dirty="0" smtClean="0"/>
              <a:t>:</a:t>
            </a:r>
            <a:endParaRPr lang="fr-FR" sz="2800" dirty="0"/>
          </a:p>
        </p:txBody>
      </p:sp>
      <p:pic>
        <p:nvPicPr>
          <p:cNvPr id="6" name="Image 5"/>
          <p:cNvPicPr>
            <a:picLocks noChangeAspect="1"/>
          </p:cNvPicPr>
          <p:nvPr/>
        </p:nvPicPr>
        <p:blipFill>
          <a:blip r:embed="rId2"/>
          <a:stretch>
            <a:fillRect/>
          </a:stretch>
        </p:blipFill>
        <p:spPr>
          <a:xfrm>
            <a:off x="4658254" y="4748743"/>
            <a:ext cx="3791479" cy="13865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03488700"/>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Structure du fichier module-info.java</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Le fichier module-info.java suit une structure claire et définie avec plusieurs mots-clés pour déclarer les différentes caractéristiques d'un module.</a:t>
            </a:r>
          </a:p>
        </p:txBody>
      </p:sp>
      <p:pic>
        <p:nvPicPr>
          <p:cNvPr id="6" name="Image 5"/>
          <p:cNvPicPr>
            <a:picLocks noChangeAspect="1"/>
          </p:cNvPicPr>
          <p:nvPr/>
        </p:nvPicPr>
        <p:blipFill>
          <a:blip r:embed="rId2"/>
          <a:stretch>
            <a:fillRect/>
          </a:stretch>
        </p:blipFill>
        <p:spPr>
          <a:xfrm>
            <a:off x="4030134" y="4313237"/>
            <a:ext cx="3945466" cy="16642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42903250"/>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Règles et bonnes pratiques</a:t>
            </a:r>
          </a:p>
        </p:txBody>
      </p:sp>
      <p:sp>
        <p:nvSpPr>
          <p:cNvPr id="3" name="Espace réservé du contenu 2"/>
          <p:cNvSpPr>
            <a:spLocks noGrp="1"/>
          </p:cNvSpPr>
          <p:nvPr>
            <p:ph idx="1"/>
          </p:nvPr>
        </p:nvSpPr>
        <p:spPr>
          <a:xfrm>
            <a:off x="1097280" y="1879600"/>
            <a:ext cx="10058400" cy="4097866"/>
          </a:xfrm>
        </p:spPr>
        <p:txBody>
          <a:bodyPr>
            <a:noAutofit/>
          </a:bodyPr>
          <a:lstStyle/>
          <a:p>
            <a:pPr marL="457200" indent="-457200">
              <a:lnSpc>
                <a:spcPct val="100000"/>
              </a:lnSpc>
              <a:buFont typeface="+mj-lt"/>
              <a:buAutoNum type="arabicPeriod"/>
            </a:pPr>
            <a:r>
              <a:rPr lang="fr-FR" b="1" dirty="0"/>
              <a:t> Nom du module </a:t>
            </a:r>
            <a:r>
              <a:rPr lang="fr-FR" b="1" dirty="0" smtClean="0"/>
              <a:t>:</a:t>
            </a:r>
          </a:p>
          <a:p>
            <a:pPr marL="749808" lvl="1" indent="-457200">
              <a:lnSpc>
                <a:spcPct val="100000"/>
              </a:lnSpc>
              <a:buFont typeface="Wingdings" panose="05000000000000000000" pitchFamily="2" charset="2"/>
              <a:buChar char="Ø"/>
            </a:pPr>
            <a:r>
              <a:rPr lang="fr-FR" dirty="0"/>
              <a:t>Utilisez un nom unique, généralement basé sur la convention des noms de packages (par exemple, </a:t>
            </a:r>
            <a:r>
              <a:rPr lang="fr-FR" b="1" dirty="0" err="1"/>
              <a:t>com.atos.module</a:t>
            </a:r>
            <a:r>
              <a:rPr lang="fr-FR" dirty="0" smtClean="0"/>
              <a:t>).</a:t>
            </a:r>
          </a:p>
          <a:p>
            <a:pPr marL="749808" lvl="1" indent="-457200">
              <a:lnSpc>
                <a:spcPct val="100000"/>
              </a:lnSpc>
              <a:buFont typeface="Wingdings" panose="05000000000000000000" pitchFamily="2" charset="2"/>
              <a:buChar char="Ø"/>
            </a:pPr>
            <a:r>
              <a:rPr lang="fr-FR" dirty="0"/>
              <a:t>Évitez les conflits avec d'autres modules ou bibliothèques</a:t>
            </a:r>
            <a:r>
              <a:rPr lang="fr-FR" dirty="0" smtClean="0"/>
              <a:t>.</a:t>
            </a:r>
          </a:p>
          <a:p>
            <a:pPr marL="457200" indent="-457200">
              <a:lnSpc>
                <a:spcPct val="100000"/>
              </a:lnSpc>
              <a:buFont typeface="+mj-lt"/>
              <a:buAutoNum type="arabicPeriod"/>
            </a:pPr>
            <a:r>
              <a:rPr lang="fr-FR" b="1" dirty="0"/>
              <a:t>Encapsulation stricte </a:t>
            </a:r>
            <a:r>
              <a:rPr lang="fr-FR" b="1" dirty="0" smtClean="0"/>
              <a:t>:</a:t>
            </a:r>
          </a:p>
          <a:p>
            <a:pPr marL="749808" lvl="1" indent="-457200">
              <a:lnSpc>
                <a:spcPct val="100000"/>
              </a:lnSpc>
              <a:buFont typeface="Wingdings" panose="05000000000000000000" pitchFamily="2" charset="2"/>
              <a:buChar char="Ø"/>
            </a:pPr>
            <a:r>
              <a:rPr lang="fr-FR" dirty="0"/>
              <a:t>Par défaut, les packages d'un module ne sont pas accessibles aux autres modules</a:t>
            </a:r>
            <a:r>
              <a:rPr lang="fr-FR" dirty="0" smtClean="0"/>
              <a:t>.</a:t>
            </a:r>
          </a:p>
          <a:p>
            <a:pPr marL="749808" lvl="1" indent="-457200">
              <a:lnSpc>
                <a:spcPct val="100000"/>
              </a:lnSpc>
              <a:buFont typeface="Wingdings" panose="05000000000000000000" pitchFamily="2" charset="2"/>
              <a:buChar char="Ø"/>
            </a:pPr>
            <a:r>
              <a:rPr lang="fr-FR" dirty="0"/>
              <a:t>Utilisez </a:t>
            </a:r>
            <a:r>
              <a:rPr lang="fr-FR" b="1" dirty="0"/>
              <a:t>exports</a:t>
            </a:r>
            <a:r>
              <a:rPr lang="fr-FR" dirty="0"/>
              <a:t> ou </a:t>
            </a:r>
            <a:r>
              <a:rPr lang="fr-FR" b="1" dirty="0" smtClean="0"/>
              <a:t>opens</a:t>
            </a:r>
            <a:r>
              <a:rPr lang="fr-FR" dirty="0" smtClean="0"/>
              <a:t> </a:t>
            </a:r>
            <a:r>
              <a:rPr lang="fr-FR" dirty="0"/>
              <a:t>pour rendre des packages accessibles</a:t>
            </a:r>
            <a:r>
              <a:rPr lang="fr-FR" dirty="0" smtClean="0"/>
              <a:t>.</a:t>
            </a:r>
          </a:p>
          <a:p>
            <a:pPr marL="457200" indent="-457200">
              <a:lnSpc>
                <a:spcPct val="100000"/>
              </a:lnSpc>
              <a:buFont typeface="+mj-lt"/>
              <a:buAutoNum type="arabicPeriod"/>
            </a:pPr>
            <a:r>
              <a:rPr lang="fr-FR" b="1" dirty="0"/>
              <a:t>Transitivité :</a:t>
            </a:r>
            <a:endParaRPr lang="fr-FR" dirty="0"/>
          </a:p>
          <a:p>
            <a:pPr marL="749808" lvl="1" indent="-457200">
              <a:lnSpc>
                <a:spcPct val="100000"/>
              </a:lnSpc>
              <a:buFont typeface="Wingdings" panose="05000000000000000000" pitchFamily="2" charset="2"/>
              <a:buChar char="Ø"/>
            </a:pPr>
            <a:r>
              <a:rPr lang="fr-FR" dirty="0"/>
              <a:t>Si un module A dépend de B et que B dépend de C, utilisez </a:t>
            </a:r>
            <a:r>
              <a:rPr lang="fr-FR" b="1" dirty="0" err="1"/>
              <a:t>requires</a:t>
            </a:r>
            <a:r>
              <a:rPr lang="fr-FR" b="1" dirty="0"/>
              <a:t> transitive </a:t>
            </a:r>
            <a:r>
              <a:rPr lang="fr-FR" dirty="0"/>
              <a:t>dans B pour que C soit visible par A</a:t>
            </a:r>
            <a:r>
              <a:rPr lang="fr-FR" dirty="0" smtClean="0"/>
              <a:t>.</a:t>
            </a:r>
          </a:p>
          <a:p>
            <a:pPr marL="457200" indent="-457200">
              <a:lnSpc>
                <a:spcPct val="100000"/>
              </a:lnSpc>
              <a:buFont typeface="+mj-lt"/>
              <a:buAutoNum type="arabicPeriod"/>
            </a:pPr>
            <a:r>
              <a:rPr lang="fr-FR" b="1" dirty="0"/>
              <a:t>Compatibilité descendante :</a:t>
            </a:r>
            <a:endParaRPr lang="fr-FR" dirty="0"/>
          </a:p>
          <a:p>
            <a:pPr marL="749808" lvl="1" indent="-457200">
              <a:lnSpc>
                <a:spcPct val="100000"/>
              </a:lnSpc>
              <a:buFont typeface="Wingdings" panose="05000000000000000000" pitchFamily="2" charset="2"/>
              <a:buChar char="Ø"/>
            </a:pPr>
            <a:r>
              <a:rPr lang="fr-FR" dirty="0"/>
              <a:t>Les classes chargées via le </a:t>
            </a:r>
            <a:r>
              <a:rPr lang="fr-FR" b="1" dirty="0" err="1"/>
              <a:t>classpath</a:t>
            </a:r>
            <a:r>
              <a:rPr lang="fr-FR" dirty="0"/>
              <a:t> font partie d’un module spécial appelé </a:t>
            </a:r>
            <a:r>
              <a:rPr lang="fr-FR" b="1" dirty="0" err="1"/>
              <a:t>unnamed</a:t>
            </a:r>
            <a:r>
              <a:rPr lang="fr-FR" dirty="0"/>
              <a:t> module.</a:t>
            </a:r>
          </a:p>
        </p:txBody>
      </p:sp>
    </p:spTree>
    <p:extLst>
      <p:ext uri="{BB962C8B-B14F-4D97-AF65-F5344CB8AC3E}">
        <p14:creationId xmlns:p14="http://schemas.microsoft.com/office/powerpoint/2010/main" val="1321151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down)">
                                      <p:cBhvr>
                                        <p:cTn id="21" dur="500"/>
                                        <p:tgtEl>
                                          <p:spTgt spid="3">
                                            <p:txEl>
                                              <p:pRg st="4" end="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down)">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down)">
                                      <p:cBhvr>
                                        <p:cTn id="29" dur="500"/>
                                        <p:tgtEl>
                                          <p:spTgt spid="3">
                                            <p:txEl>
                                              <p:pRg st="6" end="6"/>
                                            </p:txEl>
                                          </p:spTgt>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wipe(down)">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wipe(down)">
                                      <p:cBhvr>
                                        <p:cTn id="37" dur="500"/>
                                        <p:tgtEl>
                                          <p:spTgt spid="3">
                                            <p:txEl>
                                              <p:pRg st="8" end="8"/>
                                            </p:txEl>
                                          </p:spTgt>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wipe(down)">
                                      <p:cBhvr>
                                        <p:cTn id="4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Graphe de </a:t>
            </a:r>
            <a:r>
              <a:rPr lang="fr-FR" b="1" dirty="0" smtClean="0"/>
              <a:t>Dépendances</a:t>
            </a:r>
            <a:br>
              <a:rPr lang="fr-FR" b="1" dirty="0" smtClean="0"/>
            </a:br>
            <a:r>
              <a:rPr lang="fr-FR" b="1" dirty="0" smtClean="0"/>
              <a:t>Description</a:t>
            </a:r>
            <a:endParaRPr lang="fr-FR" b="1" dirty="0"/>
          </a:p>
        </p:txBody>
      </p:sp>
      <p:sp>
        <p:nvSpPr>
          <p:cNvPr id="3" name="Espace réservé du contenu 2"/>
          <p:cNvSpPr>
            <a:spLocks noGrp="1"/>
          </p:cNvSpPr>
          <p:nvPr>
            <p:ph idx="1"/>
          </p:nvPr>
        </p:nvSpPr>
        <p:spPr/>
        <p:txBody>
          <a:bodyPr>
            <a:noAutofit/>
          </a:bodyPr>
          <a:lstStyle/>
          <a:p>
            <a:pPr algn="just">
              <a:lnSpc>
                <a:spcPct val="100000"/>
              </a:lnSpc>
              <a:buFont typeface="Wingdings" panose="05000000000000000000" pitchFamily="2" charset="2"/>
              <a:buChar char="Ø"/>
            </a:pPr>
            <a:r>
              <a:rPr lang="fr-FR" sz="3200" dirty="0"/>
              <a:t> Chaque module Java possède un fichier module-info.java où sont déclarées </a:t>
            </a:r>
            <a:r>
              <a:rPr lang="fr-FR" sz="3200" dirty="0" smtClean="0"/>
              <a:t>:</a:t>
            </a:r>
          </a:p>
          <a:p>
            <a:pPr lvl="1" algn="just">
              <a:lnSpc>
                <a:spcPct val="100000"/>
              </a:lnSpc>
              <a:buFont typeface="Wingdings" panose="05000000000000000000" pitchFamily="2" charset="2"/>
              <a:buChar char="Ø"/>
            </a:pPr>
            <a:r>
              <a:rPr lang="fr-FR" sz="2800" dirty="0" smtClean="0"/>
              <a:t>Les </a:t>
            </a:r>
            <a:r>
              <a:rPr lang="fr-FR" sz="2800" dirty="0"/>
              <a:t>dépendances sur d'autres modules (</a:t>
            </a:r>
            <a:r>
              <a:rPr lang="fr-FR" sz="2800" b="1" dirty="0" err="1"/>
              <a:t>requires</a:t>
            </a:r>
            <a:r>
              <a:rPr lang="fr-FR" sz="2800" dirty="0" smtClean="0"/>
              <a:t>).</a:t>
            </a:r>
          </a:p>
          <a:p>
            <a:pPr lvl="1" algn="just">
              <a:lnSpc>
                <a:spcPct val="100000"/>
              </a:lnSpc>
              <a:buFont typeface="Wingdings" panose="05000000000000000000" pitchFamily="2" charset="2"/>
              <a:buChar char="Ø"/>
            </a:pPr>
            <a:r>
              <a:rPr lang="fr-FR" sz="2800" dirty="0" smtClean="0"/>
              <a:t>Les </a:t>
            </a:r>
            <a:r>
              <a:rPr lang="fr-FR" sz="2800" dirty="0"/>
              <a:t>packages exposés à d'autres modules (</a:t>
            </a:r>
            <a:r>
              <a:rPr lang="fr-FR" sz="2800" b="1" dirty="0"/>
              <a:t>exports</a:t>
            </a:r>
            <a:r>
              <a:rPr lang="fr-FR" sz="2800" dirty="0" smtClean="0"/>
              <a:t>).</a:t>
            </a:r>
          </a:p>
          <a:p>
            <a:pPr algn="just">
              <a:lnSpc>
                <a:spcPct val="100000"/>
              </a:lnSpc>
              <a:buFont typeface="Wingdings" panose="05000000000000000000" pitchFamily="2" charset="2"/>
              <a:buChar char="Ø"/>
            </a:pPr>
            <a:r>
              <a:rPr lang="fr-FR" sz="3200" dirty="0"/>
              <a:t>Le graph de dépendance est un graphe orienté dirigé qui représente </a:t>
            </a:r>
            <a:r>
              <a:rPr lang="fr-FR" sz="3200" dirty="0" smtClean="0"/>
              <a:t>:</a:t>
            </a:r>
          </a:p>
          <a:p>
            <a:pPr lvl="1" algn="just">
              <a:lnSpc>
                <a:spcPct val="100000"/>
              </a:lnSpc>
              <a:buFont typeface="Wingdings" panose="05000000000000000000" pitchFamily="2" charset="2"/>
              <a:buChar char="Ø"/>
            </a:pPr>
            <a:r>
              <a:rPr lang="fr-FR" sz="2800" dirty="0" smtClean="0"/>
              <a:t>Les </a:t>
            </a:r>
            <a:r>
              <a:rPr lang="fr-FR" sz="2800" dirty="0"/>
              <a:t>modules comme des nœuds</a:t>
            </a:r>
            <a:r>
              <a:rPr lang="fr-FR" sz="2800" dirty="0" smtClean="0"/>
              <a:t>.</a:t>
            </a:r>
          </a:p>
          <a:p>
            <a:pPr lvl="1" algn="just">
              <a:lnSpc>
                <a:spcPct val="100000"/>
              </a:lnSpc>
              <a:buFont typeface="Wingdings" panose="05000000000000000000" pitchFamily="2" charset="2"/>
              <a:buChar char="Ø"/>
            </a:pPr>
            <a:r>
              <a:rPr lang="fr-FR" sz="2800" dirty="0" smtClean="0"/>
              <a:t>Les </a:t>
            </a:r>
            <a:r>
              <a:rPr lang="fr-FR" sz="2800" dirty="0"/>
              <a:t>dépendances entre eux comme des arêtes.</a:t>
            </a:r>
          </a:p>
        </p:txBody>
      </p:sp>
    </p:spTree>
    <p:extLst>
      <p:ext uri="{BB962C8B-B14F-4D97-AF65-F5344CB8AC3E}">
        <p14:creationId xmlns:p14="http://schemas.microsoft.com/office/powerpoint/2010/main" val="2298559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down)">
                                      <p:cBhvr>
                                        <p:cTn id="21" dur="500"/>
                                        <p:tgtEl>
                                          <p:spTgt spid="3">
                                            <p:txEl>
                                              <p:pRg st="4" end="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down)">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ROLES GRAPH DE DEPENDANCE</a:t>
            </a:r>
            <a:endParaRPr lang="fr-FR" b="1" dirty="0"/>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3200" dirty="0"/>
              <a:t> Détection des dépendances </a:t>
            </a:r>
            <a:r>
              <a:rPr lang="fr-FR" sz="3200" dirty="0" smtClean="0"/>
              <a:t>circulaires</a:t>
            </a:r>
          </a:p>
          <a:p>
            <a:pPr>
              <a:buFont typeface="Wingdings" panose="05000000000000000000" pitchFamily="2" charset="2"/>
              <a:buChar char="Ø"/>
            </a:pPr>
            <a:r>
              <a:rPr lang="fr-FR" sz="3200" dirty="0" smtClean="0"/>
              <a:t> Optimisation </a:t>
            </a:r>
            <a:r>
              <a:rPr lang="fr-FR" sz="3200" dirty="0"/>
              <a:t>du </a:t>
            </a:r>
            <a:r>
              <a:rPr lang="fr-FR" sz="3200" dirty="0" smtClean="0"/>
              <a:t>chargement </a:t>
            </a:r>
          </a:p>
          <a:p>
            <a:pPr>
              <a:buFont typeface="Wingdings" panose="05000000000000000000" pitchFamily="2" charset="2"/>
              <a:buChar char="Ø"/>
            </a:pPr>
            <a:r>
              <a:rPr lang="fr-FR" sz="3200" dirty="0"/>
              <a:t> Encapsulation </a:t>
            </a:r>
            <a:r>
              <a:rPr lang="fr-FR" sz="3200" dirty="0" smtClean="0"/>
              <a:t>stricte</a:t>
            </a:r>
          </a:p>
          <a:p>
            <a:pPr>
              <a:buFont typeface="Wingdings" panose="05000000000000000000" pitchFamily="2" charset="2"/>
              <a:buChar char="Ø"/>
            </a:pPr>
            <a:r>
              <a:rPr lang="fr-FR" sz="3200" dirty="0"/>
              <a:t> Résolution dynamique des dépendances</a:t>
            </a:r>
            <a:endParaRPr lang="fr-FR" sz="3200" dirty="0" smtClean="0"/>
          </a:p>
          <a:p>
            <a:pPr>
              <a:buFont typeface="Wingdings" panose="05000000000000000000" pitchFamily="2" charset="2"/>
              <a:buChar char="Ø"/>
            </a:pPr>
            <a:r>
              <a:rPr lang="fr-FR" sz="3200" dirty="0"/>
              <a:t> Sécurité et </a:t>
            </a:r>
            <a:r>
              <a:rPr lang="fr-FR" sz="3200" dirty="0" smtClean="0"/>
              <a:t>maintenabilité</a:t>
            </a:r>
          </a:p>
          <a:p>
            <a:pPr>
              <a:buFont typeface="Wingdings" panose="05000000000000000000" pitchFamily="2" charset="2"/>
              <a:buChar char="Ø"/>
            </a:pPr>
            <a:r>
              <a:rPr lang="fr-FR" sz="3200" dirty="0"/>
              <a:t> Facilitation des outils d’analyse et d’optimisation</a:t>
            </a:r>
          </a:p>
        </p:txBody>
      </p:sp>
    </p:spTree>
    <p:extLst>
      <p:ext uri="{BB962C8B-B14F-4D97-AF65-F5344CB8AC3E}">
        <p14:creationId xmlns:p14="http://schemas.microsoft.com/office/powerpoint/2010/main" val="45399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Détection des dépendances circulaires</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2800" dirty="0"/>
              <a:t> Les dépendances circulaires entre modules sont interdites dans </a:t>
            </a:r>
            <a:r>
              <a:rPr lang="fr-FR" sz="2800" dirty="0" smtClean="0"/>
              <a:t>Java.</a:t>
            </a:r>
          </a:p>
          <a:p>
            <a:pPr algn="just">
              <a:lnSpc>
                <a:spcPct val="200000"/>
              </a:lnSpc>
              <a:buFont typeface="Wingdings" panose="05000000000000000000" pitchFamily="2" charset="2"/>
              <a:buChar char="Ø"/>
            </a:pPr>
            <a:r>
              <a:rPr lang="fr-FR" sz="2800" dirty="0" smtClean="0"/>
              <a:t> Le </a:t>
            </a:r>
            <a:r>
              <a:rPr lang="fr-FR" sz="2800" dirty="0"/>
              <a:t>graph est analysé pour détecter ces cycles et empêcher leur apparition.</a:t>
            </a:r>
          </a:p>
        </p:txBody>
      </p:sp>
    </p:spTree>
    <p:extLst>
      <p:ext uri="{BB962C8B-B14F-4D97-AF65-F5344CB8AC3E}">
        <p14:creationId xmlns:p14="http://schemas.microsoft.com/office/powerpoint/2010/main" val="2014764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Optimisation du chargement</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Java utilise le graph de dépendance pour charger uniquement les modules requis au moment de l’exécution</a:t>
            </a:r>
            <a:r>
              <a:rPr lang="fr-FR" sz="3200" dirty="0" smtClean="0"/>
              <a:t>.</a:t>
            </a:r>
          </a:p>
          <a:p>
            <a:pPr algn="just">
              <a:lnSpc>
                <a:spcPct val="150000"/>
              </a:lnSpc>
              <a:buFont typeface="Wingdings" panose="05000000000000000000" pitchFamily="2" charset="2"/>
              <a:buChar char="Ø"/>
            </a:pPr>
            <a:r>
              <a:rPr lang="fr-FR" sz="3200" dirty="0"/>
              <a:t> </a:t>
            </a:r>
            <a:r>
              <a:rPr lang="fr-FR" sz="3200" dirty="0" smtClean="0"/>
              <a:t>Cela </a:t>
            </a:r>
            <a:r>
              <a:rPr lang="fr-FR" sz="3200" dirty="0"/>
              <a:t>améliore les performances et réduit la consommation de mémoire, car seuls les modules nécessaires sont chargés.</a:t>
            </a:r>
          </a:p>
        </p:txBody>
      </p:sp>
    </p:spTree>
    <p:extLst>
      <p:ext uri="{BB962C8B-B14F-4D97-AF65-F5344CB8AC3E}">
        <p14:creationId xmlns:p14="http://schemas.microsoft.com/office/powerpoint/2010/main" val="4232347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Encapsulation stricte</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Les modules exposent uniquement les packages nécessaires à d'autres modules via le mot-clé exports dans le fichier module-info.java</a:t>
            </a:r>
            <a:r>
              <a:rPr lang="fr-FR" sz="3200" dirty="0" smtClean="0"/>
              <a:t>.</a:t>
            </a:r>
          </a:p>
          <a:p>
            <a:pPr algn="just">
              <a:lnSpc>
                <a:spcPct val="150000"/>
              </a:lnSpc>
              <a:buFont typeface="Wingdings" panose="05000000000000000000" pitchFamily="2" charset="2"/>
              <a:buChar char="Ø"/>
            </a:pPr>
            <a:r>
              <a:rPr lang="fr-FR" sz="3200" dirty="0"/>
              <a:t> </a:t>
            </a:r>
            <a:r>
              <a:rPr lang="fr-FR" sz="3200" dirty="0" smtClean="0"/>
              <a:t>Le </a:t>
            </a:r>
            <a:r>
              <a:rPr lang="fr-FR" sz="3200" dirty="0"/>
              <a:t>graph assure qu’aucun autre module ne peut accéder aux packages non explicitement exposés.</a:t>
            </a:r>
          </a:p>
        </p:txBody>
      </p:sp>
    </p:spTree>
    <p:extLst>
      <p:ext uri="{BB962C8B-B14F-4D97-AF65-F5344CB8AC3E}">
        <p14:creationId xmlns:p14="http://schemas.microsoft.com/office/powerpoint/2010/main" val="3599410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Résolution dynamique des dépendances</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Lors du démarrage, le module loader parcourt le graph pour résoudre les dépendances et vérifier que tous les modules nécessaires sont présents</a:t>
            </a:r>
            <a:r>
              <a:rPr lang="fr-FR" sz="3200" dirty="0" smtClean="0"/>
              <a:t>.</a:t>
            </a:r>
          </a:p>
          <a:p>
            <a:pPr algn="just">
              <a:lnSpc>
                <a:spcPct val="150000"/>
              </a:lnSpc>
              <a:buFont typeface="Wingdings" panose="05000000000000000000" pitchFamily="2" charset="2"/>
              <a:buChar char="Ø"/>
            </a:pPr>
            <a:r>
              <a:rPr lang="fr-FR" sz="3200" dirty="0" smtClean="0"/>
              <a:t>En </a:t>
            </a:r>
            <a:r>
              <a:rPr lang="fr-FR" sz="3200" dirty="0"/>
              <a:t>cas de dépendances manquantes, une erreur est levée au démarrage.</a:t>
            </a:r>
          </a:p>
        </p:txBody>
      </p:sp>
    </p:spTree>
    <p:extLst>
      <p:ext uri="{BB962C8B-B14F-4D97-AF65-F5344CB8AC3E}">
        <p14:creationId xmlns:p14="http://schemas.microsoft.com/office/powerpoint/2010/main" val="327259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Sécurité et maintenabilité</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La modularité réduit les risques de conflits de classes (par exemple, des classes dupliquées ou mal chargées sur le </a:t>
            </a:r>
            <a:r>
              <a:rPr lang="fr-FR" sz="3200" dirty="0" err="1"/>
              <a:t>classpath</a:t>
            </a:r>
            <a:r>
              <a:rPr lang="fr-FR" sz="3200" dirty="0" smtClean="0"/>
              <a:t>).</a:t>
            </a:r>
          </a:p>
          <a:p>
            <a:pPr algn="just">
              <a:lnSpc>
                <a:spcPct val="150000"/>
              </a:lnSpc>
              <a:buFont typeface="Wingdings" panose="05000000000000000000" pitchFamily="2" charset="2"/>
              <a:buChar char="Ø"/>
            </a:pPr>
            <a:r>
              <a:rPr lang="fr-FR" sz="3200" dirty="0"/>
              <a:t> </a:t>
            </a:r>
            <a:r>
              <a:rPr lang="fr-FR" sz="3200" dirty="0" smtClean="0"/>
              <a:t>Le </a:t>
            </a:r>
            <a:r>
              <a:rPr lang="fr-FR" sz="3200" dirty="0"/>
              <a:t>graph rend la structure de l’application plus claire, facilitant son maintien et sa compréhension.</a:t>
            </a:r>
          </a:p>
        </p:txBody>
      </p:sp>
    </p:spTree>
    <p:extLst>
      <p:ext uri="{BB962C8B-B14F-4D97-AF65-F5344CB8AC3E}">
        <p14:creationId xmlns:p14="http://schemas.microsoft.com/office/powerpoint/2010/main" val="300219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Facilitation des outils d’analyse et d’optimisation</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a:t> Des outils comme </a:t>
            </a:r>
            <a:r>
              <a:rPr lang="fr-FR" sz="3600" b="1" dirty="0" err="1" smtClean="0"/>
              <a:t>jdeps</a:t>
            </a:r>
            <a:r>
              <a:rPr lang="fr-FR" sz="3600" dirty="0"/>
              <a:t> </a:t>
            </a:r>
            <a:r>
              <a:rPr lang="fr-FR" sz="3600" dirty="0" smtClean="0"/>
              <a:t>«Java </a:t>
            </a:r>
            <a:r>
              <a:rPr lang="fr-FR" sz="3600" dirty="0" err="1"/>
              <a:t>Dependency</a:t>
            </a:r>
            <a:r>
              <a:rPr lang="fr-FR" sz="3600" dirty="0"/>
              <a:t> </a:t>
            </a:r>
            <a:r>
              <a:rPr lang="fr-FR" sz="3600" dirty="0" err="1"/>
              <a:t>Analysis</a:t>
            </a:r>
            <a:r>
              <a:rPr lang="fr-FR" sz="3600" dirty="0"/>
              <a:t> </a:t>
            </a:r>
            <a:r>
              <a:rPr lang="fr-FR" sz="3600" dirty="0" err="1" smtClean="0"/>
              <a:t>Tool</a:t>
            </a:r>
            <a:r>
              <a:rPr lang="fr-FR" sz="3600" dirty="0" smtClean="0"/>
              <a:t> » </a:t>
            </a:r>
            <a:r>
              <a:rPr lang="fr-FR" sz="3600" dirty="0"/>
              <a:t>(inclus dans le JDK) permettent de visualiser et analyser le graph de dépendance, aidant au développement et à l’optimisation.</a:t>
            </a:r>
          </a:p>
        </p:txBody>
      </p:sp>
    </p:spTree>
    <p:extLst>
      <p:ext uri="{BB962C8B-B14F-4D97-AF65-F5344CB8AC3E}">
        <p14:creationId xmlns:p14="http://schemas.microsoft.com/office/powerpoint/2010/main" val="531797335"/>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Graphe de Dépendances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smtClean="0"/>
              <a:t> </a:t>
            </a:r>
            <a:r>
              <a:rPr lang="fr-FR" sz="3200" b="1" dirty="0"/>
              <a:t>Outils</a:t>
            </a:r>
            <a:r>
              <a:rPr lang="fr-FR" sz="3200" dirty="0"/>
              <a:t> </a:t>
            </a:r>
            <a:r>
              <a:rPr lang="fr-FR" sz="3200" dirty="0" smtClean="0"/>
              <a:t>:</a:t>
            </a:r>
          </a:p>
          <a:p>
            <a:pPr lvl="1" algn="just">
              <a:lnSpc>
                <a:spcPct val="150000"/>
              </a:lnSpc>
              <a:buFont typeface="Wingdings" panose="05000000000000000000" pitchFamily="2" charset="2"/>
              <a:buChar char="Ø"/>
            </a:pPr>
            <a:r>
              <a:rPr lang="fr-FR" sz="2800" dirty="0"/>
              <a:t> </a:t>
            </a:r>
            <a:r>
              <a:rPr lang="fr-FR" sz="2800" dirty="0" smtClean="0"/>
              <a:t>Utilisez </a:t>
            </a:r>
            <a:r>
              <a:rPr lang="fr-FR" sz="2800" b="1" dirty="0" err="1"/>
              <a:t>jdeps</a:t>
            </a:r>
            <a:r>
              <a:rPr lang="fr-FR" sz="2800" dirty="0"/>
              <a:t> pour visualiser les dépendances entre modules</a:t>
            </a:r>
            <a:r>
              <a:rPr lang="fr-FR" sz="2800" dirty="0" smtClean="0"/>
              <a:t>.</a:t>
            </a:r>
          </a:p>
          <a:p>
            <a:pPr algn="just">
              <a:lnSpc>
                <a:spcPct val="150000"/>
              </a:lnSpc>
              <a:buFont typeface="Wingdings" panose="05000000000000000000" pitchFamily="2" charset="2"/>
              <a:buChar char="Ø"/>
            </a:pPr>
            <a:r>
              <a:rPr lang="fr-FR" sz="3200" dirty="0"/>
              <a:t> </a:t>
            </a:r>
            <a:r>
              <a:rPr lang="fr-FR" sz="3200" b="1" dirty="0"/>
              <a:t>Commande</a:t>
            </a:r>
            <a:r>
              <a:rPr lang="fr-FR" sz="3200" dirty="0"/>
              <a:t> :</a:t>
            </a:r>
          </a:p>
        </p:txBody>
      </p:sp>
      <p:pic>
        <p:nvPicPr>
          <p:cNvPr id="4" name="Image 3"/>
          <p:cNvPicPr>
            <a:picLocks noChangeAspect="1"/>
          </p:cNvPicPr>
          <p:nvPr/>
        </p:nvPicPr>
        <p:blipFill>
          <a:blip r:embed="rId2"/>
          <a:stretch>
            <a:fillRect/>
          </a:stretch>
        </p:blipFill>
        <p:spPr>
          <a:xfrm>
            <a:off x="1758120" y="4593466"/>
            <a:ext cx="8060267" cy="997480"/>
          </a:xfrm>
          <a:prstGeom prst="rect">
            <a:avLst/>
          </a:prstGeom>
        </p:spPr>
      </p:pic>
    </p:spTree>
    <p:extLst>
      <p:ext uri="{BB962C8B-B14F-4D97-AF65-F5344CB8AC3E}">
        <p14:creationId xmlns:p14="http://schemas.microsoft.com/office/powerpoint/2010/main" val="2391787253"/>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p:txBody>
          <a:bodyPr>
            <a:noAutofit/>
          </a:bodyPr>
          <a:lstStyle/>
          <a:p>
            <a:pPr algn="just">
              <a:lnSpc>
                <a:spcPct val="100000"/>
              </a:lnSpc>
              <a:buFont typeface="Wingdings" panose="05000000000000000000" pitchFamily="2" charset="2"/>
              <a:buChar char="Ø"/>
            </a:pPr>
            <a:r>
              <a:rPr lang="fr-FR" sz="2800" dirty="0"/>
              <a:t> Le graph de dépendance introduit par le système modulaire de Java 9 joue un rôle clé dans </a:t>
            </a:r>
            <a:r>
              <a:rPr lang="fr-FR" sz="2800" dirty="0" smtClean="0"/>
              <a:t>:</a:t>
            </a:r>
          </a:p>
          <a:p>
            <a:pPr lvl="1" algn="just">
              <a:lnSpc>
                <a:spcPct val="100000"/>
              </a:lnSpc>
              <a:buFont typeface="Wingdings" panose="05000000000000000000" pitchFamily="2" charset="2"/>
              <a:buChar char="Ø"/>
            </a:pPr>
            <a:r>
              <a:rPr lang="fr-FR" sz="2400" dirty="0"/>
              <a:t> La gestion des dépendances </a:t>
            </a:r>
            <a:r>
              <a:rPr lang="fr-FR" sz="2400" dirty="0" smtClean="0"/>
              <a:t>explicites.</a:t>
            </a:r>
          </a:p>
          <a:p>
            <a:pPr lvl="1" algn="just">
              <a:lnSpc>
                <a:spcPct val="100000"/>
              </a:lnSpc>
              <a:buFont typeface="Wingdings" panose="05000000000000000000" pitchFamily="2" charset="2"/>
              <a:buChar char="Ø"/>
            </a:pPr>
            <a:r>
              <a:rPr lang="fr-FR" sz="2400" dirty="0" smtClean="0"/>
              <a:t> L’amélioration </a:t>
            </a:r>
            <a:r>
              <a:rPr lang="fr-FR" sz="2400" dirty="0"/>
              <a:t>des performances par le chargement sélectif</a:t>
            </a:r>
            <a:r>
              <a:rPr lang="fr-FR" sz="2400" dirty="0" smtClean="0"/>
              <a:t>.</a:t>
            </a:r>
          </a:p>
          <a:p>
            <a:pPr lvl="1" algn="just">
              <a:lnSpc>
                <a:spcPct val="100000"/>
              </a:lnSpc>
              <a:buFont typeface="Wingdings" panose="05000000000000000000" pitchFamily="2" charset="2"/>
              <a:buChar char="Ø"/>
            </a:pPr>
            <a:r>
              <a:rPr lang="fr-FR" sz="2400" dirty="0" smtClean="0"/>
              <a:t> L’encapsulation </a:t>
            </a:r>
            <a:r>
              <a:rPr lang="fr-FR" sz="2400" dirty="0"/>
              <a:t>et la sécurité du code</a:t>
            </a:r>
            <a:r>
              <a:rPr lang="fr-FR" sz="2400" dirty="0" smtClean="0"/>
              <a:t>.</a:t>
            </a:r>
          </a:p>
          <a:p>
            <a:pPr lvl="1" algn="just">
              <a:lnSpc>
                <a:spcPct val="100000"/>
              </a:lnSpc>
              <a:buFont typeface="Wingdings" panose="05000000000000000000" pitchFamily="2" charset="2"/>
              <a:buChar char="Ø"/>
            </a:pPr>
            <a:r>
              <a:rPr lang="fr-FR" sz="2400" dirty="0" smtClean="0"/>
              <a:t> La </a:t>
            </a:r>
            <a:r>
              <a:rPr lang="fr-FR" sz="2400" dirty="0"/>
              <a:t>détection des erreurs (comme les cycles ou les dépendances manquantes) dès la compilation ou au démarrage</a:t>
            </a:r>
            <a:r>
              <a:rPr lang="fr-FR" sz="2400" dirty="0" smtClean="0"/>
              <a:t>.</a:t>
            </a:r>
          </a:p>
          <a:p>
            <a:pPr algn="just">
              <a:lnSpc>
                <a:spcPct val="100000"/>
              </a:lnSpc>
              <a:buFont typeface="Wingdings" panose="05000000000000000000" pitchFamily="2" charset="2"/>
              <a:buChar char="Ø"/>
            </a:pPr>
            <a:r>
              <a:rPr lang="fr-FR" sz="2800" dirty="0" smtClean="0"/>
              <a:t>Il </a:t>
            </a:r>
            <a:r>
              <a:rPr lang="fr-FR" sz="2800" dirty="0"/>
              <a:t>apporte une meilleure organisation, maintenabilité et robustesse aux grandes applications Java.</a:t>
            </a:r>
          </a:p>
        </p:txBody>
      </p:sp>
    </p:spTree>
    <p:extLst>
      <p:ext uri="{BB962C8B-B14F-4D97-AF65-F5344CB8AC3E}">
        <p14:creationId xmlns:p14="http://schemas.microsoft.com/office/powerpoint/2010/main" val="823046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000" b="1" dirty="0"/>
              <a:t>Étapes pour lancer une application modulaire</a:t>
            </a:r>
          </a:p>
        </p:txBody>
      </p:sp>
      <p:sp>
        <p:nvSpPr>
          <p:cNvPr id="3" name="Espace réservé du contenu 2"/>
          <p:cNvSpPr>
            <a:spLocks noGrp="1"/>
          </p:cNvSpPr>
          <p:nvPr>
            <p:ph idx="1"/>
          </p:nvPr>
        </p:nvSpPr>
        <p:spPr/>
        <p:txBody>
          <a:bodyPr>
            <a:normAutofit/>
          </a:bodyPr>
          <a:lstStyle/>
          <a:p>
            <a:pPr>
              <a:lnSpc>
                <a:spcPct val="200000"/>
              </a:lnSpc>
              <a:buFont typeface="Wingdings" panose="05000000000000000000" pitchFamily="2" charset="2"/>
              <a:buChar char="Ø"/>
            </a:pPr>
            <a:r>
              <a:rPr lang="fr-FR" sz="3600" dirty="0"/>
              <a:t> </a:t>
            </a:r>
            <a:r>
              <a:rPr lang="fr-FR" sz="3600" b="1" dirty="0"/>
              <a:t>Étape 1 </a:t>
            </a:r>
            <a:r>
              <a:rPr lang="fr-FR" sz="3600" dirty="0"/>
              <a:t>: Organisation des </a:t>
            </a:r>
            <a:r>
              <a:rPr lang="fr-FR" sz="3600" dirty="0" smtClean="0"/>
              <a:t>modules</a:t>
            </a:r>
          </a:p>
          <a:p>
            <a:pPr>
              <a:lnSpc>
                <a:spcPct val="200000"/>
              </a:lnSpc>
              <a:buFont typeface="Wingdings" panose="05000000000000000000" pitchFamily="2" charset="2"/>
              <a:buChar char="Ø"/>
            </a:pPr>
            <a:r>
              <a:rPr lang="fr-FR" sz="3600" b="1" dirty="0"/>
              <a:t> Étape 2 </a:t>
            </a:r>
            <a:r>
              <a:rPr lang="fr-FR" sz="3600" dirty="0"/>
              <a:t>: </a:t>
            </a:r>
            <a:r>
              <a:rPr lang="fr-FR" sz="3600" dirty="0" smtClean="0"/>
              <a:t>Compilation</a:t>
            </a:r>
          </a:p>
          <a:p>
            <a:pPr>
              <a:lnSpc>
                <a:spcPct val="200000"/>
              </a:lnSpc>
              <a:buFont typeface="Wingdings" panose="05000000000000000000" pitchFamily="2" charset="2"/>
              <a:buChar char="Ø"/>
            </a:pPr>
            <a:r>
              <a:rPr lang="fr-FR" sz="3600" dirty="0"/>
              <a:t> </a:t>
            </a:r>
            <a:r>
              <a:rPr lang="fr-FR" sz="3600" b="1" dirty="0"/>
              <a:t>Étape 3 </a:t>
            </a:r>
            <a:r>
              <a:rPr lang="fr-FR" sz="3600" dirty="0"/>
              <a:t>: Exécution</a:t>
            </a:r>
          </a:p>
        </p:txBody>
      </p:sp>
    </p:spTree>
    <p:extLst>
      <p:ext uri="{BB962C8B-B14F-4D97-AF65-F5344CB8AC3E}">
        <p14:creationId xmlns:p14="http://schemas.microsoft.com/office/powerpoint/2010/main" val="3832942129"/>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Étape 1 : Organisation des </a:t>
            </a:r>
            <a:r>
              <a:rPr lang="fr-FR" b="1" dirty="0" smtClean="0"/>
              <a:t>modules</a:t>
            </a:r>
            <a:endParaRPr lang="fr-FR"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Organisez les modules dans une structure de répertoires respectant leur hiérarchie. Exemple </a:t>
            </a:r>
            <a:r>
              <a:rPr lang="fr-FR" sz="2800" dirty="0" smtClean="0"/>
              <a:t>:</a:t>
            </a:r>
            <a:endParaRPr lang="fr-FR" sz="2800" dirty="0"/>
          </a:p>
        </p:txBody>
      </p:sp>
      <p:pic>
        <p:nvPicPr>
          <p:cNvPr id="5" name="Image 4"/>
          <p:cNvPicPr>
            <a:picLocks noChangeAspect="1"/>
          </p:cNvPicPr>
          <p:nvPr/>
        </p:nvPicPr>
        <p:blipFill>
          <a:blip r:embed="rId2"/>
          <a:stretch>
            <a:fillRect/>
          </a:stretch>
        </p:blipFill>
        <p:spPr>
          <a:xfrm>
            <a:off x="3386667" y="3432704"/>
            <a:ext cx="5300133" cy="24363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51349807"/>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Étape 2 : Compilation</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a:t> La compilation des modules se fait en utilisant </a:t>
            </a:r>
            <a:r>
              <a:rPr lang="fr-FR" sz="2800" b="1" dirty="0" err="1"/>
              <a:t>javac</a:t>
            </a:r>
            <a:r>
              <a:rPr lang="fr-FR" sz="2800" dirty="0"/>
              <a:t> avec les options suivantes </a:t>
            </a:r>
            <a:r>
              <a:rPr lang="fr-FR" sz="2800" dirty="0" smtClean="0"/>
              <a:t>:</a:t>
            </a:r>
          </a:p>
          <a:p>
            <a:pPr lvl="1" algn="just">
              <a:lnSpc>
                <a:spcPct val="150000"/>
              </a:lnSpc>
              <a:buFont typeface="Wingdings" panose="05000000000000000000" pitchFamily="2" charset="2"/>
              <a:buChar char="Ø"/>
            </a:pPr>
            <a:r>
              <a:rPr lang="fr-FR" sz="2400" dirty="0"/>
              <a:t> </a:t>
            </a:r>
            <a:r>
              <a:rPr lang="fr-FR" sz="2400" b="1" dirty="0"/>
              <a:t>--module-source-</a:t>
            </a:r>
            <a:r>
              <a:rPr lang="fr-FR" sz="2400" b="1" dirty="0" err="1"/>
              <a:t>path</a:t>
            </a:r>
            <a:r>
              <a:rPr lang="fr-FR" sz="2400" b="1" dirty="0"/>
              <a:t> </a:t>
            </a:r>
            <a:r>
              <a:rPr lang="fr-FR" sz="2400" dirty="0"/>
              <a:t>: Définit le chemin des fichiers source des modules</a:t>
            </a:r>
            <a:r>
              <a:rPr lang="fr-FR" sz="2400" dirty="0" smtClean="0"/>
              <a:t>.</a:t>
            </a:r>
          </a:p>
          <a:p>
            <a:pPr lvl="1" algn="just">
              <a:lnSpc>
                <a:spcPct val="150000"/>
              </a:lnSpc>
              <a:buFont typeface="Wingdings" panose="05000000000000000000" pitchFamily="2" charset="2"/>
              <a:buChar char="Ø"/>
            </a:pPr>
            <a:r>
              <a:rPr lang="fr-FR" sz="2400" dirty="0"/>
              <a:t> </a:t>
            </a:r>
            <a:r>
              <a:rPr lang="fr-FR" sz="2400" b="1" dirty="0"/>
              <a:t>-d</a:t>
            </a:r>
            <a:r>
              <a:rPr lang="fr-FR" sz="2400" dirty="0"/>
              <a:t> : Définit le répertoire de sortie</a:t>
            </a:r>
            <a:r>
              <a:rPr lang="fr-FR" sz="2400" dirty="0" smtClean="0"/>
              <a:t>.</a:t>
            </a:r>
          </a:p>
          <a:p>
            <a:pPr algn="just">
              <a:lnSpc>
                <a:spcPct val="150000"/>
              </a:lnSpc>
              <a:buFont typeface="Wingdings" panose="05000000000000000000" pitchFamily="2" charset="2"/>
              <a:buChar char="Ø"/>
            </a:pPr>
            <a:r>
              <a:rPr lang="fr-FR" sz="2800" dirty="0"/>
              <a:t> Exemple de commande </a:t>
            </a:r>
            <a:r>
              <a:rPr lang="fr-FR" sz="2800" dirty="0" smtClean="0"/>
              <a:t>:</a:t>
            </a:r>
            <a:endParaRPr lang="fr-FR" sz="2800" dirty="0"/>
          </a:p>
          <a:p>
            <a:pPr lvl="1" algn="just">
              <a:lnSpc>
                <a:spcPct val="150000"/>
              </a:lnSpc>
              <a:buFont typeface="Wingdings" panose="05000000000000000000" pitchFamily="2" charset="2"/>
              <a:buChar char="Ø"/>
            </a:pPr>
            <a:endParaRPr lang="fr-FR" sz="2400" dirty="0" smtClean="0"/>
          </a:p>
          <a:p>
            <a:pPr algn="just">
              <a:lnSpc>
                <a:spcPct val="150000"/>
              </a:lnSpc>
              <a:buFont typeface="Wingdings" panose="05000000000000000000" pitchFamily="2" charset="2"/>
              <a:buChar char="Ø"/>
            </a:pPr>
            <a:endParaRPr lang="fr-FR" sz="2800" dirty="0"/>
          </a:p>
        </p:txBody>
      </p:sp>
      <p:pic>
        <p:nvPicPr>
          <p:cNvPr id="7" name="Image 6"/>
          <p:cNvPicPr>
            <a:picLocks noChangeAspect="1"/>
          </p:cNvPicPr>
          <p:nvPr/>
        </p:nvPicPr>
        <p:blipFill>
          <a:blip r:embed="rId2"/>
          <a:stretch>
            <a:fillRect/>
          </a:stretch>
        </p:blipFill>
        <p:spPr>
          <a:xfrm>
            <a:off x="4275983" y="5330613"/>
            <a:ext cx="6662950" cy="7823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48936135"/>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Étape 3 : </a:t>
            </a:r>
            <a:r>
              <a:rPr lang="fr-FR" b="1" dirty="0" smtClean="0"/>
              <a:t>Exécution</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L'exécution d'une application modulaire utilise java avec </a:t>
            </a:r>
            <a:r>
              <a:rPr lang="fr-FR" sz="3200" dirty="0" smtClean="0"/>
              <a:t>:</a:t>
            </a:r>
          </a:p>
          <a:p>
            <a:pPr lvl="1" algn="just">
              <a:lnSpc>
                <a:spcPct val="150000"/>
              </a:lnSpc>
              <a:buFont typeface="Wingdings" panose="05000000000000000000" pitchFamily="2" charset="2"/>
              <a:buChar char="Ø"/>
            </a:pPr>
            <a:r>
              <a:rPr lang="fr-FR" sz="2800" dirty="0"/>
              <a:t> </a:t>
            </a:r>
            <a:r>
              <a:rPr lang="fr-FR" sz="2800" b="1" dirty="0"/>
              <a:t>--module-</a:t>
            </a:r>
            <a:r>
              <a:rPr lang="fr-FR" sz="2800" b="1" dirty="0" err="1"/>
              <a:t>path</a:t>
            </a:r>
            <a:r>
              <a:rPr lang="fr-FR" sz="2800" b="1" dirty="0"/>
              <a:t> </a:t>
            </a:r>
            <a:r>
              <a:rPr lang="fr-FR" sz="2800" dirty="0"/>
              <a:t>: Définit le chemin des modules compilés</a:t>
            </a:r>
            <a:r>
              <a:rPr lang="fr-FR" sz="2800" dirty="0" smtClean="0"/>
              <a:t>.</a:t>
            </a:r>
          </a:p>
          <a:p>
            <a:pPr lvl="1" algn="just">
              <a:lnSpc>
                <a:spcPct val="150000"/>
              </a:lnSpc>
              <a:buFont typeface="Wingdings" panose="05000000000000000000" pitchFamily="2" charset="2"/>
              <a:buChar char="Ø"/>
            </a:pPr>
            <a:r>
              <a:rPr lang="fr-FR" sz="2800" dirty="0"/>
              <a:t> </a:t>
            </a:r>
            <a:r>
              <a:rPr lang="fr-FR" sz="2800" b="1" dirty="0"/>
              <a:t>--module </a:t>
            </a:r>
            <a:r>
              <a:rPr lang="fr-FR" sz="2800" dirty="0"/>
              <a:t>: Spécifie le module principal et son point d’entrée</a:t>
            </a:r>
            <a:r>
              <a:rPr lang="fr-FR" sz="2800" dirty="0" smtClean="0"/>
              <a:t>.</a:t>
            </a:r>
          </a:p>
          <a:p>
            <a:pPr algn="just">
              <a:lnSpc>
                <a:spcPct val="150000"/>
              </a:lnSpc>
              <a:buFont typeface="Wingdings" panose="05000000000000000000" pitchFamily="2" charset="2"/>
              <a:buChar char="Ø"/>
            </a:pPr>
            <a:r>
              <a:rPr lang="fr-FR" sz="3200" dirty="0"/>
              <a:t> Exemple de commande </a:t>
            </a:r>
            <a:r>
              <a:rPr lang="fr-FR" sz="3200" dirty="0" smtClean="0"/>
              <a:t>:</a:t>
            </a:r>
            <a:endParaRPr lang="fr-FR" sz="3200" dirty="0"/>
          </a:p>
        </p:txBody>
      </p:sp>
      <p:pic>
        <p:nvPicPr>
          <p:cNvPr id="8" name="Image 7"/>
          <p:cNvPicPr>
            <a:picLocks noChangeAspect="1"/>
          </p:cNvPicPr>
          <p:nvPr/>
        </p:nvPicPr>
        <p:blipFill>
          <a:blip r:embed="rId2"/>
          <a:stretch>
            <a:fillRect/>
          </a:stretch>
        </p:blipFill>
        <p:spPr>
          <a:xfrm>
            <a:off x="2895600" y="5016499"/>
            <a:ext cx="6756400" cy="11641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35227512"/>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Résolution des erreurs courantes</a:t>
            </a:r>
          </a:p>
        </p:txBody>
      </p:sp>
      <p:pic>
        <p:nvPicPr>
          <p:cNvPr id="4" name="Espace réservé du contenu 3"/>
          <p:cNvPicPr>
            <a:picLocks noGrp="1" noChangeAspect="1"/>
          </p:cNvPicPr>
          <p:nvPr>
            <p:ph idx="1"/>
          </p:nvPr>
        </p:nvPicPr>
        <p:blipFill>
          <a:blip r:embed="rId2"/>
          <a:stretch>
            <a:fillRect/>
          </a:stretch>
        </p:blipFill>
        <p:spPr>
          <a:xfrm>
            <a:off x="1097280" y="1964267"/>
            <a:ext cx="10058400" cy="42163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35418407"/>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Points clés à retenir</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Le point d'entrée de l'application est défini dans un module spécifique avec une méthode main</a:t>
            </a:r>
            <a:r>
              <a:rPr lang="fr-FR" sz="2800" dirty="0" smtClean="0"/>
              <a:t>.</a:t>
            </a:r>
          </a:p>
          <a:p>
            <a:pPr algn="just">
              <a:lnSpc>
                <a:spcPct val="150000"/>
              </a:lnSpc>
              <a:buFont typeface="Wingdings" panose="05000000000000000000" pitchFamily="2" charset="2"/>
              <a:buChar char="Ø"/>
            </a:pPr>
            <a:r>
              <a:rPr lang="fr-FR" sz="2800" dirty="0"/>
              <a:t> L'option </a:t>
            </a:r>
            <a:r>
              <a:rPr lang="fr-FR" sz="2800" b="1" dirty="0"/>
              <a:t>--module-</a:t>
            </a:r>
            <a:r>
              <a:rPr lang="fr-FR" sz="2800" b="1" dirty="0" err="1"/>
              <a:t>path</a:t>
            </a:r>
            <a:r>
              <a:rPr lang="fr-FR" sz="2800" b="1" dirty="0"/>
              <a:t> </a:t>
            </a:r>
            <a:r>
              <a:rPr lang="fr-FR" sz="2800" dirty="0"/>
              <a:t>remplace l'ancien </a:t>
            </a:r>
            <a:r>
              <a:rPr lang="fr-FR" sz="2800" b="1" dirty="0"/>
              <a:t>-</a:t>
            </a:r>
            <a:r>
              <a:rPr lang="fr-FR" sz="2800" b="1" dirty="0" err="1"/>
              <a:t>classpath</a:t>
            </a:r>
            <a:r>
              <a:rPr lang="fr-FR" sz="2800" b="1" dirty="0"/>
              <a:t> </a:t>
            </a:r>
            <a:r>
              <a:rPr lang="fr-FR" sz="2800" dirty="0"/>
              <a:t>pour spécifier les dépendances</a:t>
            </a:r>
            <a:r>
              <a:rPr lang="fr-FR" sz="2800" dirty="0" smtClean="0"/>
              <a:t>.</a:t>
            </a:r>
          </a:p>
          <a:p>
            <a:pPr algn="just">
              <a:lnSpc>
                <a:spcPct val="150000"/>
              </a:lnSpc>
              <a:buFont typeface="Wingdings" panose="05000000000000000000" pitchFamily="2" charset="2"/>
              <a:buChar char="Ø"/>
            </a:pPr>
            <a:r>
              <a:rPr lang="fr-FR" sz="2800" dirty="0"/>
              <a:t> Le fichier module-info.java contrôle la visibilité et les dépendances, améliorant la sécurité et la maintenabilité.</a:t>
            </a:r>
          </a:p>
        </p:txBody>
      </p:sp>
    </p:spTree>
    <p:extLst>
      <p:ext uri="{BB962C8B-B14F-4D97-AF65-F5344CB8AC3E}">
        <p14:creationId xmlns:p14="http://schemas.microsoft.com/office/powerpoint/2010/main" val="501167462"/>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Packaging des Modules</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4000" dirty="0"/>
              <a:t> Le packaging des modules consiste à regrouper le code et ses dépendances sous une forme structurée et prête à être distribuée ou exécutée.</a:t>
            </a:r>
          </a:p>
        </p:txBody>
      </p:sp>
    </p:spTree>
    <p:extLst>
      <p:ext uri="{BB962C8B-B14F-4D97-AF65-F5344CB8AC3E}">
        <p14:creationId xmlns:p14="http://schemas.microsoft.com/office/powerpoint/2010/main" val="3958053318"/>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t>Avantages du Packaging et Exécution des Modules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3200" dirty="0"/>
              <a:t> Structure explicite </a:t>
            </a:r>
            <a:r>
              <a:rPr lang="fr-FR" sz="3200" dirty="0" smtClean="0"/>
              <a:t>:</a:t>
            </a:r>
          </a:p>
          <a:p>
            <a:pPr algn="just">
              <a:lnSpc>
                <a:spcPct val="150000"/>
              </a:lnSpc>
              <a:buFont typeface="Wingdings" panose="05000000000000000000" pitchFamily="2" charset="2"/>
              <a:buChar char="Ø"/>
            </a:pPr>
            <a:r>
              <a:rPr lang="fr-FR" sz="3200" dirty="0"/>
              <a:t> Réduction des conflits de </a:t>
            </a:r>
            <a:r>
              <a:rPr lang="fr-FR" sz="3200" dirty="0" err="1"/>
              <a:t>classpath</a:t>
            </a:r>
            <a:r>
              <a:rPr lang="fr-FR" sz="3200" dirty="0"/>
              <a:t> </a:t>
            </a:r>
            <a:r>
              <a:rPr lang="fr-FR" sz="3200" dirty="0" smtClean="0"/>
              <a:t>:</a:t>
            </a:r>
          </a:p>
          <a:p>
            <a:pPr algn="just">
              <a:lnSpc>
                <a:spcPct val="150000"/>
              </a:lnSpc>
              <a:buFont typeface="Wingdings" panose="05000000000000000000" pitchFamily="2" charset="2"/>
              <a:buChar char="Ø"/>
            </a:pPr>
            <a:r>
              <a:rPr lang="fr-FR" sz="3200" dirty="0" smtClean="0"/>
              <a:t> Sécurité </a:t>
            </a:r>
            <a:r>
              <a:rPr lang="fr-FR" sz="3200" dirty="0"/>
              <a:t>améliorée </a:t>
            </a:r>
            <a:r>
              <a:rPr lang="fr-FR" sz="3200" dirty="0" smtClean="0"/>
              <a:t>:</a:t>
            </a:r>
          </a:p>
          <a:p>
            <a:pPr algn="just">
              <a:lnSpc>
                <a:spcPct val="150000"/>
              </a:lnSpc>
              <a:buFont typeface="Wingdings" panose="05000000000000000000" pitchFamily="2" charset="2"/>
              <a:buChar char="Ø"/>
            </a:pPr>
            <a:r>
              <a:rPr lang="fr-FR" sz="3200" dirty="0"/>
              <a:t> Optimisation des performances </a:t>
            </a:r>
            <a:r>
              <a:rPr lang="fr-FR" sz="3200" dirty="0" smtClean="0"/>
              <a:t>:</a:t>
            </a:r>
          </a:p>
          <a:p>
            <a:pPr algn="just">
              <a:lnSpc>
                <a:spcPct val="150000"/>
              </a:lnSpc>
              <a:buFont typeface="Wingdings" panose="05000000000000000000" pitchFamily="2" charset="2"/>
              <a:buChar char="Ø"/>
            </a:pPr>
            <a:r>
              <a:rPr lang="fr-FR" sz="3200" dirty="0"/>
              <a:t> Extension facile :</a:t>
            </a:r>
          </a:p>
        </p:txBody>
      </p:sp>
    </p:spTree>
    <p:extLst>
      <p:ext uri="{BB962C8B-B14F-4D97-AF65-F5344CB8AC3E}">
        <p14:creationId xmlns:p14="http://schemas.microsoft.com/office/powerpoint/2010/main" val="1257332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Structure explicite</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Le graphe de dépendance est défini dans le fichier module-info.java, ce qui rend les dépendances transparentes et faciles à gérer.</a:t>
            </a:r>
          </a:p>
        </p:txBody>
      </p:sp>
    </p:spTree>
    <p:extLst>
      <p:ext uri="{BB962C8B-B14F-4D97-AF65-F5344CB8AC3E}">
        <p14:creationId xmlns:p14="http://schemas.microsoft.com/office/powerpoint/2010/main" val="2012997514"/>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Réduction des conflits de </a:t>
            </a:r>
            <a:r>
              <a:rPr lang="fr-FR" b="1" dirty="0" err="1"/>
              <a:t>classpath</a:t>
            </a:r>
            <a:r>
              <a:rPr lang="fr-FR" dirty="0"/>
              <a:t> </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a:t>
            </a:r>
            <a:r>
              <a:rPr lang="fr-FR" sz="3600" dirty="0" smtClean="0"/>
              <a:t>Les conflits liés à des classes dupliquées ou non résolues dans le </a:t>
            </a:r>
            <a:r>
              <a:rPr lang="fr-FR" sz="3600" b="1" dirty="0" err="1" smtClean="0"/>
              <a:t>classpath</a:t>
            </a:r>
            <a:r>
              <a:rPr lang="fr-FR" sz="3600" dirty="0" smtClean="0"/>
              <a:t> sont évités grâce à l’isolation des modules.</a:t>
            </a:r>
            <a:endParaRPr lang="fr-FR" sz="3600" dirty="0"/>
          </a:p>
        </p:txBody>
      </p:sp>
    </p:spTree>
    <p:extLst>
      <p:ext uri="{BB962C8B-B14F-4D97-AF65-F5344CB8AC3E}">
        <p14:creationId xmlns:p14="http://schemas.microsoft.com/office/powerpoint/2010/main" val="1120613999"/>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Sécurité améliorée</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Les modules exposent uniquement les </a:t>
            </a:r>
            <a:r>
              <a:rPr lang="fr-FR" sz="3600" b="1" dirty="0"/>
              <a:t>API</a:t>
            </a:r>
            <a:r>
              <a:rPr lang="fr-FR" sz="3600" dirty="0"/>
              <a:t> nécessaires. Cela réduit les risques d'accès non autorisé aux parties internes..</a:t>
            </a:r>
          </a:p>
        </p:txBody>
      </p:sp>
    </p:spTree>
    <p:extLst>
      <p:ext uri="{BB962C8B-B14F-4D97-AF65-F5344CB8AC3E}">
        <p14:creationId xmlns:p14="http://schemas.microsoft.com/office/powerpoint/2010/main" val="609706380"/>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Optimisation des performances</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a:t>
            </a:r>
            <a:r>
              <a:rPr lang="fr-FR" sz="3600" dirty="0" smtClean="0"/>
              <a:t>Seuls </a:t>
            </a:r>
            <a:r>
              <a:rPr lang="fr-FR" sz="3600" dirty="0"/>
              <a:t>les modules nécessaires sont chargés, ce qui améliore les performances au </a:t>
            </a:r>
            <a:r>
              <a:rPr lang="fr-FR" sz="3600" b="1" dirty="0" err="1"/>
              <a:t>runtime</a:t>
            </a:r>
            <a:r>
              <a:rPr lang="fr-FR" sz="3600" dirty="0"/>
              <a:t>.</a:t>
            </a:r>
          </a:p>
        </p:txBody>
      </p:sp>
    </p:spTree>
    <p:extLst>
      <p:ext uri="{BB962C8B-B14F-4D97-AF65-F5344CB8AC3E}">
        <p14:creationId xmlns:p14="http://schemas.microsoft.com/office/powerpoint/2010/main" val="4285268819"/>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 Extension facile </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a:t> Grâce au système de services (</a:t>
            </a:r>
            <a:r>
              <a:rPr lang="fr-FR" sz="3600" b="1" dirty="0"/>
              <a:t>uses et </a:t>
            </a:r>
            <a:r>
              <a:rPr lang="fr-FR" sz="3600" b="1" dirty="0" err="1"/>
              <a:t>provides</a:t>
            </a:r>
            <a:r>
              <a:rPr lang="fr-FR" sz="3600" dirty="0"/>
              <a:t>), il est facile d’ajouter ou de modifier des fonctionnalités en implémentant de nouvelles classes dans les modules existants.</a:t>
            </a:r>
          </a:p>
        </p:txBody>
      </p:sp>
    </p:spTree>
    <p:extLst>
      <p:ext uri="{BB962C8B-B14F-4D97-AF65-F5344CB8AC3E}">
        <p14:creationId xmlns:p14="http://schemas.microsoft.com/office/powerpoint/2010/main" val="517955405"/>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Processus</a:t>
            </a:r>
          </a:p>
        </p:txBody>
      </p:sp>
      <p:sp>
        <p:nvSpPr>
          <p:cNvPr id="3" name="Espace réservé du contenu 2"/>
          <p:cNvSpPr>
            <a:spLocks noGrp="1"/>
          </p:cNvSpPr>
          <p:nvPr>
            <p:ph idx="1"/>
          </p:nvPr>
        </p:nvSpPr>
        <p:spPr/>
        <p:txBody>
          <a:bodyPr>
            <a:normAutofit/>
          </a:bodyPr>
          <a:lstStyle/>
          <a:p>
            <a:pPr>
              <a:lnSpc>
                <a:spcPct val="200000"/>
              </a:lnSpc>
              <a:buFont typeface="Wingdings" panose="05000000000000000000" pitchFamily="2" charset="2"/>
              <a:buChar char="Ø"/>
            </a:pPr>
            <a:r>
              <a:rPr lang="fr-FR" sz="3600" dirty="0"/>
              <a:t> Structure du module </a:t>
            </a:r>
            <a:r>
              <a:rPr lang="fr-FR" sz="3600" b="1" dirty="0" err="1" smtClean="0"/>
              <a:t>path</a:t>
            </a:r>
            <a:endParaRPr lang="fr-FR" sz="3600" b="1" dirty="0" smtClean="0"/>
          </a:p>
          <a:p>
            <a:pPr>
              <a:lnSpc>
                <a:spcPct val="200000"/>
              </a:lnSpc>
              <a:buFont typeface="Wingdings" panose="05000000000000000000" pitchFamily="2" charset="2"/>
              <a:buChar char="Ø"/>
            </a:pPr>
            <a:r>
              <a:rPr lang="fr-FR" sz="3600" dirty="0"/>
              <a:t> Résolution des dépendances au </a:t>
            </a:r>
            <a:r>
              <a:rPr lang="fr-FR" sz="3600" b="1" dirty="0" err="1" smtClean="0"/>
              <a:t>runtime</a:t>
            </a:r>
            <a:endParaRPr lang="fr-FR" sz="3600" b="1" dirty="0" smtClean="0"/>
          </a:p>
          <a:p>
            <a:pPr>
              <a:lnSpc>
                <a:spcPct val="200000"/>
              </a:lnSpc>
              <a:buFont typeface="Wingdings" panose="05000000000000000000" pitchFamily="2" charset="2"/>
              <a:buChar char="Ø"/>
            </a:pPr>
            <a:r>
              <a:rPr lang="fr-FR" sz="3600" dirty="0"/>
              <a:t> Exécution en mode modulaire</a:t>
            </a:r>
          </a:p>
        </p:txBody>
      </p:sp>
    </p:spTree>
    <p:extLst>
      <p:ext uri="{BB962C8B-B14F-4D97-AF65-F5344CB8AC3E}">
        <p14:creationId xmlns:p14="http://schemas.microsoft.com/office/powerpoint/2010/main" val="772166030"/>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Structure du module </a:t>
            </a:r>
            <a:r>
              <a:rPr lang="fr-FR" b="1" dirty="0" err="1" smtClean="0"/>
              <a:t>path</a:t>
            </a:r>
            <a:endParaRPr lang="fr-FR" b="1" dirty="0"/>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dirty="0"/>
              <a:t> Contrairement au </a:t>
            </a:r>
            <a:r>
              <a:rPr lang="fr-FR" b="1" dirty="0" err="1"/>
              <a:t>classpath</a:t>
            </a:r>
            <a:r>
              <a:rPr lang="fr-FR" dirty="0"/>
              <a:t>, le module </a:t>
            </a:r>
            <a:r>
              <a:rPr lang="fr-FR" dirty="0" err="1"/>
              <a:t>path</a:t>
            </a:r>
            <a:r>
              <a:rPr lang="fr-FR" dirty="0"/>
              <a:t> (</a:t>
            </a:r>
            <a:r>
              <a:rPr lang="fr-FR" b="1" dirty="0"/>
              <a:t>--module-</a:t>
            </a:r>
            <a:r>
              <a:rPr lang="fr-FR" b="1" dirty="0" err="1"/>
              <a:t>path</a:t>
            </a:r>
            <a:r>
              <a:rPr lang="fr-FR" dirty="0"/>
              <a:t>) est utilisé pour indiquer l’emplacement des modules</a:t>
            </a:r>
            <a:r>
              <a:rPr lang="fr-FR" dirty="0" smtClean="0"/>
              <a:t>.</a:t>
            </a:r>
          </a:p>
          <a:p>
            <a:pPr>
              <a:lnSpc>
                <a:spcPct val="150000"/>
              </a:lnSpc>
              <a:buFont typeface="Wingdings" panose="05000000000000000000" pitchFamily="2" charset="2"/>
              <a:buChar char="Ø"/>
            </a:pPr>
            <a:r>
              <a:rPr lang="fr-FR" dirty="0"/>
              <a:t> </a:t>
            </a:r>
            <a:r>
              <a:rPr lang="fr-FR" b="1" dirty="0"/>
              <a:t>Exemple</a:t>
            </a:r>
            <a:r>
              <a:rPr lang="fr-FR" dirty="0"/>
              <a:t> </a:t>
            </a:r>
            <a:r>
              <a:rPr lang="fr-FR" dirty="0" smtClean="0"/>
              <a:t>:</a:t>
            </a:r>
          </a:p>
          <a:p>
            <a:pPr>
              <a:lnSpc>
                <a:spcPct val="150000"/>
              </a:lnSpc>
              <a:buFont typeface="Wingdings" panose="05000000000000000000" pitchFamily="2" charset="2"/>
              <a:buChar char="Ø"/>
            </a:pPr>
            <a:endParaRPr lang="fr-FR" dirty="0"/>
          </a:p>
          <a:p>
            <a:pPr>
              <a:lnSpc>
                <a:spcPct val="150000"/>
              </a:lnSpc>
              <a:buFont typeface="Wingdings" panose="05000000000000000000" pitchFamily="2" charset="2"/>
              <a:buChar char="Ø"/>
            </a:pPr>
            <a:endParaRPr lang="fr-FR" dirty="0" smtClean="0"/>
          </a:p>
          <a:p>
            <a:pPr lvl="1">
              <a:lnSpc>
                <a:spcPct val="150000"/>
              </a:lnSpc>
              <a:buFont typeface="Wingdings" panose="05000000000000000000" pitchFamily="2" charset="2"/>
              <a:buChar char="Ø"/>
            </a:pPr>
            <a:r>
              <a:rPr lang="fr-FR" dirty="0" smtClean="0"/>
              <a:t> </a:t>
            </a:r>
            <a:r>
              <a:rPr lang="fr-FR" b="1" dirty="0" err="1"/>
              <a:t>mods</a:t>
            </a:r>
            <a:r>
              <a:rPr lang="fr-FR" dirty="0"/>
              <a:t> : Répertoire contenant les JAR modulaires</a:t>
            </a:r>
            <a:r>
              <a:rPr lang="fr-FR" dirty="0" smtClean="0"/>
              <a:t>.</a:t>
            </a:r>
          </a:p>
          <a:p>
            <a:pPr lvl="1">
              <a:lnSpc>
                <a:spcPct val="150000"/>
              </a:lnSpc>
              <a:buFont typeface="Wingdings" panose="05000000000000000000" pitchFamily="2" charset="2"/>
              <a:buChar char="Ø"/>
            </a:pPr>
            <a:r>
              <a:rPr lang="fr-FR" b="1" dirty="0" err="1" smtClean="0"/>
              <a:t>com.example.payment</a:t>
            </a:r>
            <a:r>
              <a:rPr lang="fr-FR" b="1" dirty="0" smtClean="0"/>
              <a:t>/</a:t>
            </a:r>
            <a:r>
              <a:rPr lang="fr-FR" b="1" dirty="0" err="1" smtClean="0"/>
              <a:t>com.example.payment.Main</a:t>
            </a:r>
            <a:r>
              <a:rPr lang="fr-FR" dirty="0" smtClean="0"/>
              <a:t> </a:t>
            </a:r>
            <a:r>
              <a:rPr lang="fr-FR" dirty="0"/>
              <a:t>: Le module et la classe principale à exécuter.</a:t>
            </a:r>
            <a:endParaRPr lang="fr-FR" dirty="0" smtClean="0"/>
          </a:p>
          <a:p>
            <a:pPr>
              <a:lnSpc>
                <a:spcPct val="150000"/>
              </a:lnSpc>
              <a:buFont typeface="Wingdings" panose="05000000000000000000" pitchFamily="2" charset="2"/>
              <a:buChar char="Ø"/>
            </a:pPr>
            <a:endParaRPr lang="fr-FR" dirty="0"/>
          </a:p>
        </p:txBody>
      </p:sp>
      <p:pic>
        <p:nvPicPr>
          <p:cNvPr id="4" name="Image 3"/>
          <p:cNvPicPr>
            <a:picLocks noChangeAspect="1"/>
          </p:cNvPicPr>
          <p:nvPr/>
        </p:nvPicPr>
        <p:blipFill>
          <a:blip r:embed="rId2"/>
          <a:stretch>
            <a:fillRect/>
          </a:stretch>
        </p:blipFill>
        <p:spPr>
          <a:xfrm>
            <a:off x="1230630" y="3475147"/>
            <a:ext cx="9791700" cy="764534"/>
          </a:xfrm>
          <a:prstGeom prst="rect">
            <a:avLst/>
          </a:prstGeom>
        </p:spPr>
      </p:pic>
    </p:spTree>
    <p:extLst>
      <p:ext uri="{BB962C8B-B14F-4D97-AF65-F5344CB8AC3E}">
        <p14:creationId xmlns:p14="http://schemas.microsoft.com/office/powerpoint/2010/main" val="3454047469"/>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a:t>Résolution des dépendances au </a:t>
            </a:r>
            <a:r>
              <a:rPr lang="fr-FR" dirty="0" err="1"/>
              <a:t>runtime</a:t>
            </a:r>
            <a:endParaRPr lang="fr-FR"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Le module loader utilise le fichier </a:t>
            </a:r>
            <a:r>
              <a:rPr lang="fr-FR" sz="3200" b="1" dirty="0" err="1"/>
              <a:t>module-info.class</a:t>
            </a:r>
            <a:r>
              <a:rPr lang="fr-FR" sz="3200" dirty="0"/>
              <a:t> pour construire le graphe de dépendance et charger les modules nécessaires.</a:t>
            </a:r>
          </a:p>
        </p:txBody>
      </p:sp>
    </p:spTree>
    <p:extLst>
      <p:ext uri="{BB962C8B-B14F-4D97-AF65-F5344CB8AC3E}">
        <p14:creationId xmlns:p14="http://schemas.microsoft.com/office/powerpoint/2010/main" val="1689972751"/>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dirty="0" smtClean="0"/>
              <a:t>Exécution </a:t>
            </a:r>
            <a:r>
              <a:rPr lang="fr-FR" dirty="0"/>
              <a:t>en mode modulaire</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3200" dirty="0"/>
              <a:t> L’exécution respecte les règles de modularité (encapsulation, accès restreint, etc</a:t>
            </a:r>
            <a:r>
              <a:rPr lang="fr-FR" sz="3200" dirty="0" smtClean="0"/>
              <a:t>.).</a:t>
            </a:r>
          </a:p>
          <a:p>
            <a:pPr algn="just">
              <a:lnSpc>
                <a:spcPct val="150000"/>
              </a:lnSpc>
              <a:buFont typeface="Wingdings" panose="05000000000000000000" pitchFamily="2" charset="2"/>
              <a:buChar char="Ø"/>
            </a:pPr>
            <a:r>
              <a:rPr lang="fr-FR" sz="3200" dirty="0"/>
              <a:t> </a:t>
            </a:r>
            <a:r>
              <a:rPr lang="fr-FR" sz="3200" dirty="0" smtClean="0"/>
              <a:t>Les </a:t>
            </a:r>
            <a:r>
              <a:rPr lang="fr-FR" sz="3200" dirty="0"/>
              <a:t>modules qui ne respectent pas les règles, comme une dépendance non résolue ou l’accès à un package non exporté, provoquent des erreurs.</a:t>
            </a:r>
          </a:p>
        </p:txBody>
      </p:sp>
    </p:spTree>
    <p:extLst>
      <p:ext uri="{BB962C8B-B14F-4D97-AF65-F5344CB8AC3E}">
        <p14:creationId xmlns:p14="http://schemas.microsoft.com/office/powerpoint/2010/main" val="1912202526"/>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Packaging et Exécution des Modules</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a:t>
            </a:r>
            <a:r>
              <a:rPr lang="fr-FR" b="1" dirty="0"/>
              <a:t>Compilation</a:t>
            </a:r>
            <a:r>
              <a:rPr lang="fr-FR" dirty="0"/>
              <a:t> </a:t>
            </a:r>
            <a:r>
              <a:rPr lang="fr-FR" dirty="0" smtClean="0"/>
              <a:t>:</a:t>
            </a:r>
          </a:p>
          <a:p>
            <a:pPr>
              <a:buFont typeface="Wingdings" panose="05000000000000000000" pitchFamily="2" charset="2"/>
              <a:buChar char="Ø"/>
            </a:pPr>
            <a:endParaRPr lang="fr-FR" dirty="0"/>
          </a:p>
          <a:p>
            <a:pPr>
              <a:buFont typeface="Wingdings" panose="05000000000000000000" pitchFamily="2" charset="2"/>
              <a:buChar char="Ø"/>
            </a:pPr>
            <a:endParaRPr lang="fr-FR" dirty="0" smtClean="0"/>
          </a:p>
          <a:p>
            <a:pPr>
              <a:buFont typeface="Wingdings" panose="05000000000000000000" pitchFamily="2" charset="2"/>
              <a:buChar char="Ø"/>
            </a:pPr>
            <a:r>
              <a:rPr lang="fr-FR" b="1" dirty="0"/>
              <a:t> Exécution </a:t>
            </a:r>
            <a:r>
              <a:rPr lang="fr-FR" b="1" dirty="0" smtClean="0"/>
              <a:t>:</a:t>
            </a:r>
          </a:p>
          <a:p>
            <a:pPr>
              <a:buFont typeface="Wingdings" panose="05000000000000000000" pitchFamily="2" charset="2"/>
              <a:buChar char="Ø"/>
            </a:pPr>
            <a:endParaRPr lang="fr-FR" b="1" dirty="0"/>
          </a:p>
          <a:p>
            <a:pPr>
              <a:buFont typeface="Wingdings" panose="05000000000000000000" pitchFamily="2" charset="2"/>
              <a:buChar char="Ø"/>
            </a:pPr>
            <a:endParaRPr lang="fr-FR" b="1" dirty="0" smtClean="0"/>
          </a:p>
          <a:p>
            <a:pPr>
              <a:buFont typeface="Wingdings" panose="05000000000000000000" pitchFamily="2" charset="2"/>
              <a:buChar char="Ø"/>
            </a:pPr>
            <a:r>
              <a:rPr lang="fr-FR" b="1" dirty="0"/>
              <a:t> Création d’un JAR modulaire</a:t>
            </a:r>
            <a:r>
              <a:rPr lang="fr-FR" dirty="0"/>
              <a:t> </a:t>
            </a:r>
            <a:r>
              <a:rPr lang="fr-FR" dirty="0" smtClean="0"/>
              <a:t>:</a:t>
            </a:r>
            <a:endParaRPr lang="fr-FR" b="1" dirty="0"/>
          </a:p>
        </p:txBody>
      </p:sp>
      <p:pic>
        <p:nvPicPr>
          <p:cNvPr id="5" name="Image 4"/>
          <p:cNvPicPr>
            <a:picLocks noChangeAspect="1"/>
          </p:cNvPicPr>
          <p:nvPr/>
        </p:nvPicPr>
        <p:blipFill>
          <a:blip r:embed="rId2"/>
          <a:stretch>
            <a:fillRect/>
          </a:stretch>
        </p:blipFill>
        <p:spPr>
          <a:xfrm>
            <a:off x="3589867" y="1845734"/>
            <a:ext cx="5710237" cy="11348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Image 7"/>
          <p:cNvPicPr>
            <a:picLocks noChangeAspect="1"/>
          </p:cNvPicPr>
          <p:nvPr/>
        </p:nvPicPr>
        <p:blipFill>
          <a:blip r:embed="rId3"/>
          <a:stretch>
            <a:fillRect/>
          </a:stretch>
        </p:blipFill>
        <p:spPr>
          <a:xfrm>
            <a:off x="3589867" y="3243262"/>
            <a:ext cx="5982503" cy="7699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Image 8"/>
          <p:cNvPicPr>
            <a:picLocks noChangeAspect="1"/>
          </p:cNvPicPr>
          <p:nvPr/>
        </p:nvPicPr>
        <p:blipFill>
          <a:blip r:embed="rId4"/>
          <a:stretch>
            <a:fillRect/>
          </a:stretch>
        </p:blipFill>
        <p:spPr>
          <a:xfrm>
            <a:off x="3433762" y="5258328"/>
            <a:ext cx="6543675" cy="719140"/>
          </a:xfrm>
          <a:prstGeom prst="rect">
            <a:avLst/>
          </a:prstGeom>
        </p:spPr>
      </p:pic>
    </p:spTree>
    <p:extLst>
      <p:ext uri="{BB962C8B-B14F-4D97-AF65-F5344CB8AC3E}">
        <p14:creationId xmlns:p14="http://schemas.microsoft.com/office/powerpoint/2010/main" val="4119601773"/>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Conclusion</a:t>
            </a:r>
            <a:endParaRPr lang="fr-FR" b="1" dirty="0"/>
          </a:p>
        </p:txBody>
      </p:sp>
      <p:sp>
        <p:nvSpPr>
          <p:cNvPr id="3" name="Espace réservé du contenu 2"/>
          <p:cNvSpPr>
            <a:spLocks noGrp="1"/>
          </p:cNvSpPr>
          <p:nvPr>
            <p:ph idx="1"/>
          </p:nvPr>
        </p:nvSpPr>
        <p:spPr>
          <a:xfrm>
            <a:off x="1097280" y="1845734"/>
            <a:ext cx="10058400" cy="4023360"/>
          </a:xfrm>
        </p:spPr>
        <p:txBody>
          <a:bodyPr>
            <a:normAutofit/>
          </a:bodyPr>
          <a:lstStyle/>
          <a:p>
            <a:pPr algn="just">
              <a:lnSpc>
                <a:spcPct val="150000"/>
              </a:lnSpc>
              <a:buFont typeface="Wingdings" panose="05000000000000000000" pitchFamily="2" charset="2"/>
              <a:buChar char="Ø"/>
            </a:pPr>
            <a:r>
              <a:rPr lang="fr-FR" sz="2800" dirty="0"/>
              <a:t> Le </a:t>
            </a:r>
            <a:r>
              <a:rPr lang="fr-FR" sz="2800" b="1" dirty="0"/>
              <a:t>packaging</a:t>
            </a:r>
            <a:r>
              <a:rPr lang="fr-FR" sz="2800" dirty="0"/>
              <a:t> regroupe les modules de manière organisée et portable (via JAR modulaire), tandis que l’</a:t>
            </a:r>
            <a:r>
              <a:rPr lang="fr-FR" sz="2800" b="1" dirty="0"/>
              <a:t>exécution</a:t>
            </a:r>
            <a:r>
              <a:rPr lang="fr-FR" sz="2800" dirty="0"/>
              <a:t> garantit que seuls les modules nécessaires sont chargés et que leurs règles d’encapsulation sont respectées. Ensemble, ils rendent le développement, le déploiement et la maintenance des applications Java plus robustes et modulaires.</a:t>
            </a:r>
          </a:p>
        </p:txBody>
      </p:sp>
    </p:spTree>
    <p:extLst>
      <p:ext uri="{BB962C8B-B14F-4D97-AF65-F5344CB8AC3E}">
        <p14:creationId xmlns:p14="http://schemas.microsoft.com/office/powerpoint/2010/main" val="1143845570"/>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Encapsulation Forte et </a:t>
            </a:r>
            <a:r>
              <a:rPr lang="fr-FR" b="1" dirty="0" smtClean="0"/>
              <a:t>Accessibilité</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2800" dirty="0" smtClean="0"/>
              <a:t> </a:t>
            </a:r>
            <a:r>
              <a:rPr lang="fr-FR" sz="2800" b="1" dirty="0"/>
              <a:t>Encapsulation Forte</a:t>
            </a:r>
            <a:r>
              <a:rPr lang="fr-FR" sz="2800" dirty="0"/>
              <a:t> </a:t>
            </a:r>
            <a:r>
              <a:rPr lang="fr-FR" sz="2800" dirty="0" smtClean="0"/>
              <a:t>:</a:t>
            </a:r>
          </a:p>
          <a:p>
            <a:pPr lvl="1" algn="just">
              <a:lnSpc>
                <a:spcPct val="150000"/>
              </a:lnSpc>
              <a:buFont typeface="Wingdings" panose="05000000000000000000" pitchFamily="2" charset="2"/>
              <a:buChar char="Ø"/>
            </a:pPr>
            <a:r>
              <a:rPr lang="fr-FR" sz="2400" dirty="0"/>
              <a:t>Les modules n’exposent que les packages explicitement exportés</a:t>
            </a:r>
            <a:r>
              <a:rPr lang="fr-FR" sz="2400" dirty="0" smtClean="0"/>
              <a:t>.</a:t>
            </a:r>
          </a:p>
          <a:p>
            <a:pPr algn="just">
              <a:lnSpc>
                <a:spcPct val="150000"/>
              </a:lnSpc>
              <a:buFont typeface="Wingdings" panose="05000000000000000000" pitchFamily="2" charset="2"/>
              <a:buChar char="Ø"/>
            </a:pPr>
            <a:r>
              <a:rPr lang="fr-FR" sz="2800" b="1" dirty="0"/>
              <a:t>Exemple</a:t>
            </a:r>
            <a:r>
              <a:rPr lang="fr-FR" sz="2800" dirty="0"/>
              <a:t> </a:t>
            </a:r>
            <a:r>
              <a:rPr lang="fr-FR" sz="2800" dirty="0" smtClean="0"/>
              <a:t>:</a:t>
            </a:r>
          </a:p>
          <a:p>
            <a:pPr lvl="1" algn="just">
              <a:lnSpc>
                <a:spcPct val="150000"/>
              </a:lnSpc>
              <a:buFont typeface="Wingdings" panose="05000000000000000000" pitchFamily="2" charset="2"/>
              <a:buChar char="Ø"/>
            </a:pPr>
            <a:r>
              <a:rPr lang="fr-FR" sz="2400" dirty="0"/>
              <a:t> Un module avec des packages internes non accessibles.</a:t>
            </a:r>
          </a:p>
        </p:txBody>
      </p:sp>
      <p:pic>
        <p:nvPicPr>
          <p:cNvPr id="4" name="Image 3"/>
          <p:cNvPicPr>
            <a:picLocks noChangeAspect="1"/>
          </p:cNvPicPr>
          <p:nvPr/>
        </p:nvPicPr>
        <p:blipFill>
          <a:blip r:embed="rId2"/>
          <a:stretch>
            <a:fillRect/>
          </a:stretch>
        </p:blipFill>
        <p:spPr>
          <a:xfrm>
            <a:off x="3301999" y="4500882"/>
            <a:ext cx="7281333" cy="1476586"/>
          </a:xfrm>
          <a:prstGeom prst="rect">
            <a:avLst/>
          </a:prstGeom>
        </p:spPr>
      </p:pic>
    </p:spTree>
    <p:extLst>
      <p:ext uri="{BB962C8B-B14F-4D97-AF65-F5344CB8AC3E}">
        <p14:creationId xmlns:p14="http://schemas.microsoft.com/office/powerpoint/2010/main" val="4253341536"/>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Evolution</a:t>
            </a:r>
            <a:endParaRPr lang="fr-FR" b="1" dirty="0"/>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Java a connu des évolutions importantes depuis Java 9 avec l’introduction du système de modules (Project </a:t>
            </a:r>
            <a:r>
              <a:rPr lang="fr-FR" sz="3200" dirty="0" err="1"/>
              <a:t>Jigsaw</a:t>
            </a:r>
            <a:r>
              <a:rPr lang="fr-FR" sz="3200" dirty="0"/>
              <a:t>). Voici un récapitulatif des principales évolutions liées au système de modules et aux autres fonctionnalités pertinentes, jusqu’à Java 23 :</a:t>
            </a:r>
          </a:p>
        </p:txBody>
      </p:sp>
    </p:spTree>
    <p:extLst>
      <p:ext uri="{BB962C8B-B14F-4D97-AF65-F5344CB8AC3E}">
        <p14:creationId xmlns:p14="http://schemas.microsoft.com/office/powerpoint/2010/main" val="205904349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9 (2017)</a:t>
            </a:r>
          </a:p>
        </p:txBody>
      </p:sp>
      <p:sp>
        <p:nvSpPr>
          <p:cNvPr id="3" name="Espace réservé du contenu 2"/>
          <p:cNvSpPr>
            <a:spLocks noGrp="1"/>
          </p:cNvSpPr>
          <p:nvPr>
            <p:ph idx="1"/>
          </p:nvPr>
        </p:nvSpPr>
        <p:spPr/>
        <p:txBody>
          <a:bodyPr>
            <a:noAutofit/>
          </a:bodyPr>
          <a:lstStyle/>
          <a:p>
            <a:pPr marL="457200" indent="-457200" algn="just">
              <a:buFont typeface="+mj-lt"/>
              <a:buAutoNum type="arabicPeriod"/>
            </a:pPr>
            <a:r>
              <a:rPr lang="fr-FR" sz="2800" dirty="0" smtClean="0"/>
              <a:t> </a:t>
            </a:r>
            <a:r>
              <a:rPr lang="fr-FR" sz="2800" b="1" dirty="0"/>
              <a:t>Système de Modules Java (</a:t>
            </a:r>
            <a:r>
              <a:rPr lang="fr-FR" sz="2800" b="1" dirty="0" err="1"/>
              <a:t>Jigsaw</a:t>
            </a:r>
            <a:r>
              <a:rPr lang="fr-FR" sz="2800" b="1" dirty="0"/>
              <a:t>)</a:t>
            </a:r>
            <a:endParaRPr lang="fr-FR" sz="2800" dirty="0"/>
          </a:p>
          <a:p>
            <a:pPr marL="749808" lvl="1" indent="-457200" algn="just">
              <a:buFont typeface="Wingdings" panose="05000000000000000000" pitchFamily="2" charset="2"/>
              <a:buChar char="Ø"/>
            </a:pPr>
            <a:r>
              <a:rPr lang="fr-FR" sz="2400" dirty="0"/>
              <a:t>Nouvelle structure : </a:t>
            </a:r>
            <a:r>
              <a:rPr lang="fr-FR" sz="2400" dirty="0" smtClean="0"/>
              <a:t>module-info.java</a:t>
            </a:r>
          </a:p>
          <a:p>
            <a:pPr marL="932688" lvl="2" indent="-457200" algn="just">
              <a:buFont typeface="Wingdings" panose="05000000000000000000" pitchFamily="2" charset="2"/>
              <a:buChar char="Ø"/>
            </a:pPr>
            <a:r>
              <a:rPr lang="fr-FR" sz="1800" dirty="0"/>
              <a:t>Chaque module peut déclarer ses dépendances avec </a:t>
            </a:r>
            <a:r>
              <a:rPr lang="fr-FR" sz="1800" dirty="0" err="1"/>
              <a:t>requires</a:t>
            </a:r>
            <a:r>
              <a:rPr lang="fr-FR" sz="1800" dirty="0"/>
              <a:t>, exporter des packages avec exports, ou ouvrir des packages avec opens</a:t>
            </a:r>
            <a:r>
              <a:rPr lang="fr-FR" sz="1800" dirty="0" smtClean="0"/>
              <a:t>.</a:t>
            </a:r>
          </a:p>
          <a:p>
            <a:pPr marL="932688" lvl="2" indent="-457200" algn="just">
              <a:buFont typeface="Wingdings" panose="05000000000000000000" pitchFamily="2" charset="2"/>
              <a:buChar char="Ø"/>
            </a:pPr>
            <a:r>
              <a:rPr lang="fr-FR" sz="1800" dirty="0"/>
              <a:t>Amélioration de la modularité, réduisant les dépendances inutiles grâce à un découplage clair.</a:t>
            </a:r>
          </a:p>
          <a:p>
            <a:pPr marL="457200" indent="-457200" algn="just">
              <a:buFont typeface="+mj-lt"/>
              <a:buAutoNum type="arabicPeriod"/>
            </a:pPr>
            <a:r>
              <a:rPr lang="fr-FR" sz="2800" b="1" dirty="0"/>
              <a:t>JVM </a:t>
            </a:r>
            <a:r>
              <a:rPr lang="fr-FR" sz="2800" b="1" dirty="0" smtClean="0"/>
              <a:t>modulaire</a:t>
            </a:r>
          </a:p>
          <a:p>
            <a:pPr marL="749808" lvl="1" indent="-457200" algn="just">
              <a:buFont typeface="Wingdings" panose="05000000000000000000" pitchFamily="2" charset="2"/>
              <a:buChar char="Ø"/>
            </a:pPr>
            <a:r>
              <a:rPr lang="fr-FR" sz="2400" dirty="0"/>
              <a:t>Les modules Java SE sont divisés en 28 modules, comme </a:t>
            </a:r>
            <a:r>
              <a:rPr lang="fr-FR" sz="2400" dirty="0" err="1"/>
              <a:t>java.base</a:t>
            </a:r>
            <a:r>
              <a:rPr lang="fr-FR" sz="2400" dirty="0"/>
              <a:t> (inclus par défaut), </a:t>
            </a:r>
            <a:r>
              <a:rPr lang="fr-FR" sz="2400" dirty="0" err="1"/>
              <a:t>java.sql</a:t>
            </a:r>
            <a:r>
              <a:rPr lang="fr-FR" sz="2400" dirty="0"/>
              <a:t>, java.xml</a:t>
            </a:r>
            <a:r>
              <a:rPr lang="fr-FR" sz="2400" dirty="0" smtClean="0"/>
              <a:t>.</a:t>
            </a:r>
          </a:p>
          <a:p>
            <a:pPr marL="457200" indent="-457200" algn="just">
              <a:buFont typeface="+mj-lt"/>
              <a:buAutoNum type="arabicPeriod"/>
            </a:pPr>
            <a:r>
              <a:rPr lang="fr-FR" sz="2800" b="1" dirty="0" err="1" smtClean="0"/>
              <a:t>Jlink</a:t>
            </a:r>
            <a:endParaRPr lang="fr-FR" sz="2800" b="1" dirty="0" smtClean="0"/>
          </a:p>
          <a:p>
            <a:pPr marL="749808" lvl="1" indent="-457200" algn="just">
              <a:buFont typeface="Wingdings" panose="05000000000000000000" pitchFamily="2" charset="2"/>
              <a:buChar char="Ø"/>
            </a:pPr>
            <a:r>
              <a:rPr lang="fr-FR" sz="2400" dirty="0"/>
              <a:t>Génération d'une image </a:t>
            </a:r>
            <a:r>
              <a:rPr lang="fr-FR" sz="2400" dirty="0" err="1"/>
              <a:t>runtime</a:t>
            </a:r>
            <a:r>
              <a:rPr lang="fr-FR" sz="2400" dirty="0"/>
              <a:t> personnalisée contenant uniquement les modules nécessaires pour une application.</a:t>
            </a:r>
          </a:p>
        </p:txBody>
      </p:sp>
    </p:spTree>
    <p:extLst>
      <p:ext uri="{BB962C8B-B14F-4D97-AF65-F5344CB8AC3E}">
        <p14:creationId xmlns:p14="http://schemas.microsoft.com/office/powerpoint/2010/main" val="145112675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10 (2018)</a:t>
            </a:r>
          </a:p>
        </p:txBody>
      </p:sp>
      <p:sp>
        <p:nvSpPr>
          <p:cNvPr id="3" name="Espace réservé du contenu 2"/>
          <p:cNvSpPr>
            <a:spLocks noGrp="1"/>
          </p:cNvSpPr>
          <p:nvPr>
            <p:ph idx="1"/>
          </p:nvPr>
        </p:nvSpPr>
        <p:spPr/>
        <p:txBody>
          <a:bodyPr>
            <a:noAutofit/>
          </a:bodyPr>
          <a:lstStyle/>
          <a:p>
            <a:pPr algn="just">
              <a:lnSpc>
                <a:spcPct val="200000"/>
              </a:lnSpc>
              <a:buFont typeface="Wingdings" panose="05000000000000000000" pitchFamily="2" charset="2"/>
              <a:buChar char="Ø"/>
            </a:pPr>
            <a:r>
              <a:rPr lang="fr-FR" sz="3200" dirty="0"/>
              <a:t> Pas de changement spécifique pour le système de modules</a:t>
            </a:r>
            <a:r>
              <a:rPr lang="fr-FR" sz="3200" dirty="0" smtClean="0"/>
              <a:t>.</a:t>
            </a:r>
          </a:p>
          <a:p>
            <a:pPr algn="just">
              <a:lnSpc>
                <a:spcPct val="200000"/>
              </a:lnSpc>
              <a:buFont typeface="Wingdings" panose="05000000000000000000" pitchFamily="2" charset="2"/>
              <a:buChar char="Ø"/>
            </a:pPr>
            <a:r>
              <a:rPr lang="fr-FR" sz="3200" dirty="0"/>
              <a:t> Introduction de la déclaration avec var, qui facilite le typage local, y compris pour les modules.</a:t>
            </a:r>
          </a:p>
        </p:txBody>
      </p:sp>
    </p:spTree>
    <p:extLst>
      <p:ext uri="{BB962C8B-B14F-4D97-AF65-F5344CB8AC3E}">
        <p14:creationId xmlns:p14="http://schemas.microsoft.com/office/powerpoint/2010/main" val="6672551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11 (2018)</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Stabilisation des fonctionnalités introduites avec Java 9</a:t>
            </a:r>
            <a:r>
              <a:rPr lang="fr-FR" sz="3200" dirty="0" smtClean="0"/>
              <a:t>.</a:t>
            </a:r>
          </a:p>
          <a:p>
            <a:pPr algn="just">
              <a:lnSpc>
                <a:spcPct val="150000"/>
              </a:lnSpc>
              <a:buFont typeface="Wingdings" panose="05000000000000000000" pitchFamily="2" charset="2"/>
              <a:buChar char="Ø"/>
            </a:pPr>
            <a:r>
              <a:rPr lang="fr-FR" sz="3200" dirty="0"/>
              <a:t> Suppression de modules obsolètes :</a:t>
            </a:r>
          </a:p>
          <a:p>
            <a:pPr lvl="1" algn="just">
              <a:lnSpc>
                <a:spcPct val="150000"/>
              </a:lnSpc>
              <a:buFont typeface="Wingdings" panose="05000000000000000000" pitchFamily="2" charset="2"/>
              <a:buChar char="Ø"/>
            </a:pPr>
            <a:r>
              <a:rPr lang="fr-FR" sz="2800" dirty="0"/>
              <a:t> Java EE Modules retirés : </a:t>
            </a:r>
            <a:r>
              <a:rPr lang="fr-FR" sz="2800" b="1" dirty="0"/>
              <a:t>java.xml.ws</a:t>
            </a:r>
            <a:r>
              <a:rPr lang="fr-FR" sz="2800" dirty="0"/>
              <a:t>, </a:t>
            </a:r>
            <a:r>
              <a:rPr lang="fr-FR" sz="2800" b="1" dirty="0" err="1"/>
              <a:t>java.activation</a:t>
            </a:r>
            <a:r>
              <a:rPr lang="fr-FR" sz="2800" dirty="0"/>
              <a:t>, </a:t>
            </a:r>
            <a:r>
              <a:rPr lang="fr-FR" sz="2800" b="1" dirty="0" err="1"/>
              <a:t>java.corba</a:t>
            </a:r>
            <a:r>
              <a:rPr lang="fr-FR" sz="2800" dirty="0"/>
              <a:t>.</a:t>
            </a:r>
          </a:p>
        </p:txBody>
      </p:sp>
    </p:spTree>
    <p:extLst>
      <p:ext uri="{BB962C8B-B14F-4D97-AF65-F5344CB8AC3E}">
        <p14:creationId xmlns:p14="http://schemas.microsoft.com/office/powerpoint/2010/main" val="426397167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12 (2019</a:t>
            </a:r>
            <a:r>
              <a:rPr lang="fr-FR" b="1" dirty="0" smtClean="0"/>
              <a:t>)</a:t>
            </a:r>
            <a:endParaRPr lang="fr-FR" dirty="0"/>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FR" sz="3200" dirty="0"/>
              <a:t> Pas d’évolutions majeures pour le système de modules.</a:t>
            </a:r>
          </a:p>
          <a:p>
            <a:pPr>
              <a:buFont typeface="Wingdings" panose="05000000000000000000" pitchFamily="2" charset="2"/>
              <a:buChar char="Ø"/>
            </a:pPr>
            <a:endParaRPr lang="fr-FR" sz="3200" dirty="0"/>
          </a:p>
        </p:txBody>
      </p:sp>
    </p:spTree>
    <p:extLst>
      <p:ext uri="{BB962C8B-B14F-4D97-AF65-F5344CB8AC3E}">
        <p14:creationId xmlns:p14="http://schemas.microsoft.com/office/powerpoint/2010/main" val="247572898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13 (2019)</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600" dirty="0"/>
              <a:t> Améliorations générales mais pas d’ajouts spécifiques aux modules.</a:t>
            </a:r>
          </a:p>
        </p:txBody>
      </p:sp>
    </p:spTree>
    <p:extLst>
      <p:ext uri="{BB962C8B-B14F-4D97-AF65-F5344CB8AC3E}">
        <p14:creationId xmlns:p14="http://schemas.microsoft.com/office/powerpoint/2010/main" val="72270810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14 (2020)</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200" dirty="0"/>
              <a:t> Intégration des </a:t>
            </a:r>
            <a:r>
              <a:rPr lang="fr-FR" sz="3200" b="1" dirty="0"/>
              <a:t>API pour analyser les modules dynamiquement</a:t>
            </a:r>
            <a:r>
              <a:rPr lang="fr-FR" sz="3200" dirty="0" smtClean="0"/>
              <a:t>.</a:t>
            </a:r>
          </a:p>
          <a:p>
            <a:pPr lvl="1" algn="just">
              <a:lnSpc>
                <a:spcPct val="150000"/>
              </a:lnSpc>
              <a:buFont typeface="Wingdings" panose="05000000000000000000" pitchFamily="2" charset="2"/>
              <a:buChar char="Ø"/>
            </a:pPr>
            <a:r>
              <a:rPr lang="fr-FR" sz="2800" dirty="0"/>
              <a:t> Exemple : utilisation de </a:t>
            </a:r>
            <a:r>
              <a:rPr lang="fr-FR" sz="2800" b="1" dirty="0" err="1"/>
              <a:t>ModuleDescriptor</a:t>
            </a:r>
            <a:r>
              <a:rPr lang="fr-FR" sz="2800" dirty="0"/>
              <a:t> pour accéder aux métadonnées</a:t>
            </a:r>
            <a:r>
              <a:rPr lang="fr-FR" sz="2800" dirty="0" smtClean="0"/>
              <a:t>. r</a:t>
            </a:r>
            <a:r>
              <a:rPr lang="fr-FR" sz="2800" dirty="0"/>
              <a:t/>
            </a:r>
            <a:br>
              <a:rPr lang="fr-FR" sz="2800" dirty="0"/>
            </a:br>
            <a:endParaRPr lang="fr-FR" sz="2800" dirty="0"/>
          </a:p>
        </p:txBody>
      </p:sp>
      <p:pic>
        <p:nvPicPr>
          <p:cNvPr id="31" name="Image 30"/>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2438400" y="4967393"/>
            <a:ext cx="7315199" cy="12132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4267000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15 (2020)</a:t>
            </a:r>
          </a:p>
        </p:txBody>
      </p:sp>
      <p:sp>
        <p:nvSpPr>
          <p:cNvPr id="3" name="Espace réservé du contenu 2"/>
          <p:cNvSpPr>
            <a:spLocks noGrp="1"/>
          </p:cNvSpPr>
          <p:nvPr>
            <p:ph idx="1"/>
          </p:nvPr>
        </p:nvSpPr>
        <p:spPr/>
        <p:txBody>
          <a:bodyPr>
            <a:normAutofit/>
          </a:bodyPr>
          <a:lstStyle/>
          <a:p>
            <a:pPr algn="just">
              <a:buFont typeface="Wingdings" panose="05000000000000000000" pitchFamily="2" charset="2"/>
              <a:buChar char="Ø"/>
            </a:pPr>
            <a:r>
              <a:rPr lang="fr-FR" sz="3200" dirty="0" smtClean="0"/>
              <a:t> </a:t>
            </a:r>
            <a:r>
              <a:rPr lang="fr-FR" sz="3200" dirty="0"/>
              <a:t>Suppression du support des modules </a:t>
            </a:r>
            <a:r>
              <a:rPr lang="fr-FR" sz="3200" dirty="0" err="1"/>
              <a:t>Nashorn</a:t>
            </a:r>
            <a:r>
              <a:rPr lang="fr-FR" sz="3200" dirty="0"/>
              <a:t> JavaScript.</a:t>
            </a:r>
          </a:p>
          <a:p>
            <a:pPr>
              <a:buFont typeface="Wingdings" panose="05000000000000000000" pitchFamily="2" charset="2"/>
              <a:buChar char="Ø"/>
            </a:pPr>
            <a:endParaRPr lang="fr-FR" sz="3200" dirty="0"/>
          </a:p>
        </p:txBody>
      </p:sp>
    </p:spTree>
    <p:extLst>
      <p:ext uri="{BB962C8B-B14F-4D97-AF65-F5344CB8AC3E}">
        <p14:creationId xmlns:p14="http://schemas.microsoft.com/office/powerpoint/2010/main" val="327602346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16 (2021)</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3600" dirty="0" smtClean="0"/>
              <a:t> </a:t>
            </a:r>
            <a:r>
              <a:rPr lang="fr-FR" sz="3600" b="1" dirty="0"/>
              <a:t>Encapsulation stricte des classes internes JDK</a:t>
            </a:r>
            <a:r>
              <a:rPr lang="fr-FR" sz="3600" dirty="0"/>
              <a:t> </a:t>
            </a:r>
            <a:r>
              <a:rPr lang="fr-FR" sz="3600" dirty="0" smtClean="0"/>
              <a:t>:</a:t>
            </a:r>
          </a:p>
          <a:p>
            <a:pPr lvl="1" algn="just">
              <a:lnSpc>
                <a:spcPct val="150000"/>
              </a:lnSpc>
              <a:buFont typeface="Wingdings" panose="05000000000000000000" pitchFamily="2" charset="2"/>
              <a:buChar char="Ø"/>
            </a:pPr>
            <a:r>
              <a:rPr lang="fr-FR" sz="3200" dirty="0"/>
              <a:t> Les classes internes utilisées dans les modules du JDK sont désormais strictement encapsulées, réduisant les risques liés à leur exploitation abusive.</a:t>
            </a:r>
          </a:p>
        </p:txBody>
      </p:sp>
    </p:spTree>
    <p:extLst>
      <p:ext uri="{BB962C8B-B14F-4D97-AF65-F5344CB8AC3E}">
        <p14:creationId xmlns:p14="http://schemas.microsoft.com/office/powerpoint/2010/main" val="77556021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en-US" b="1" dirty="0"/>
              <a:t>Java 17 (2021) - LTS (Long-Term Support)</a:t>
            </a:r>
            <a:endParaRPr lang="fr-FR" b="1" dirty="0"/>
          </a:p>
        </p:txBody>
      </p:sp>
      <p:sp>
        <p:nvSpPr>
          <p:cNvPr id="3" name="Espace réservé du contenu 2"/>
          <p:cNvSpPr>
            <a:spLocks noGrp="1"/>
          </p:cNvSpPr>
          <p:nvPr>
            <p:ph idx="1"/>
          </p:nvPr>
        </p:nvSpPr>
        <p:spPr/>
        <p:txBody>
          <a:bodyPr>
            <a:normAutofit/>
          </a:bodyPr>
          <a:lstStyle/>
          <a:p>
            <a:pPr marL="457200" indent="-457200" algn="just">
              <a:lnSpc>
                <a:spcPct val="150000"/>
              </a:lnSpc>
              <a:buFont typeface="+mj-lt"/>
              <a:buAutoNum type="arabicPeriod"/>
            </a:pPr>
            <a:r>
              <a:rPr lang="fr-FR" sz="2800" dirty="0"/>
              <a:t> Amélioration des performances pour les modules</a:t>
            </a:r>
            <a:r>
              <a:rPr lang="fr-FR" sz="2800" dirty="0" smtClean="0"/>
              <a:t>.</a:t>
            </a:r>
          </a:p>
          <a:p>
            <a:pPr marL="457200" indent="-457200" algn="just">
              <a:lnSpc>
                <a:spcPct val="150000"/>
              </a:lnSpc>
              <a:buFont typeface="+mj-lt"/>
              <a:buAutoNum type="arabicPeriod"/>
            </a:pPr>
            <a:r>
              <a:rPr lang="fr-FR" sz="2800" dirty="0"/>
              <a:t>Stabilisation et renforcement de l’écosystème des modules dans le JDK</a:t>
            </a:r>
            <a:r>
              <a:rPr lang="fr-FR" sz="2800" dirty="0" smtClean="0"/>
              <a:t>.</a:t>
            </a:r>
          </a:p>
          <a:p>
            <a:pPr marL="457200" indent="-457200" algn="just">
              <a:lnSpc>
                <a:spcPct val="150000"/>
              </a:lnSpc>
              <a:buFont typeface="+mj-lt"/>
              <a:buAutoNum type="arabicPeriod"/>
            </a:pPr>
            <a:r>
              <a:rPr lang="fr-FR" sz="2800" dirty="0"/>
              <a:t>Développement accru des </a:t>
            </a:r>
            <a:r>
              <a:rPr lang="fr-FR" sz="2800" dirty="0" smtClean="0"/>
              <a:t>Framework </a:t>
            </a:r>
            <a:r>
              <a:rPr lang="fr-FR" sz="2800" dirty="0"/>
              <a:t>pour supporter les applications modulaires.</a:t>
            </a:r>
          </a:p>
          <a:p>
            <a:pPr marL="457200" indent="-457200" algn="just">
              <a:lnSpc>
                <a:spcPct val="150000"/>
              </a:lnSpc>
              <a:buFont typeface="+mj-lt"/>
              <a:buAutoNum type="arabicPeriod"/>
            </a:pPr>
            <a:endParaRPr lang="fr-FR" sz="2800" dirty="0"/>
          </a:p>
        </p:txBody>
      </p:sp>
    </p:spTree>
    <p:extLst>
      <p:ext uri="{BB962C8B-B14F-4D97-AF65-F5344CB8AC3E}">
        <p14:creationId xmlns:p14="http://schemas.microsoft.com/office/powerpoint/2010/main" val="318608511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18 (2022</a:t>
            </a:r>
            <a:r>
              <a:rPr lang="fr-FR" b="1" dirty="0" smtClean="0"/>
              <a:t>)</a:t>
            </a:r>
            <a:endParaRPr lang="fr-FR" dirty="0"/>
          </a:p>
        </p:txBody>
      </p:sp>
      <p:sp>
        <p:nvSpPr>
          <p:cNvPr id="3" name="Espace réservé du contenu 2"/>
          <p:cNvSpPr>
            <a:spLocks noGrp="1"/>
          </p:cNvSpPr>
          <p:nvPr>
            <p:ph idx="1"/>
          </p:nvPr>
        </p:nvSpPr>
        <p:spPr/>
        <p:txBody>
          <a:bodyPr>
            <a:normAutofit/>
          </a:bodyPr>
          <a:lstStyle/>
          <a:p>
            <a:pPr>
              <a:lnSpc>
                <a:spcPct val="200000"/>
              </a:lnSpc>
              <a:buFont typeface="Wingdings" panose="05000000000000000000" pitchFamily="2" charset="2"/>
              <a:buChar char="Ø"/>
            </a:pPr>
            <a:r>
              <a:rPr lang="fr-FR" sz="2800" dirty="0"/>
              <a:t> Renforcement des outils et API pour la gestion des modules</a:t>
            </a:r>
            <a:r>
              <a:rPr lang="fr-FR" sz="2800" dirty="0" smtClean="0"/>
              <a:t>.</a:t>
            </a:r>
          </a:p>
          <a:p>
            <a:pPr>
              <a:lnSpc>
                <a:spcPct val="200000"/>
              </a:lnSpc>
              <a:buFont typeface="Wingdings" panose="05000000000000000000" pitchFamily="2" charset="2"/>
              <a:buChar char="Ø"/>
            </a:pPr>
            <a:r>
              <a:rPr lang="fr-FR" sz="2800" dirty="0"/>
              <a:t> Pas de changement majeur.</a:t>
            </a:r>
          </a:p>
          <a:p>
            <a:pPr>
              <a:lnSpc>
                <a:spcPct val="200000"/>
              </a:lnSpc>
              <a:buFont typeface="Wingdings" panose="05000000000000000000" pitchFamily="2" charset="2"/>
              <a:buChar char="Ø"/>
            </a:pPr>
            <a:endParaRPr lang="fr-FR" sz="2800" dirty="0"/>
          </a:p>
        </p:txBody>
      </p:sp>
    </p:spTree>
    <p:extLst>
      <p:ext uri="{BB962C8B-B14F-4D97-AF65-F5344CB8AC3E}">
        <p14:creationId xmlns:p14="http://schemas.microsoft.com/office/powerpoint/2010/main" val="362995384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19 (2022)</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Introduction de fonctionnalités expérimentales avec Project </a:t>
            </a:r>
            <a:r>
              <a:rPr lang="fr-FR" sz="3200" b="1" dirty="0" err="1"/>
              <a:t>Loom</a:t>
            </a:r>
            <a:r>
              <a:rPr lang="fr-FR" sz="3200" dirty="0"/>
              <a:t>, comme les threads </a:t>
            </a:r>
            <a:r>
              <a:rPr lang="fr-FR" sz="3200" dirty="0" smtClean="0"/>
              <a:t>légers. Cela </a:t>
            </a:r>
            <a:r>
              <a:rPr lang="fr-FR" sz="3200" dirty="0"/>
              <a:t>permet d'exploiter les modules pour gérer des projets plus efficacement.</a:t>
            </a:r>
          </a:p>
        </p:txBody>
      </p:sp>
    </p:spTree>
    <p:extLst>
      <p:ext uri="{BB962C8B-B14F-4D97-AF65-F5344CB8AC3E}">
        <p14:creationId xmlns:p14="http://schemas.microsoft.com/office/powerpoint/2010/main" val="50845139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7280" y="394977"/>
            <a:ext cx="10058400" cy="1450757"/>
          </a:xfrm>
        </p:spPr>
        <p:txBody>
          <a:bodyPr anchor="ctr"/>
          <a:lstStyle/>
          <a:p>
            <a:pPr algn="ctr"/>
            <a:r>
              <a:rPr lang="fr-FR" b="1" dirty="0"/>
              <a:t>Java 20 (2023)</a:t>
            </a:r>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Focus sur des outils comme </a:t>
            </a:r>
            <a:r>
              <a:rPr lang="fr-FR" sz="3200" b="1" dirty="0" err="1"/>
              <a:t>jlink</a:t>
            </a:r>
            <a:r>
              <a:rPr lang="fr-FR" sz="3200" dirty="0"/>
              <a:t> pour des applications conteneurisées modulaires.</a:t>
            </a:r>
          </a:p>
        </p:txBody>
      </p:sp>
    </p:spTree>
    <p:extLst>
      <p:ext uri="{BB962C8B-B14F-4D97-AF65-F5344CB8AC3E}">
        <p14:creationId xmlns:p14="http://schemas.microsoft.com/office/powerpoint/2010/main" val="108986756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21 (2023) - LTS</a:t>
            </a:r>
          </a:p>
        </p:txBody>
      </p:sp>
      <p:sp>
        <p:nvSpPr>
          <p:cNvPr id="3" name="Espace réservé du contenu 2"/>
          <p:cNvSpPr>
            <a:spLocks noGrp="1"/>
          </p:cNvSpPr>
          <p:nvPr>
            <p:ph idx="1"/>
          </p:nvPr>
        </p:nvSpPr>
        <p:spPr/>
        <p:txBody>
          <a:bodyPr>
            <a:normAutofit/>
          </a:bodyPr>
          <a:lstStyle/>
          <a:p>
            <a:pPr marL="457200" indent="-457200" algn="just">
              <a:lnSpc>
                <a:spcPct val="150000"/>
              </a:lnSpc>
              <a:buFont typeface="+mj-lt"/>
              <a:buAutoNum type="arabicPeriod"/>
            </a:pPr>
            <a:r>
              <a:rPr lang="fr-FR" sz="2800" dirty="0" smtClean="0"/>
              <a:t> </a:t>
            </a:r>
            <a:r>
              <a:rPr lang="fr-FR" sz="2800" b="1" dirty="0"/>
              <a:t>Extensions du système de modules</a:t>
            </a:r>
            <a:r>
              <a:rPr lang="fr-FR" sz="2800" dirty="0"/>
              <a:t> :</a:t>
            </a:r>
          </a:p>
          <a:p>
            <a:pPr marL="749808" lvl="1" indent="-457200" algn="just">
              <a:lnSpc>
                <a:spcPct val="150000"/>
              </a:lnSpc>
              <a:buFont typeface="Wingdings" panose="05000000000000000000" pitchFamily="2" charset="2"/>
              <a:buChar char="Ø"/>
            </a:pPr>
            <a:r>
              <a:rPr lang="fr-FR" sz="2400" dirty="0"/>
              <a:t>Meilleur support des modules dynamiques</a:t>
            </a:r>
            <a:r>
              <a:rPr lang="fr-FR" sz="2400" dirty="0" smtClean="0"/>
              <a:t>.</a:t>
            </a:r>
          </a:p>
          <a:p>
            <a:pPr marL="457200" indent="-457200" algn="just">
              <a:lnSpc>
                <a:spcPct val="150000"/>
              </a:lnSpc>
              <a:buFont typeface="+mj-lt"/>
              <a:buAutoNum type="arabicPeriod"/>
            </a:pPr>
            <a:r>
              <a:rPr lang="fr-FR" sz="2800" b="1" dirty="0"/>
              <a:t>Project Panama</a:t>
            </a:r>
            <a:r>
              <a:rPr lang="fr-FR" sz="2800" dirty="0"/>
              <a:t> : Intégration des bibliothèques natives avec des modules optimisés.</a:t>
            </a:r>
          </a:p>
          <a:p>
            <a:pPr marL="457200" indent="-457200" algn="just">
              <a:lnSpc>
                <a:spcPct val="150000"/>
              </a:lnSpc>
              <a:buFont typeface="+mj-lt"/>
              <a:buAutoNum type="arabicPeriod"/>
            </a:pPr>
            <a:endParaRPr lang="fr-FR" sz="2800" dirty="0"/>
          </a:p>
        </p:txBody>
      </p:sp>
    </p:spTree>
    <p:extLst>
      <p:ext uri="{BB962C8B-B14F-4D97-AF65-F5344CB8AC3E}">
        <p14:creationId xmlns:p14="http://schemas.microsoft.com/office/powerpoint/2010/main" val="142190926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22 (2024</a:t>
            </a:r>
            <a:r>
              <a:rPr lang="fr-FR" b="1" dirty="0" smtClean="0"/>
              <a:t>)</a:t>
            </a:r>
            <a:endParaRPr lang="fr-FR" dirty="0"/>
          </a:p>
        </p:txBody>
      </p:sp>
      <p:sp>
        <p:nvSpPr>
          <p:cNvPr id="3" name="Espace réservé du contenu 2"/>
          <p:cNvSpPr>
            <a:spLocks noGrp="1"/>
          </p:cNvSpPr>
          <p:nvPr>
            <p:ph idx="1"/>
          </p:nvPr>
        </p:nvSpPr>
        <p:spPr/>
        <p:txBody>
          <a:bodyPr>
            <a:normAutofit/>
          </a:bodyPr>
          <a:lstStyle/>
          <a:p>
            <a:pPr algn="just">
              <a:lnSpc>
                <a:spcPct val="200000"/>
              </a:lnSpc>
              <a:buFont typeface="Wingdings" panose="05000000000000000000" pitchFamily="2" charset="2"/>
              <a:buChar char="Ø"/>
            </a:pPr>
            <a:r>
              <a:rPr lang="fr-FR" sz="3200" dirty="0"/>
              <a:t> Fonctionnalités supplémentaires pour </a:t>
            </a:r>
            <a:r>
              <a:rPr lang="fr-FR" sz="3200" b="1" dirty="0"/>
              <a:t>analyser et manipuler des modules à l'exécution</a:t>
            </a:r>
            <a:r>
              <a:rPr lang="fr-FR" sz="3200" dirty="0"/>
              <a:t>.</a:t>
            </a:r>
          </a:p>
          <a:p>
            <a:pPr algn="just">
              <a:lnSpc>
                <a:spcPct val="200000"/>
              </a:lnSpc>
              <a:buFont typeface="Wingdings" panose="05000000000000000000" pitchFamily="2" charset="2"/>
              <a:buChar char="Ø"/>
            </a:pPr>
            <a:endParaRPr lang="fr-FR" sz="3200" dirty="0"/>
          </a:p>
        </p:txBody>
      </p:sp>
    </p:spTree>
    <p:extLst>
      <p:ext uri="{BB962C8B-B14F-4D97-AF65-F5344CB8AC3E}">
        <p14:creationId xmlns:p14="http://schemas.microsoft.com/office/powerpoint/2010/main" val="294217804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Java 23 (2025</a:t>
            </a:r>
            <a:r>
              <a:rPr lang="fr-FR" b="1" dirty="0" smtClean="0"/>
              <a:t>)</a:t>
            </a:r>
            <a:endParaRPr lang="fr-FR" dirty="0"/>
          </a:p>
        </p:txBody>
      </p:sp>
      <p:sp>
        <p:nvSpPr>
          <p:cNvPr id="3" name="Espace réservé du contenu 2"/>
          <p:cNvSpPr>
            <a:spLocks noGrp="1"/>
          </p:cNvSpPr>
          <p:nvPr>
            <p:ph idx="1"/>
          </p:nvPr>
        </p:nvSpPr>
        <p:spPr/>
        <p:txBody>
          <a:bodyPr>
            <a:noAutofit/>
          </a:bodyPr>
          <a:lstStyle/>
          <a:p>
            <a:pPr marL="457200" indent="-457200" algn="just">
              <a:lnSpc>
                <a:spcPct val="150000"/>
              </a:lnSpc>
              <a:buFont typeface="+mj-lt"/>
              <a:buAutoNum type="arabicPeriod"/>
            </a:pPr>
            <a:r>
              <a:rPr lang="fr-FR" sz="2800" dirty="0" smtClean="0"/>
              <a:t> </a:t>
            </a:r>
            <a:r>
              <a:rPr lang="fr-FR" sz="2800" b="1" dirty="0"/>
              <a:t>Modules dynamiques à chaud</a:t>
            </a:r>
            <a:r>
              <a:rPr lang="fr-FR" sz="2800" dirty="0"/>
              <a:t> (Hot-</a:t>
            </a:r>
            <a:r>
              <a:rPr lang="fr-FR" sz="2800" dirty="0" err="1"/>
              <a:t>Swappable</a:t>
            </a:r>
            <a:r>
              <a:rPr lang="fr-FR" sz="2800" dirty="0"/>
              <a:t> Modules) :</a:t>
            </a:r>
          </a:p>
          <a:p>
            <a:pPr marL="749808" lvl="1" indent="-457200" algn="just">
              <a:lnSpc>
                <a:spcPct val="150000"/>
              </a:lnSpc>
              <a:buFont typeface="Wingdings" panose="05000000000000000000" pitchFamily="2" charset="2"/>
              <a:buChar char="Ø"/>
            </a:pPr>
            <a:r>
              <a:rPr lang="fr-FR" sz="2400" dirty="0"/>
              <a:t>Possibilité de charger/décharger des modules sans redémarrer la JVM</a:t>
            </a:r>
            <a:r>
              <a:rPr lang="fr-FR" sz="2400" dirty="0" smtClean="0"/>
              <a:t>.</a:t>
            </a:r>
          </a:p>
          <a:p>
            <a:pPr marL="749808" lvl="1" indent="-457200" algn="just">
              <a:lnSpc>
                <a:spcPct val="150000"/>
              </a:lnSpc>
              <a:buFont typeface="Wingdings" panose="05000000000000000000" pitchFamily="2" charset="2"/>
              <a:buChar char="Ø"/>
            </a:pPr>
            <a:r>
              <a:rPr lang="fr-FR" sz="2400" dirty="0"/>
              <a:t>Utile pour les applications critiques où les mises à jour à chaud sont essentielles</a:t>
            </a:r>
            <a:r>
              <a:rPr lang="fr-FR" sz="2400" dirty="0" smtClean="0"/>
              <a:t>.</a:t>
            </a:r>
          </a:p>
          <a:p>
            <a:pPr marL="457200" indent="-457200" algn="just">
              <a:lnSpc>
                <a:spcPct val="150000"/>
              </a:lnSpc>
              <a:buFont typeface="+mj-lt"/>
              <a:buAutoNum type="arabicPeriod"/>
            </a:pPr>
            <a:r>
              <a:rPr lang="fr-FR" sz="2800" b="1" dirty="0"/>
              <a:t>Support amélioré pour le cloud</a:t>
            </a:r>
            <a:r>
              <a:rPr lang="fr-FR" sz="2800" dirty="0"/>
              <a:t> :</a:t>
            </a:r>
          </a:p>
          <a:p>
            <a:pPr lvl="2" algn="just">
              <a:lnSpc>
                <a:spcPct val="150000"/>
              </a:lnSpc>
              <a:buFont typeface="Wingdings" panose="05000000000000000000" pitchFamily="2" charset="2"/>
              <a:buChar char="Ø"/>
            </a:pPr>
            <a:r>
              <a:rPr lang="fr-FR" sz="1800" dirty="0" smtClean="0"/>
              <a:t>  </a:t>
            </a:r>
            <a:r>
              <a:rPr lang="fr-FR" sz="2400" dirty="0"/>
              <a:t>Les modules sont optimisés pour des environnements conteneurisés et </a:t>
            </a:r>
            <a:r>
              <a:rPr lang="fr-FR" sz="2400" dirty="0" err="1"/>
              <a:t>scalables</a:t>
            </a:r>
            <a:r>
              <a:rPr lang="fr-FR" sz="2400" dirty="0"/>
              <a:t>.</a:t>
            </a:r>
          </a:p>
          <a:p>
            <a:pPr marL="749808" lvl="1" indent="-457200" algn="just">
              <a:lnSpc>
                <a:spcPct val="150000"/>
              </a:lnSpc>
              <a:buFont typeface="Wingdings" panose="05000000000000000000" pitchFamily="2" charset="2"/>
              <a:buChar char="Ø"/>
            </a:pPr>
            <a:endParaRPr lang="fr-FR" sz="2400" dirty="0"/>
          </a:p>
        </p:txBody>
      </p:sp>
    </p:spTree>
    <p:extLst>
      <p:ext uri="{BB962C8B-B14F-4D97-AF65-F5344CB8AC3E}">
        <p14:creationId xmlns:p14="http://schemas.microsoft.com/office/powerpoint/2010/main" val="300980052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b="1" dirty="0" smtClean="0"/>
              <a:t>Atelier 1</a:t>
            </a:r>
            <a:br>
              <a:rPr lang="fr-FR" b="1" dirty="0" smtClean="0"/>
            </a:br>
            <a:r>
              <a:rPr lang="fr-FR" b="1" dirty="0"/>
              <a:t>Création d'une application Java modulaire</a:t>
            </a:r>
          </a:p>
        </p:txBody>
      </p:sp>
      <p:sp>
        <p:nvSpPr>
          <p:cNvPr id="3" name="Espace réservé du contenu 2"/>
          <p:cNvSpPr>
            <a:spLocks noGrp="1"/>
          </p:cNvSpPr>
          <p:nvPr>
            <p:ph idx="1"/>
          </p:nvPr>
        </p:nvSpPr>
        <p:spPr/>
        <p:txBody>
          <a:bodyPr>
            <a:normAutofit/>
          </a:bodyPr>
          <a:lstStyle/>
          <a:p>
            <a:pPr algn="just">
              <a:lnSpc>
                <a:spcPct val="150000"/>
              </a:lnSpc>
              <a:buFont typeface="Wingdings" panose="05000000000000000000" pitchFamily="2" charset="2"/>
              <a:buChar char="Ø"/>
            </a:pPr>
            <a:r>
              <a:rPr lang="fr-FR" sz="4000" dirty="0" smtClean="0"/>
              <a:t> </a:t>
            </a:r>
            <a:r>
              <a:rPr lang="fr-FR" sz="4000" b="1" dirty="0"/>
              <a:t>Objectif :</a:t>
            </a:r>
          </a:p>
          <a:p>
            <a:pPr lvl="1" algn="just">
              <a:lnSpc>
                <a:spcPct val="150000"/>
              </a:lnSpc>
              <a:buFont typeface="Wingdings" panose="05000000000000000000" pitchFamily="2" charset="2"/>
              <a:buChar char="Ø"/>
            </a:pPr>
            <a:r>
              <a:rPr lang="fr-FR" sz="3600" dirty="0"/>
              <a:t> Créer une application modulaire en Java</a:t>
            </a:r>
            <a:r>
              <a:rPr lang="fr-FR" sz="3600" dirty="0" smtClean="0"/>
              <a:t>.</a:t>
            </a:r>
          </a:p>
          <a:p>
            <a:pPr lvl="1" algn="just">
              <a:lnSpc>
                <a:spcPct val="150000"/>
              </a:lnSpc>
              <a:buFont typeface="Wingdings" panose="05000000000000000000" pitchFamily="2" charset="2"/>
              <a:buChar char="Ø"/>
            </a:pPr>
            <a:r>
              <a:rPr lang="fr-FR" sz="3600" dirty="0"/>
              <a:t> Définir et utiliser des dépendances entre modules</a:t>
            </a:r>
            <a:r>
              <a:rPr lang="fr-FR" sz="3600" dirty="0" smtClean="0"/>
              <a:t>.</a:t>
            </a:r>
          </a:p>
          <a:p>
            <a:pPr lvl="1" algn="just">
              <a:lnSpc>
                <a:spcPct val="150000"/>
              </a:lnSpc>
              <a:buFont typeface="Wingdings" panose="05000000000000000000" pitchFamily="2" charset="2"/>
              <a:buChar char="Ø"/>
            </a:pPr>
            <a:r>
              <a:rPr lang="fr-FR" sz="3600" dirty="0"/>
              <a:t> Compiler et exécuter une application modulaire.</a:t>
            </a:r>
          </a:p>
        </p:txBody>
      </p:sp>
    </p:spTree>
    <p:extLst>
      <p:ext uri="{BB962C8B-B14F-4D97-AF65-F5344CB8AC3E}">
        <p14:creationId xmlns:p14="http://schemas.microsoft.com/office/powerpoint/2010/main" val="4241737916"/>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Contexte du TP</a:t>
            </a:r>
          </a:p>
        </p:txBody>
      </p:sp>
      <p:sp>
        <p:nvSpPr>
          <p:cNvPr id="3" name="Espace réservé du contenu 2"/>
          <p:cNvSpPr>
            <a:spLocks noGrp="1"/>
          </p:cNvSpPr>
          <p:nvPr>
            <p:ph idx="1"/>
          </p:nvPr>
        </p:nvSpPr>
        <p:spPr>
          <a:xfrm>
            <a:off x="1097280" y="1473200"/>
            <a:ext cx="10058400" cy="4023360"/>
          </a:xfrm>
        </p:spPr>
        <p:txBody>
          <a:bodyPr>
            <a:noAutofit/>
          </a:bodyPr>
          <a:lstStyle/>
          <a:p>
            <a:pPr algn="just">
              <a:lnSpc>
                <a:spcPct val="150000"/>
              </a:lnSpc>
              <a:buFont typeface="Wingdings" panose="05000000000000000000" pitchFamily="2" charset="2"/>
              <a:buChar char="Ø"/>
            </a:pPr>
            <a:r>
              <a:rPr lang="fr-FR" sz="2800" dirty="0"/>
              <a:t> Nous allons développer une application modulaire qui effectue des calculs mathématiques simples. L'application comportera trois modules </a:t>
            </a:r>
            <a:r>
              <a:rPr lang="fr-FR" sz="2800" dirty="0" smtClean="0"/>
              <a:t>:</a:t>
            </a:r>
          </a:p>
          <a:p>
            <a:pPr marL="544068" lvl="1" indent="-342900" algn="just">
              <a:lnSpc>
                <a:spcPct val="150000"/>
              </a:lnSpc>
              <a:buFont typeface="+mj-lt"/>
              <a:buAutoNum type="arabicPeriod"/>
            </a:pPr>
            <a:r>
              <a:rPr lang="fr-FR" sz="2400" b="1" dirty="0" err="1"/>
              <a:t>com.app.main</a:t>
            </a:r>
            <a:r>
              <a:rPr lang="fr-FR" sz="2400" dirty="0"/>
              <a:t> : Le module principal qui exécute le programme</a:t>
            </a:r>
            <a:r>
              <a:rPr lang="fr-FR" sz="2400" dirty="0" smtClean="0"/>
              <a:t>.</a:t>
            </a:r>
          </a:p>
          <a:p>
            <a:pPr marL="544068" lvl="1" indent="-342900" algn="just">
              <a:lnSpc>
                <a:spcPct val="150000"/>
              </a:lnSpc>
              <a:buFont typeface="+mj-lt"/>
              <a:buAutoNum type="arabicPeriod"/>
            </a:pPr>
            <a:r>
              <a:rPr lang="fr-FR" sz="2400" b="1" dirty="0" err="1"/>
              <a:t>com.app.utils</a:t>
            </a:r>
            <a:r>
              <a:rPr lang="fr-FR" sz="2400" dirty="0"/>
              <a:t> : Un module contenant des utilitaires pour les calculs mathématiques</a:t>
            </a:r>
            <a:r>
              <a:rPr lang="fr-FR" sz="2400" dirty="0" smtClean="0"/>
              <a:t>.</a:t>
            </a:r>
          </a:p>
          <a:p>
            <a:pPr marL="544068" lvl="1" indent="-342900" algn="just">
              <a:lnSpc>
                <a:spcPct val="150000"/>
              </a:lnSpc>
              <a:buFont typeface="+mj-lt"/>
              <a:buAutoNum type="arabicPeriod"/>
            </a:pPr>
            <a:r>
              <a:rPr lang="fr-FR" sz="2400" b="1" dirty="0" err="1"/>
              <a:t>com.app.services</a:t>
            </a:r>
            <a:r>
              <a:rPr lang="fr-FR" sz="2400" dirty="0"/>
              <a:t> : Un module qui fournit un service pour effectuer des opérations arithmétiques.</a:t>
            </a:r>
          </a:p>
        </p:txBody>
      </p:sp>
    </p:spTree>
    <p:extLst>
      <p:ext uri="{BB962C8B-B14F-4D97-AF65-F5344CB8AC3E}">
        <p14:creationId xmlns:p14="http://schemas.microsoft.com/office/powerpoint/2010/main" val="283498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Etapes de mise en place</a:t>
            </a:r>
            <a:endParaRPr lang="fr-FR" b="1" dirty="0"/>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3600" dirty="0"/>
              <a:t> </a:t>
            </a:r>
            <a:r>
              <a:rPr lang="fr-FR" sz="3600" b="1" dirty="0"/>
              <a:t>Étape 1</a:t>
            </a:r>
            <a:r>
              <a:rPr lang="fr-FR" sz="3600" dirty="0"/>
              <a:t> : Configuration du </a:t>
            </a:r>
            <a:r>
              <a:rPr lang="fr-FR" sz="3600" dirty="0" smtClean="0"/>
              <a:t>projet</a:t>
            </a:r>
          </a:p>
          <a:p>
            <a:pPr>
              <a:lnSpc>
                <a:spcPct val="150000"/>
              </a:lnSpc>
              <a:buFont typeface="Wingdings" panose="05000000000000000000" pitchFamily="2" charset="2"/>
              <a:buChar char="Ø"/>
            </a:pPr>
            <a:r>
              <a:rPr lang="fr-FR" sz="3600" dirty="0"/>
              <a:t> </a:t>
            </a:r>
            <a:r>
              <a:rPr lang="fr-FR" sz="3600" b="1" dirty="0"/>
              <a:t>Étape 2 </a:t>
            </a:r>
            <a:r>
              <a:rPr lang="fr-FR" sz="3600" dirty="0"/>
              <a:t>: </a:t>
            </a:r>
            <a:r>
              <a:rPr lang="fr-FR" sz="3600" dirty="0" smtClean="0"/>
              <a:t>Développement</a:t>
            </a:r>
          </a:p>
          <a:p>
            <a:pPr>
              <a:lnSpc>
                <a:spcPct val="150000"/>
              </a:lnSpc>
              <a:buFont typeface="Wingdings" panose="05000000000000000000" pitchFamily="2" charset="2"/>
              <a:buChar char="Ø"/>
            </a:pPr>
            <a:r>
              <a:rPr lang="fr-FR" sz="3600" dirty="0"/>
              <a:t> </a:t>
            </a:r>
            <a:r>
              <a:rPr lang="fr-FR" sz="3600" b="1" dirty="0"/>
              <a:t>Étape 3</a:t>
            </a:r>
            <a:r>
              <a:rPr lang="fr-FR" sz="3600" dirty="0"/>
              <a:t> : Compilation et </a:t>
            </a:r>
            <a:r>
              <a:rPr lang="fr-FR" sz="3600" dirty="0" smtClean="0"/>
              <a:t>exécution</a:t>
            </a:r>
          </a:p>
          <a:p>
            <a:pPr>
              <a:lnSpc>
                <a:spcPct val="150000"/>
              </a:lnSpc>
              <a:buFont typeface="Wingdings" panose="05000000000000000000" pitchFamily="2" charset="2"/>
              <a:buChar char="Ø"/>
            </a:pPr>
            <a:r>
              <a:rPr lang="fr-FR" sz="3600" dirty="0"/>
              <a:t> </a:t>
            </a:r>
            <a:r>
              <a:rPr lang="fr-FR" sz="3600" b="1" dirty="0"/>
              <a:t>Étape 4</a:t>
            </a:r>
            <a:r>
              <a:rPr lang="fr-FR" sz="3600" dirty="0"/>
              <a:t> : Extensions possibles</a:t>
            </a:r>
          </a:p>
        </p:txBody>
      </p:sp>
    </p:spTree>
    <p:extLst>
      <p:ext uri="{BB962C8B-B14F-4D97-AF65-F5344CB8AC3E}">
        <p14:creationId xmlns:p14="http://schemas.microsoft.com/office/powerpoint/2010/main" val="296883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7279" y="185003"/>
            <a:ext cx="10058400" cy="526197"/>
          </a:xfrm>
        </p:spPr>
        <p:txBody>
          <a:bodyPr anchor="ctr">
            <a:normAutofit fontScale="90000"/>
          </a:bodyPr>
          <a:lstStyle/>
          <a:p>
            <a:pPr algn="ctr"/>
            <a:r>
              <a:rPr lang="fr-FR" b="1" dirty="0"/>
              <a:t>Structure des répertoires</a:t>
            </a:r>
          </a:p>
        </p:txBody>
      </p:sp>
      <p:pic>
        <p:nvPicPr>
          <p:cNvPr id="4" name="Espace réservé du contenu 3"/>
          <p:cNvPicPr>
            <a:picLocks noGrp="1" noChangeAspect="1"/>
          </p:cNvPicPr>
          <p:nvPr>
            <p:ph idx="1"/>
          </p:nvPr>
        </p:nvPicPr>
        <p:blipFill>
          <a:blip r:embed="rId2"/>
          <a:stretch>
            <a:fillRect/>
          </a:stretch>
        </p:blipFill>
        <p:spPr>
          <a:xfrm>
            <a:off x="1097279" y="711200"/>
            <a:ext cx="10058399" cy="59774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78795243"/>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Description des modules</a:t>
            </a:r>
          </a:p>
        </p:txBody>
      </p:sp>
      <p:sp>
        <p:nvSpPr>
          <p:cNvPr id="3" name="Espace réservé du contenu 2"/>
          <p:cNvSpPr>
            <a:spLocks noGrp="1"/>
          </p:cNvSpPr>
          <p:nvPr>
            <p:ph idx="1"/>
          </p:nvPr>
        </p:nvSpPr>
        <p:spPr/>
        <p:txBody>
          <a:bodyPr>
            <a:noAutofit/>
          </a:bodyPr>
          <a:lstStyle/>
          <a:p>
            <a:pPr algn="just">
              <a:lnSpc>
                <a:spcPct val="150000"/>
              </a:lnSpc>
              <a:buFont typeface="Wingdings" panose="05000000000000000000" pitchFamily="2" charset="2"/>
              <a:buChar char="Ø"/>
            </a:pPr>
            <a:r>
              <a:rPr lang="fr-FR" sz="2800" dirty="0"/>
              <a:t> </a:t>
            </a:r>
            <a:r>
              <a:rPr lang="fr-FR" sz="2800" b="1" dirty="0" err="1"/>
              <a:t>com.app.main</a:t>
            </a:r>
            <a:r>
              <a:rPr lang="fr-FR" sz="2800" dirty="0"/>
              <a:t> : Le module principal qui utilise les modules </a:t>
            </a:r>
            <a:r>
              <a:rPr lang="fr-FR" sz="2800" b="1" dirty="0" err="1"/>
              <a:t>com.app.utils</a:t>
            </a:r>
            <a:r>
              <a:rPr lang="fr-FR" sz="2800" dirty="0"/>
              <a:t> et </a:t>
            </a:r>
            <a:r>
              <a:rPr lang="fr-FR" sz="2800" b="1" dirty="0" err="1"/>
              <a:t>com.app.services</a:t>
            </a:r>
            <a:r>
              <a:rPr lang="fr-FR" sz="2800" dirty="0" smtClean="0"/>
              <a:t>.</a:t>
            </a:r>
          </a:p>
          <a:p>
            <a:pPr algn="just">
              <a:lnSpc>
                <a:spcPct val="150000"/>
              </a:lnSpc>
              <a:buFont typeface="Wingdings" panose="05000000000000000000" pitchFamily="2" charset="2"/>
              <a:buChar char="Ø"/>
            </a:pPr>
            <a:r>
              <a:rPr lang="fr-FR" sz="2800" dirty="0"/>
              <a:t> </a:t>
            </a:r>
            <a:r>
              <a:rPr lang="fr-FR" sz="2800" b="1" dirty="0" err="1"/>
              <a:t>com.app.utils</a:t>
            </a:r>
            <a:r>
              <a:rPr lang="fr-FR" sz="2800" dirty="0"/>
              <a:t> : Fournit des utilitaires mathématiques comme une méthode pour calculer la puissance</a:t>
            </a:r>
            <a:r>
              <a:rPr lang="fr-FR" sz="2800" dirty="0" smtClean="0"/>
              <a:t>.</a:t>
            </a:r>
          </a:p>
          <a:p>
            <a:pPr algn="just">
              <a:lnSpc>
                <a:spcPct val="150000"/>
              </a:lnSpc>
              <a:buFont typeface="Wingdings" panose="05000000000000000000" pitchFamily="2" charset="2"/>
              <a:buChar char="Ø"/>
            </a:pPr>
            <a:r>
              <a:rPr lang="fr-FR" sz="2800" dirty="0"/>
              <a:t> </a:t>
            </a:r>
            <a:r>
              <a:rPr lang="fr-FR" sz="2800" b="1" dirty="0" err="1"/>
              <a:t>com.app.services</a:t>
            </a:r>
            <a:r>
              <a:rPr lang="fr-FR" sz="2800" dirty="0"/>
              <a:t> : Fournit un service pour exécuter des opérations arithmétiques comme l'addition.</a:t>
            </a:r>
          </a:p>
        </p:txBody>
      </p:sp>
    </p:spTree>
    <p:extLst>
      <p:ext uri="{BB962C8B-B14F-4D97-AF65-F5344CB8AC3E}">
        <p14:creationId xmlns:p14="http://schemas.microsoft.com/office/powerpoint/2010/main" val="139043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Étape 2 : Développement</a:t>
            </a:r>
          </a:p>
        </p:txBody>
      </p:sp>
      <p:sp>
        <p:nvSpPr>
          <p:cNvPr id="3" name="Espace réservé du contenu 2"/>
          <p:cNvSpPr>
            <a:spLocks noGrp="1"/>
          </p:cNvSpPr>
          <p:nvPr>
            <p:ph idx="1"/>
          </p:nvPr>
        </p:nvSpPr>
        <p:spPr/>
        <p:txBody>
          <a:bodyPr>
            <a:normAutofit/>
          </a:bodyPr>
          <a:lstStyle/>
          <a:p>
            <a:pPr>
              <a:lnSpc>
                <a:spcPct val="150000"/>
              </a:lnSpc>
              <a:buFont typeface="Wingdings" panose="05000000000000000000" pitchFamily="2" charset="2"/>
              <a:buChar char="Ø"/>
            </a:pPr>
            <a:r>
              <a:rPr lang="fr-FR" sz="4800" dirty="0"/>
              <a:t> Créer le module </a:t>
            </a:r>
            <a:r>
              <a:rPr lang="fr-FR" sz="4800" b="1" dirty="0" err="1" smtClean="0"/>
              <a:t>com.app.utils</a:t>
            </a:r>
            <a:endParaRPr lang="fr-FR" sz="4800" b="1" dirty="0" smtClean="0"/>
          </a:p>
          <a:p>
            <a:pPr>
              <a:lnSpc>
                <a:spcPct val="150000"/>
              </a:lnSpc>
              <a:buFont typeface="Wingdings" panose="05000000000000000000" pitchFamily="2" charset="2"/>
              <a:buChar char="Ø"/>
            </a:pPr>
            <a:r>
              <a:rPr lang="fr-FR" sz="4800" dirty="0"/>
              <a:t> Créer le module </a:t>
            </a:r>
            <a:r>
              <a:rPr lang="fr-FR" sz="4800" b="1" dirty="0" err="1" smtClean="0"/>
              <a:t>com.app.services</a:t>
            </a:r>
            <a:endParaRPr lang="fr-FR" sz="4800" b="1" dirty="0" smtClean="0"/>
          </a:p>
          <a:p>
            <a:pPr>
              <a:lnSpc>
                <a:spcPct val="150000"/>
              </a:lnSpc>
              <a:buFont typeface="Wingdings" panose="05000000000000000000" pitchFamily="2" charset="2"/>
              <a:buChar char="Ø"/>
            </a:pPr>
            <a:r>
              <a:rPr lang="fr-FR" sz="4800" dirty="0"/>
              <a:t> Créer le module </a:t>
            </a:r>
            <a:r>
              <a:rPr lang="fr-FR" sz="4800" b="1" dirty="0" err="1"/>
              <a:t>com.app.main</a:t>
            </a:r>
            <a:endParaRPr lang="fr-FR" sz="4800" b="1" dirty="0"/>
          </a:p>
        </p:txBody>
      </p:sp>
    </p:spTree>
    <p:extLst>
      <p:ext uri="{BB962C8B-B14F-4D97-AF65-F5344CB8AC3E}">
        <p14:creationId xmlns:p14="http://schemas.microsoft.com/office/powerpoint/2010/main" val="2070172874"/>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Module </a:t>
            </a:r>
            <a:r>
              <a:rPr lang="fr-FR" b="1" dirty="0" err="1"/>
              <a:t>com.app.utils</a:t>
            </a:r>
            <a:endParaRPr lang="fr-FR" b="1" dirty="0"/>
          </a:p>
        </p:txBody>
      </p:sp>
      <p:sp>
        <p:nvSpPr>
          <p:cNvPr id="6" name="Espace réservé du texte 5"/>
          <p:cNvSpPr>
            <a:spLocks noGrp="1"/>
          </p:cNvSpPr>
          <p:nvPr>
            <p:ph type="body" idx="1"/>
          </p:nvPr>
        </p:nvSpPr>
        <p:spPr/>
        <p:txBody>
          <a:bodyPr/>
          <a:lstStyle/>
          <a:p>
            <a:pPr algn="ctr"/>
            <a:r>
              <a:rPr lang="fr-FR" b="1" dirty="0"/>
              <a:t>Fichier module-info.java</a:t>
            </a:r>
          </a:p>
        </p:txBody>
      </p:sp>
      <p:pic>
        <p:nvPicPr>
          <p:cNvPr id="12" name="Espace réservé du contenu 11"/>
          <p:cNvPicPr>
            <a:picLocks noGrp="1" noChangeAspect="1"/>
          </p:cNvPicPr>
          <p:nvPr>
            <p:ph sz="half" idx="2"/>
          </p:nvPr>
        </p:nvPicPr>
        <p:blipFill>
          <a:blip r:embed="rId2"/>
          <a:stretch>
            <a:fillRect/>
          </a:stretch>
        </p:blipFill>
        <p:spPr>
          <a:xfrm>
            <a:off x="1371600" y="2810934"/>
            <a:ext cx="4026694" cy="29294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Espace réservé du texte 7"/>
          <p:cNvSpPr>
            <a:spLocks noGrp="1"/>
          </p:cNvSpPr>
          <p:nvPr>
            <p:ph type="body" sz="quarter" idx="3"/>
          </p:nvPr>
        </p:nvSpPr>
        <p:spPr/>
        <p:txBody>
          <a:bodyPr/>
          <a:lstStyle/>
          <a:p>
            <a:pPr algn="ctr"/>
            <a:r>
              <a:rPr lang="fr-FR" b="1" dirty="0"/>
              <a:t>Classe </a:t>
            </a:r>
            <a:r>
              <a:rPr lang="fr-FR" b="1" dirty="0" err="1"/>
              <a:t>MathUtils</a:t>
            </a:r>
            <a:endParaRPr lang="fr-FR" b="1" dirty="0"/>
          </a:p>
        </p:txBody>
      </p:sp>
      <p:pic>
        <p:nvPicPr>
          <p:cNvPr id="13" name="Espace réservé du contenu 12"/>
          <p:cNvPicPr>
            <a:picLocks noGrp="1" noChangeAspect="1"/>
          </p:cNvPicPr>
          <p:nvPr>
            <p:ph sz="quarter" idx="4"/>
          </p:nvPr>
        </p:nvPicPr>
        <p:blipFill>
          <a:blip r:embed="rId3"/>
          <a:stretch>
            <a:fillRect/>
          </a:stretch>
        </p:blipFill>
        <p:spPr>
          <a:xfrm>
            <a:off x="6424613" y="2810933"/>
            <a:ext cx="4524375" cy="29294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25394370"/>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Module </a:t>
            </a:r>
            <a:r>
              <a:rPr lang="fr-FR" b="1" dirty="0" err="1"/>
              <a:t>com.app.services</a:t>
            </a:r>
            <a:endParaRPr lang="fr-FR" b="1" dirty="0"/>
          </a:p>
        </p:txBody>
      </p:sp>
      <p:sp>
        <p:nvSpPr>
          <p:cNvPr id="3" name="Espace réservé du texte 2"/>
          <p:cNvSpPr>
            <a:spLocks noGrp="1"/>
          </p:cNvSpPr>
          <p:nvPr>
            <p:ph type="body" idx="1"/>
          </p:nvPr>
        </p:nvSpPr>
        <p:spPr/>
        <p:txBody>
          <a:bodyPr/>
          <a:lstStyle/>
          <a:p>
            <a:pPr algn="ctr"/>
            <a:r>
              <a:rPr lang="fr-FR" b="1" dirty="0"/>
              <a:t>Fichier module-info.java</a:t>
            </a:r>
          </a:p>
        </p:txBody>
      </p:sp>
      <p:pic>
        <p:nvPicPr>
          <p:cNvPr id="7" name="Espace réservé du contenu 6"/>
          <p:cNvPicPr>
            <a:picLocks noGrp="1" noChangeAspect="1"/>
          </p:cNvPicPr>
          <p:nvPr>
            <p:ph sz="half" idx="2"/>
          </p:nvPr>
        </p:nvPicPr>
        <p:blipFill>
          <a:blip r:embed="rId2"/>
          <a:stretch>
            <a:fillRect/>
          </a:stretch>
        </p:blipFill>
        <p:spPr>
          <a:xfrm>
            <a:off x="1123156" y="2946400"/>
            <a:ext cx="4886325" cy="30141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Espace réservé du texte 4"/>
          <p:cNvSpPr>
            <a:spLocks noGrp="1"/>
          </p:cNvSpPr>
          <p:nvPr>
            <p:ph type="body" sz="quarter" idx="3"/>
          </p:nvPr>
        </p:nvSpPr>
        <p:spPr/>
        <p:txBody>
          <a:bodyPr/>
          <a:lstStyle/>
          <a:p>
            <a:pPr algn="ctr"/>
            <a:r>
              <a:rPr lang="fr-FR" b="1" dirty="0"/>
              <a:t>Classe </a:t>
            </a:r>
            <a:r>
              <a:rPr lang="fr-FR" b="1" dirty="0" err="1"/>
              <a:t>CalculatorService</a:t>
            </a:r>
            <a:endParaRPr lang="fr-FR" b="1" dirty="0"/>
          </a:p>
        </p:txBody>
      </p:sp>
      <p:pic>
        <p:nvPicPr>
          <p:cNvPr id="8" name="Espace réservé du contenu 7"/>
          <p:cNvPicPr>
            <a:picLocks noGrp="1" noChangeAspect="1"/>
          </p:cNvPicPr>
          <p:nvPr>
            <p:ph sz="quarter" idx="4"/>
          </p:nvPr>
        </p:nvPicPr>
        <p:blipFill>
          <a:blip r:embed="rId3"/>
          <a:stretch>
            <a:fillRect/>
          </a:stretch>
        </p:blipFill>
        <p:spPr>
          <a:xfrm>
            <a:off x="6619874" y="2905125"/>
            <a:ext cx="4535805" cy="30554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52681366"/>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Module </a:t>
            </a:r>
            <a:r>
              <a:rPr lang="fr-FR" b="1" dirty="0" err="1"/>
              <a:t>com.app.main</a:t>
            </a:r>
            <a:endParaRPr lang="fr-FR" b="1" dirty="0"/>
          </a:p>
        </p:txBody>
      </p:sp>
      <p:sp>
        <p:nvSpPr>
          <p:cNvPr id="3" name="Espace réservé du texte 2"/>
          <p:cNvSpPr>
            <a:spLocks noGrp="1"/>
          </p:cNvSpPr>
          <p:nvPr>
            <p:ph type="body" idx="1"/>
          </p:nvPr>
        </p:nvSpPr>
        <p:spPr/>
        <p:txBody>
          <a:bodyPr/>
          <a:lstStyle/>
          <a:p>
            <a:pPr algn="ctr"/>
            <a:r>
              <a:rPr lang="fr-FR" b="1" dirty="0"/>
              <a:t>Fichier module-info.java</a:t>
            </a:r>
          </a:p>
        </p:txBody>
      </p:sp>
      <p:pic>
        <p:nvPicPr>
          <p:cNvPr id="7" name="Espace réservé du contenu 6"/>
          <p:cNvPicPr>
            <a:picLocks noGrp="1" noChangeAspect="1"/>
          </p:cNvPicPr>
          <p:nvPr>
            <p:ph sz="half" idx="2"/>
          </p:nvPr>
        </p:nvPicPr>
        <p:blipFill>
          <a:blip r:embed="rId2"/>
          <a:stretch>
            <a:fillRect/>
          </a:stretch>
        </p:blipFill>
        <p:spPr>
          <a:xfrm>
            <a:off x="1151731" y="3251200"/>
            <a:ext cx="4829175" cy="20150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Espace réservé du texte 4"/>
          <p:cNvSpPr>
            <a:spLocks noGrp="1"/>
          </p:cNvSpPr>
          <p:nvPr>
            <p:ph type="body" sz="quarter" idx="3"/>
          </p:nvPr>
        </p:nvSpPr>
        <p:spPr/>
        <p:txBody>
          <a:bodyPr/>
          <a:lstStyle/>
          <a:p>
            <a:pPr algn="ctr"/>
            <a:r>
              <a:rPr lang="fr-FR" b="1" dirty="0"/>
              <a:t>Classe Main</a:t>
            </a:r>
          </a:p>
        </p:txBody>
      </p:sp>
      <p:pic>
        <p:nvPicPr>
          <p:cNvPr id="8" name="Espace réservé du contenu 7"/>
          <p:cNvPicPr>
            <a:picLocks noGrp="1" noChangeAspect="1"/>
          </p:cNvPicPr>
          <p:nvPr>
            <p:ph sz="quarter" idx="4"/>
          </p:nvPr>
        </p:nvPicPr>
        <p:blipFill>
          <a:blip r:embed="rId3"/>
          <a:stretch>
            <a:fillRect/>
          </a:stretch>
        </p:blipFill>
        <p:spPr>
          <a:xfrm>
            <a:off x="6772274" y="2867025"/>
            <a:ext cx="4911725" cy="32120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62499394"/>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Étape 3 : Compilation et exécution</a:t>
            </a:r>
          </a:p>
        </p:txBody>
      </p:sp>
      <p:pic>
        <p:nvPicPr>
          <p:cNvPr id="7" name="Espace réservé du contenu 6"/>
          <p:cNvPicPr>
            <a:picLocks noGrp="1" noChangeAspect="1"/>
          </p:cNvPicPr>
          <p:nvPr>
            <p:ph idx="1"/>
          </p:nvPr>
        </p:nvPicPr>
        <p:blipFill>
          <a:blip r:embed="rId2"/>
          <a:stretch>
            <a:fillRect/>
          </a:stretch>
        </p:blipFill>
        <p:spPr>
          <a:xfrm>
            <a:off x="4419601" y="2739032"/>
            <a:ext cx="2997200" cy="6815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angle 8"/>
          <p:cNvSpPr/>
          <p:nvPr/>
        </p:nvSpPr>
        <p:spPr>
          <a:xfrm>
            <a:off x="1097279" y="2053530"/>
            <a:ext cx="10502053" cy="2031325"/>
          </a:xfrm>
          <a:prstGeom prst="rect">
            <a:avLst/>
          </a:prstGeom>
        </p:spPr>
        <p:txBody>
          <a:bodyPr wrap="square">
            <a:spAutoFit/>
          </a:bodyPr>
          <a:lstStyle/>
          <a:p>
            <a:pPr marL="285750" indent="-285750" algn="ctr">
              <a:buFont typeface="Wingdings" panose="05000000000000000000" pitchFamily="2" charset="2"/>
              <a:buChar char="Ø"/>
            </a:pPr>
            <a:r>
              <a:rPr lang="fr-FR" b="1" dirty="0"/>
              <a:t>Placez-vous dans le répertoire racine (</a:t>
            </a:r>
            <a:r>
              <a:rPr lang="fr-FR" b="1" dirty="0" err="1"/>
              <a:t>modular-app</a:t>
            </a:r>
            <a:r>
              <a:rPr lang="fr-FR" b="1" dirty="0"/>
              <a:t>/) et créez un répertoire pour les fichiers compilés </a:t>
            </a:r>
            <a:r>
              <a:rPr lang="fr-FR" b="1" dirty="0" smtClean="0"/>
              <a:t>:</a:t>
            </a:r>
          </a:p>
          <a:p>
            <a:pPr marL="285750" indent="-285750" algn="ctr">
              <a:buFont typeface="Wingdings" panose="05000000000000000000" pitchFamily="2" charset="2"/>
              <a:buChar char="Ø"/>
            </a:pPr>
            <a:endParaRPr lang="fr-FR" b="1" dirty="0"/>
          </a:p>
          <a:p>
            <a:pPr marL="285750" indent="-285750" algn="ctr">
              <a:buFont typeface="Wingdings" panose="05000000000000000000" pitchFamily="2" charset="2"/>
              <a:buChar char="Ø"/>
            </a:pPr>
            <a:endParaRPr lang="fr-FR" b="1" dirty="0" smtClean="0"/>
          </a:p>
          <a:p>
            <a:pPr marL="285750" indent="-285750" algn="ctr">
              <a:buFont typeface="Wingdings" panose="05000000000000000000" pitchFamily="2" charset="2"/>
              <a:buChar char="Ø"/>
            </a:pPr>
            <a:endParaRPr lang="fr-FR" b="1" dirty="0"/>
          </a:p>
          <a:p>
            <a:pPr marL="285750" indent="-285750" algn="ctr">
              <a:buFont typeface="Wingdings" panose="05000000000000000000" pitchFamily="2" charset="2"/>
              <a:buChar char="Ø"/>
            </a:pPr>
            <a:endParaRPr lang="fr-FR" b="1" dirty="0" smtClean="0"/>
          </a:p>
          <a:p>
            <a:pPr marL="285750" indent="-285750" algn="ctr">
              <a:buFont typeface="Wingdings" panose="05000000000000000000" pitchFamily="2" charset="2"/>
              <a:buChar char="Ø"/>
            </a:pPr>
            <a:endParaRPr lang="fr-FR" b="1" dirty="0"/>
          </a:p>
          <a:p>
            <a:pPr marL="285750" indent="-285750">
              <a:buFont typeface="Wingdings" panose="05000000000000000000" pitchFamily="2" charset="2"/>
              <a:buChar char="Ø"/>
            </a:pPr>
            <a:r>
              <a:rPr lang="fr-FR" b="1" dirty="0"/>
              <a:t>Compilez chaque module individuellement :</a:t>
            </a:r>
          </a:p>
        </p:txBody>
      </p:sp>
      <p:pic>
        <p:nvPicPr>
          <p:cNvPr id="10" name="Image 9"/>
          <p:cNvPicPr>
            <a:picLocks noChangeAspect="1"/>
          </p:cNvPicPr>
          <p:nvPr/>
        </p:nvPicPr>
        <p:blipFill>
          <a:blip r:embed="rId3"/>
          <a:stretch>
            <a:fillRect/>
          </a:stretch>
        </p:blipFill>
        <p:spPr>
          <a:xfrm>
            <a:off x="661880" y="4169366"/>
            <a:ext cx="11372849" cy="758234"/>
          </a:xfrm>
          <a:prstGeom prst="rect">
            <a:avLst/>
          </a:prstGeom>
        </p:spPr>
      </p:pic>
      <p:pic>
        <p:nvPicPr>
          <p:cNvPr id="11" name="Image 10"/>
          <p:cNvPicPr>
            <a:picLocks noChangeAspect="1"/>
          </p:cNvPicPr>
          <p:nvPr/>
        </p:nvPicPr>
        <p:blipFill>
          <a:blip r:embed="rId4"/>
          <a:stretch>
            <a:fillRect/>
          </a:stretch>
        </p:blipFill>
        <p:spPr>
          <a:xfrm>
            <a:off x="661880" y="4816848"/>
            <a:ext cx="11372850" cy="906619"/>
          </a:xfrm>
          <a:prstGeom prst="rect">
            <a:avLst/>
          </a:prstGeom>
        </p:spPr>
      </p:pic>
      <p:pic>
        <p:nvPicPr>
          <p:cNvPr id="12" name="Image 11"/>
          <p:cNvPicPr>
            <a:picLocks noChangeAspect="1"/>
          </p:cNvPicPr>
          <p:nvPr/>
        </p:nvPicPr>
        <p:blipFill>
          <a:blip r:embed="rId5"/>
          <a:stretch>
            <a:fillRect/>
          </a:stretch>
        </p:blipFill>
        <p:spPr>
          <a:xfrm>
            <a:off x="661880" y="5723467"/>
            <a:ext cx="11372850" cy="647482"/>
          </a:xfrm>
          <a:prstGeom prst="rect">
            <a:avLst/>
          </a:prstGeom>
        </p:spPr>
      </p:pic>
    </p:spTree>
    <p:extLst>
      <p:ext uri="{BB962C8B-B14F-4D97-AF65-F5344CB8AC3E}">
        <p14:creationId xmlns:p14="http://schemas.microsoft.com/office/powerpoint/2010/main" val="2164309883"/>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Exécuter l'application</a:t>
            </a:r>
          </a:p>
        </p:txBody>
      </p:sp>
      <p:sp>
        <p:nvSpPr>
          <p:cNvPr id="3" name="Espace réservé du contenu 2"/>
          <p:cNvSpPr>
            <a:spLocks noGrp="1"/>
          </p:cNvSpPr>
          <p:nvPr>
            <p:ph idx="1"/>
          </p:nvPr>
        </p:nvSpPr>
        <p:spPr/>
        <p:txBody>
          <a:bodyPr/>
          <a:lstStyle/>
          <a:p>
            <a:pPr>
              <a:buFont typeface="Wingdings" panose="05000000000000000000" pitchFamily="2" charset="2"/>
              <a:buChar char="Ø"/>
            </a:pPr>
            <a:r>
              <a:rPr lang="fr-FR" dirty="0"/>
              <a:t> Exécutez le module principal en spécifiant le chemin des modules (--module-</a:t>
            </a:r>
            <a:r>
              <a:rPr lang="fr-FR" dirty="0" err="1"/>
              <a:t>path</a:t>
            </a:r>
            <a:r>
              <a:rPr lang="fr-FR" dirty="0"/>
              <a:t>) </a:t>
            </a:r>
            <a:r>
              <a:rPr lang="fr-FR" dirty="0" smtClean="0"/>
              <a:t>:</a:t>
            </a:r>
          </a:p>
          <a:p>
            <a:pPr>
              <a:buFont typeface="Wingdings" panose="05000000000000000000" pitchFamily="2" charset="2"/>
              <a:buChar char="Ø"/>
            </a:pPr>
            <a:endParaRPr lang="fr-FR" dirty="0"/>
          </a:p>
          <a:p>
            <a:pPr>
              <a:buFont typeface="Wingdings" panose="05000000000000000000" pitchFamily="2" charset="2"/>
              <a:buChar char="Ø"/>
            </a:pPr>
            <a:endParaRPr lang="fr-FR" dirty="0" smtClean="0"/>
          </a:p>
          <a:p>
            <a:pPr>
              <a:buFont typeface="Wingdings" panose="05000000000000000000" pitchFamily="2" charset="2"/>
              <a:buChar char="Ø"/>
            </a:pPr>
            <a:r>
              <a:rPr lang="fr-FR" dirty="0"/>
              <a:t> Résultat attendu </a:t>
            </a:r>
            <a:r>
              <a:rPr lang="fr-FR" dirty="0" smtClean="0"/>
              <a:t>:</a:t>
            </a:r>
            <a:endParaRPr lang="fr-FR" dirty="0"/>
          </a:p>
        </p:txBody>
      </p:sp>
      <p:pic>
        <p:nvPicPr>
          <p:cNvPr id="4" name="Image 3"/>
          <p:cNvPicPr>
            <a:picLocks noChangeAspect="1"/>
          </p:cNvPicPr>
          <p:nvPr/>
        </p:nvPicPr>
        <p:blipFill>
          <a:blip r:embed="rId2"/>
          <a:stretch>
            <a:fillRect/>
          </a:stretch>
        </p:blipFill>
        <p:spPr>
          <a:xfrm>
            <a:off x="1845733" y="2320395"/>
            <a:ext cx="8449734" cy="693738"/>
          </a:xfrm>
          <a:prstGeom prst="rect">
            <a:avLst/>
          </a:prstGeom>
        </p:spPr>
      </p:pic>
      <p:pic>
        <p:nvPicPr>
          <p:cNvPr id="5" name="Image 4"/>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Layer>
                </a14:imgProps>
              </a:ext>
            </a:extLst>
          </a:blip>
          <a:stretch>
            <a:fillRect/>
          </a:stretch>
        </p:blipFill>
        <p:spPr>
          <a:xfrm>
            <a:off x="2810933" y="3826933"/>
            <a:ext cx="5334000" cy="14223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51323897"/>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a:t>Étape 4 : Extensions possibles</a:t>
            </a:r>
          </a:p>
        </p:txBody>
      </p:sp>
      <p:sp>
        <p:nvSpPr>
          <p:cNvPr id="3" name="Espace réservé du contenu 2"/>
          <p:cNvSpPr>
            <a:spLocks noGrp="1"/>
          </p:cNvSpPr>
          <p:nvPr>
            <p:ph idx="1"/>
          </p:nvPr>
        </p:nvSpPr>
        <p:spPr/>
        <p:txBody>
          <a:bodyPr>
            <a:noAutofit/>
          </a:bodyPr>
          <a:lstStyle/>
          <a:p>
            <a:pPr marL="457200" indent="-457200" algn="just">
              <a:lnSpc>
                <a:spcPct val="150000"/>
              </a:lnSpc>
              <a:buFont typeface="+mj-lt"/>
              <a:buAutoNum type="arabicPeriod"/>
            </a:pPr>
            <a:r>
              <a:rPr lang="fr-FR" sz="2800" dirty="0"/>
              <a:t> Ajout d'un nouveau module </a:t>
            </a:r>
            <a:r>
              <a:rPr lang="fr-FR" sz="2800" dirty="0" smtClean="0"/>
              <a:t>:</a:t>
            </a:r>
          </a:p>
          <a:p>
            <a:pPr marL="749808" lvl="1" indent="-457200">
              <a:lnSpc>
                <a:spcPct val="150000"/>
              </a:lnSpc>
              <a:buFont typeface="Wingdings" panose="05000000000000000000" pitchFamily="2" charset="2"/>
              <a:buChar char="Ø"/>
            </a:pPr>
            <a:r>
              <a:rPr lang="fr-FR" sz="2400" dirty="0"/>
              <a:t> Créez un module </a:t>
            </a:r>
            <a:r>
              <a:rPr lang="fr-FR" sz="2400" b="1" dirty="0" err="1"/>
              <a:t>com.app.logging</a:t>
            </a:r>
            <a:r>
              <a:rPr lang="fr-FR" sz="2400" dirty="0"/>
              <a:t> pour ajouter des logs dans l'application</a:t>
            </a:r>
            <a:r>
              <a:rPr lang="fr-FR" sz="2400" dirty="0" smtClean="0"/>
              <a:t>.</a:t>
            </a:r>
          </a:p>
          <a:p>
            <a:pPr marL="457200" indent="-457200">
              <a:lnSpc>
                <a:spcPct val="150000"/>
              </a:lnSpc>
              <a:buFont typeface="+mj-lt"/>
              <a:buAutoNum type="arabicPeriod"/>
            </a:pPr>
            <a:r>
              <a:rPr lang="fr-FR" sz="2800" dirty="0"/>
              <a:t>Utilisation d'un fichier jar </a:t>
            </a:r>
            <a:r>
              <a:rPr lang="fr-FR" sz="2800" dirty="0" smtClean="0"/>
              <a:t>:</a:t>
            </a:r>
          </a:p>
          <a:p>
            <a:pPr marL="749808" lvl="1" indent="-457200">
              <a:lnSpc>
                <a:spcPct val="150000"/>
              </a:lnSpc>
              <a:buFont typeface="Wingdings" panose="05000000000000000000" pitchFamily="2" charset="2"/>
              <a:buChar char="Ø"/>
            </a:pPr>
            <a:r>
              <a:rPr lang="fr-FR" sz="2400" dirty="0"/>
              <a:t>Emballez chaque module dans un fichier .jar et exécutez l'application en utilisant ces fichiers.</a:t>
            </a:r>
          </a:p>
        </p:txBody>
      </p:sp>
    </p:spTree>
    <p:extLst>
      <p:ext uri="{BB962C8B-B14F-4D97-AF65-F5344CB8AC3E}">
        <p14:creationId xmlns:p14="http://schemas.microsoft.com/office/powerpoint/2010/main" val="2616968439"/>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pPr algn="ctr"/>
            <a:r>
              <a:rPr lang="fr-FR" b="1" dirty="0" smtClean="0"/>
              <a:t>Architecture</a:t>
            </a:r>
            <a:endParaRPr lang="fr-FR" b="1" dirty="0"/>
          </a:p>
        </p:txBody>
      </p:sp>
      <p:pic>
        <p:nvPicPr>
          <p:cNvPr id="4" name="Espace réservé du contenu 3"/>
          <p:cNvPicPr>
            <a:picLocks noGrp="1" noChangeAspect="1"/>
          </p:cNvPicPr>
          <p:nvPr>
            <p:ph idx="1"/>
          </p:nvPr>
        </p:nvPicPr>
        <p:blipFill>
          <a:blip r:embed="rId2"/>
          <a:stretch>
            <a:fillRect/>
          </a:stretch>
        </p:blipFill>
        <p:spPr>
          <a:xfrm>
            <a:off x="2827867" y="1737360"/>
            <a:ext cx="6925733" cy="45279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09212953"/>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rmAutofit/>
          </a:bodyPr>
          <a:lstStyle/>
          <a:p>
            <a:pPr algn="ctr"/>
            <a:r>
              <a:rPr lang="fr-FR" sz="4400" b="1" dirty="0" smtClean="0"/>
              <a:t>Finalisation Projet </a:t>
            </a:r>
            <a:r>
              <a:rPr lang="fr-FR" sz="4400" b="1" dirty="0" err="1" smtClean="0"/>
              <a:t>Maven</a:t>
            </a:r>
            <a:r>
              <a:rPr lang="fr-FR" sz="4400" b="1" dirty="0" smtClean="0"/>
              <a:t> avec les modules</a:t>
            </a:r>
            <a:endParaRPr lang="fr-FR" sz="4400" b="1" dirty="0"/>
          </a:p>
        </p:txBody>
      </p:sp>
      <p:sp>
        <p:nvSpPr>
          <p:cNvPr id="3" name="Espace réservé du contenu 2"/>
          <p:cNvSpPr>
            <a:spLocks noGrp="1"/>
          </p:cNvSpPr>
          <p:nvPr>
            <p:ph idx="1"/>
          </p:nvPr>
        </p:nvSpPr>
        <p:spPr/>
        <p:txBody>
          <a:bodyPr>
            <a:normAutofit fontScale="92500" lnSpcReduction="10000"/>
          </a:bodyPr>
          <a:lstStyle/>
          <a:p>
            <a:pPr>
              <a:lnSpc>
                <a:spcPct val="200000"/>
              </a:lnSpc>
              <a:buFont typeface="Wingdings" panose="05000000000000000000" pitchFamily="2" charset="2"/>
              <a:buChar char="Ø"/>
            </a:pPr>
            <a:r>
              <a:rPr lang="fr-FR" sz="4400" b="1" dirty="0" smtClean="0"/>
              <a:t> Mise à jour du JDK.</a:t>
            </a:r>
          </a:p>
          <a:p>
            <a:pPr>
              <a:lnSpc>
                <a:spcPct val="200000"/>
              </a:lnSpc>
              <a:buFont typeface="Wingdings" panose="05000000000000000000" pitchFamily="2" charset="2"/>
              <a:buChar char="Ø"/>
            </a:pPr>
            <a:r>
              <a:rPr lang="fr-FR" sz="4400" b="1" dirty="0"/>
              <a:t> </a:t>
            </a:r>
            <a:r>
              <a:rPr lang="fr-FR" sz="4400" b="1" dirty="0" smtClean="0"/>
              <a:t>Développement des différents parties</a:t>
            </a:r>
          </a:p>
          <a:p>
            <a:pPr>
              <a:lnSpc>
                <a:spcPct val="200000"/>
              </a:lnSpc>
              <a:buFont typeface="Wingdings" panose="05000000000000000000" pitchFamily="2" charset="2"/>
              <a:buChar char="Ø"/>
            </a:pPr>
            <a:r>
              <a:rPr lang="fr-FR" sz="4400" b="1" dirty="0"/>
              <a:t> </a:t>
            </a:r>
            <a:r>
              <a:rPr lang="fr-FR" sz="4400" b="1" dirty="0" smtClean="0"/>
              <a:t>Les Tests.</a:t>
            </a:r>
            <a:endParaRPr lang="fr-FR" sz="4400" b="1" dirty="0"/>
          </a:p>
        </p:txBody>
      </p:sp>
    </p:spTree>
    <p:extLst>
      <p:ext uri="{BB962C8B-B14F-4D97-AF65-F5344CB8AC3E}">
        <p14:creationId xmlns:p14="http://schemas.microsoft.com/office/powerpoint/2010/main" val="1871427921"/>
      </p:ext>
    </p:extLst>
  </p:cSld>
  <p:clrMapOvr>
    <a:masterClrMapping/>
  </p:clrMapOvr>
  <p:timing>
    <p:tnLst>
      <p:par>
        <p:cTn id="1" dur="indefinite" restart="never" nodeType="tmRoot"/>
      </p:par>
    </p:tnLst>
  </p:timing>
</p:sld>
</file>

<file path=ppt/theme/theme1.xml><?xml version="1.0" encoding="utf-8"?>
<a:theme xmlns:a="http://schemas.openxmlformats.org/drawingml/2006/main" name="Rétrospective">
  <a:themeElements>
    <a:clrScheme name="Rétrospective">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3573</TotalTime>
  <Words>5818</Words>
  <Application>Microsoft Office PowerPoint</Application>
  <PresentationFormat>Grand écran</PresentationFormat>
  <Paragraphs>692</Paragraphs>
  <Slides>180</Slides>
  <Notes>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180</vt:i4>
      </vt:variant>
    </vt:vector>
  </HeadingPairs>
  <TitlesOfParts>
    <vt:vector size="185" baseType="lpstr">
      <vt:lpstr>Arial</vt:lpstr>
      <vt:lpstr>Calibri</vt:lpstr>
      <vt:lpstr>Calibri Light</vt:lpstr>
      <vt:lpstr>Wingdings</vt:lpstr>
      <vt:lpstr>Rétrospective</vt:lpstr>
      <vt:lpstr>Java - Nouveautés des versions 8 à 22</vt:lpstr>
      <vt:lpstr>Concepts Jour 2</vt:lpstr>
      <vt:lpstr>Objectifs</vt:lpstr>
      <vt:lpstr>JShell (JDK 9 et plus) Introduction</vt:lpstr>
      <vt:lpstr>JShell : introduction</vt:lpstr>
      <vt:lpstr>Principaux objectifs de JShell</vt:lpstr>
      <vt:lpstr>Faciliter l'apprentissage de Java</vt:lpstr>
      <vt:lpstr>Tester rapidement du code Java </vt:lpstr>
      <vt:lpstr>Améliorer la productivité des développeurs</vt:lpstr>
      <vt:lpstr>Fonctionnalités principales de JShell</vt:lpstr>
      <vt:lpstr>Commandes utiles</vt:lpstr>
      <vt:lpstr>Exécution interactive du code</vt:lpstr>
      <vt:lpstr>Déclaration incrémentale</vt:lpstr>
      <vt:lpstr>Exploration d'API</vt:lpstr>
      <vt:lpstr>Chargement de fichiers de script</vt:lpstr>
      <vt:lpstr>Complétion automatique</vt:lpstr>
      <vt:lpstr>Documentation intégrée</vt:lpstr>
      <vt:lpstr>Importations automatiques</vt:lpstr>
      <vt:lpstr>Sauvegarde et récupération des sessions</vt:lpstr>
      <vt:lpstr>Définition de méthodes et classes</vt:lpstr>
      <vt:lpstr>Avantages principaux de JShell</vt:lpstr>
      <vt:lpstr>Cas d'utilisation de JShell</vt:lpstr>
      <vt:lpstr>Exemple </vt:lpstr>
      <vt:lpstr>TP</vt:lpstr>
      <vt:lpstr>Prérequis</vt:lpstr>
      <vt:lpstr>Premiers pas avec JShell</vt:lpstr>
      <vt:lpstr>Test de petits morceaux de code</vt:lpstr>
      <vt:lpstr>Utilisation des nouvelles fonctionnalités de Java</vt:lpstr>
      <vt:lpstr>Sauvegarde et chargement de scripts</vt:lpstr>
      <vt:lpstr>Test des fonctions</vt:lpstr>
      <vt:lpstr>L’API Optional (JDK 9 et plus)</vt:lpstr>
      <vt:lpstr>Rôle de Optional en Java</vt:lpstr>
      <vt:lpstr>Objectifs principaux</vt:lpstr>
      <vt:lpstr>Réduction des null</vt:lpstr>
      <vt:lpstr>Gestion sécurisée des valeurs manquantes</vt:lpstr>
      <vt:lpstr>Code plus lisible et déclaratif</vt:lpstr>
      <vt:lpstr>Nouveautés de l’API Optional dans JDK 9</vt:lpstr>
      <vt:lpstr>ifPresentOrElse</vt:lpstr>
      <vt:lpstr>or</vt:lpstr>
      <vt:lpstr>stream</vt:lpstr>
      <vt:lpstr>orElseThrow (amélioré)</vt:lpstr>
      <vt:lpstr>Avantages des améliorations dans JDK 9+</vt:lpstr>
      <vt:lpstr>Code plus concis et expressif</vt:lpstr>
      <vt:lpstr>Meilleure intégration avec les API fonctionnelles</vt:lpstr>
      <vt:lpstr>Gestion explicite des cas absents</vt:lpstr>
      <vt:lpstr>Réduction des erreurs</vt:lpstr>
      <vt:lpstr>Cas d’utilisation typiques</vt:lpstr>
      <vt:lpstr> Gestion des résultats d’une recherche dans une base de données</vt:lpstr>
      <vt:lpstr>Traitement conditionnel dans un flux</vt:lpstr>
      <vt:lpstr>Gestion des valeurs par défaut</vt:lpstr>
      <vt:lpstr>Conclusion</vt:lpstr>
      <vt:lpstr>Les bonnes pratiques</vt:lpstr>
      <vt:lpstr>A éviter</vt:lpstr>
      <vt:lpstr>TP API Optional</vt:lpstr>
      <vt:lpstr>Éviter les NullPointerException</vt:lpstr>
      <vt:lpstr>Éviter les NullPointerException</vt:lpstr>
      <vt:lpstr>Objectif</vt:lpstr>
      <vt:lpstr>Classes Utilisateur/Adresse</vt:lpstr>
      <vt:lpstr>Classe UtilisateurService</vt:lpstr>
      <vt:lpstr>Refactoriser pour retourner  un Optional&lt;Utilisateur&gt;</vt:lpstr>
      <vt:lpstr>Afficher la ville d’un utilisateur si elle est disponible</vt:lpstr>
      <vt:lpstr>Fournir une valeur par défaut si l’adresse ou la ville est absente</vt:lpstr>
      <vt:lpstr>Lever une exception personnalisée si la ville est absente</vt:lpstr>
      <vt:lpstr>Création d’un Optional</vt:lpstr>
      <vt:lpstr>Vérification de la présence d’une valeur avec isPresent() et ifPresent()</vt:lpstr>
      <vt:lpstr>En résumé</vt:lpstr>
      <vt:lpstr>Transformation de la valeur avec map()</vt:lpstr>
      <vt:lpstr>Transformation de la valeur avec flatMap()</vt:lpstr>
      <vt:lpstr>Gérer les exceptions avec Optional</vt:lpstr>
      <vt:lpstr>L’API Process (JDK 9 et plus) Introduction</vt:lpstr>
      <vt:lpstr>Principaux rôles et fonctionnalités</vt:lpstr>
      <vt:lpstr>Amélioration de la gestion des processus enfants</vt:lpstr>
      <vt:lpstr>Nouvelle interface ProcessHandle</vt:lpstr>
      <vt:lpstr>Notification et surveillance des processus</vt:lpstr>
      <vt:lpstr>Accès aux métadonnées des processus</vt:lpstr>
      <vt:lpstr>Support des processus parents et enfants</vt:lpstr>
      <vt:lpstr>Avantages principaux </vt:lpstr>
      <vt:lpstr>Cas D’utilisation</vt:lpstr>
      <vt:lpstr>Lancer des applications externes</vt:lpstr>
      <vt:lpstr>Surveillance d'un processus enfant</vt:lpstr>
      <vt:lpstr>Automatisation de tâches système</vt:lpstr>
      <vt:lpstr>Monitoring des processus système</vt:lpstr>
      <vt:lpstr>Gestion des processus parents et enfants dans des applications multi-processus</vt:lpstr>
      <vt:lpstr>Exécution sécurisée de commandes système</vt:lpstr>
      <vt:lpstr>Kill ou redémarrage de processus spécifiques</vt:lpstr>
      <vt:lpstr>Planification de tâches asynchrones</vt:lpstr>
      <vt:lpstr>Conclusion</vt:lpstr>
      <vt:lpstr>TP</vt:lpstr>
      <vt:lpstr>Atelier API Process</vt:lpstr>
      <vt:lpstr>Lancer un processus externe</vt:lpstr>
      <vt:lpstr>Lister tous les processus en cours</vt:lpstr>
      <vt:lpstr>Processus JAVA</vt:lpstr>
      <vt:lpstr>Afficher les informations détaillées d’un processus</vt:lpstr>
      <vt:lpstr>afficherInfos(ProcessHandle)</vt:lpstr>
      <vt:lpstr>Terminer un processus donné  (avec confirmation)</vt:lpstr>
      <vt:lpstr>Tuer Processus</vt:lpstr>
      <vt:lpstr>Conclusion</vt:lpstr>
      <vt:lpstr>Les bonnes pratiques</vt:lpstr>
      <vt:lpstr>Le système de modules (JDK 9 et plus)</vt:lpstr>
      <vt:lpstr>Définition et objectifs</vt:lpstr>
      <vt:lpstr>Pourquoi un système de modules ?</vt:lpstr>
      <vt:lpstr>Concepts de base de la modularité dans le JDK 9</vt:lpstr>
      <vt:lpstr>Fonctionnement du système de modules</vt:lpstr>
      <vt:lpstr>Avantages clés pour les développeurs et l'entreprise</vt:lpstr>
      <vt:lpstr>Étapes pratiques pour créer un projet modulaire</vt:lpstr>
      <vt:lpstr>Cas d'utilisation concret</vt:lpstr>
      <vt:lpstr>Migration des projets existants vers le système de modules</vt:lpstr>
      <vt:lpstr>Impact du système de modules</vt:lpstr>
      <vt:lpstr>Exemple</vt:lpstr>
      <vt:lpstr>Déclaration des Modules</vt:lpstr>
      <vt:lpstr>Exemple : module-info.java</vt:lpstr>
      <vt:lpstr>Mots Clés</vt:lpstr>
      <vt:lpstr>Exemple : Une application simple avec deux modules</vt:lpstr>
      <vt:lpstr>Code des modules</vt:lpstr>
      <vt:lpstr>Code des modules</vt:lpstr>
      <vt:lpstr>Compilation et exécution</vt:lpstr>
      <vt:lpstr>Module-info.java</vt:lpstr>
      <vt:lpstr>Emplacement du fichier module-info.java</vt:lpstr>
      <vt:lpstr>Structure du fichier module-info.java</vt:lpstr>
      <vt:lpstr>Règles et bonnes pratiques</vt:lpstr>
      <vt:lpstr>Graphe de Dépendances Description</vt:lpstr>
      <vt:lpstr>ROLES GRAPH DE DEPENDANCE</vt:lpstr>
      <vt:lpstr>Détection des dépendances circulaires</vt:lpstr>
      <vt:lpstr>Optimisation du chargement</vt:lpstr>
      <vt:lpstr>Encapsulation stricte</vt:lpstr>
      <vt:lpstr>Résolution dynamique des dépendances</vt:lpstr>
      <vt:lpstr>Sécurité et maintenabilité</vt:lpstr>
      <vt:lpstr>Facilitation des outils d’analyse et d’optimisation</vt:lpstr>
      <vt:lpstr>Graphe de Dépendances</vt:lpstr>
      <vt:lpstr>Conclusion</vt:lpstr>
      <vt:lpstr>Étapes pour lancer une application modulaire</vt:lpstr>
      <vt:lpstr>Étape 1 : Organisation des modules</vt:lpstr>
      <vt:lpstr>Étape 2 : Compilation</vt:lpstr>
      <vt:lpstr>Étape 3 : Exécution</vt:lpstr>
      <vt:lpstr>Résolution des erreurs courantes</vt:lpstr>
      <vt:lpstr>Points clés à retenir</vt:lpstr>
      <vt:lpstr>Packaging des Modules</vt:lpstr>
      <vt:lpstr>Avantages du Packaging et Exécution des Modules</vt:lpstr>
      <vt:lpstr>Structure explicite</vt:lpstr>
      <vt:lpstr>Réduction des conflits de classpath </vt:lpstr>
      <vt:lpstr>Sécurité améliorée</vt:lpstr>
      <vt:lpstr>Optimisation des performances</vt:lpstr>
      <vt:lpstr> Extension facile </vt:lpstr>
      <vt:lpstr>Processus</vt:lpstr>
      <vt:lpstr>Structure du module path</vt:lpstr>
      <vt:lpstr>Résolution des dépendances au runtime</vt:lpstr>
      <vt:lpstr>Exécution en mode modulaire</vt:lpstr>
      <vt:lpstr>Packaging et Exécution des Modules</vt:lpstr>
      <vt:lpstr>Conclusion</vt:lpstr>
      <vt:lpstr>Encapsulation Forte et Accessibilité</vt:lpstr>
      <vt:lpstr>Evolution</vt:lpstr>
      <vt:lpstr>Java 9 (2017)</vt:lpstr>
      <vt:lpstr>Java 10 (2018)</vt:lpstr>
      <vt:lpstr>Java 11 (2018)</vt:lpstr>
      <vt:lpstr>Java 12 (2019)</vt:lpstr>
      <vt:lpstr>Java 13 (2019)</vt:lpstr>
      <vt:lpstr>Java 14 (2020)</vt:lpstr>
      <vt:lpstr>Java 15 (2020)</vt:lpstr>
      <vt:lpstr>Java 16 (2021)</vt:lpstr>
      <vt:lpstr>Java 17 (2021) - LTS (Long-Term Support)</vt:lpstr>
      <vt:lpstr>Java 18 (2022)</vt:lpstr>
      <vt:lpstr>Java 19 (2022)</vt:lpstr>
      <vt:lpstr>Java 20 (2023)</vt:lpstr>
      <vt:lpstr>Java 21 (2023) - LTS</vt:lpstr>
      <vt:lpstr>Java 22 (2024)</vt:lpstr>
      <vt:lpstr>Java 23 (2025)</vt:lpstr>
      <vt:lpstr>Atelier 1 Création d'une application Java modulaire</vt:lpstr>
      <vt:lpstr>Contexte du TP</vt:lpstr>
      <vt:lpstr>Etapes de mise en place</vt:lpstr>
      <vt:lpstr>Structure des répertoires</vt:lpstr>
      <vt:lpstr>Description des modules</vt:lpstr>
      <vt:lpstr>Étape 2 : Développement</vt:lpstr>
      <vt:lpstr>Module com.app.utils</vt:lpstr>
      <vt:lpstr>Module com.app.services</vt:lpstr>
      <vt:lpstr>Module com.app.main</vt:lpstr>
      <vt:lpstr>Étape 3 : Compilation et exécution</vt:lpstr>
      <vt:lpstr>Exécuter l'application</vt:lpstr>
      <vt:lpstr>Étape 4 : Extensions possibles</vt:lpstr>
      <vt:lpstr>Architecture</vt:lpstr>
      <vt:lpstr>Finalisation Projet Maven avec les modules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 Nouveautés des versions 8 à 22</dc:title>
  <dc:creator>admin</dc:creator>
  <cp:lastModifiedBy>admin</cp:lastModifiedBy>
  <cp:revision>476</cp:revision>
  <dcterms:created xsi:type="dcterms:W3CDTF">2024-12-19T08:53:06Z</dcterms:created>
  <dcterms:modified xsi:type="dcterms:W3CDTF">2025-09-16T09:51:53Z</dcterms:modified>
</cp:coreProperties>
</file>