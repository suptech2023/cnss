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75" r:id="rId11"/>
    <p:sldId id="276" r:id="rId12"/>
    <p:sldId id="264" r:id="rId13"/>
    <p:sldId id="265" r:id="rId14"/>
    <p:sldId id="277" r:id="rId15"/>
    <p:sldId id="278" r:id="rId16"/>
    <p:sldId id="266" r:id="rId17"/>
    <p:sldId id="267" r:id="rId18"/>
    <p:sldId id="283" r:id="rId19"/>
    <p:sldId id="284" r:id="rId20"/>
    <p:sldId id="285" r:id="rId21"/>
    <p:sldId id="286" r:id="rId22"/>
    <p:sldId id="268" r:id="rId23"/>
    <p:sldId id="269" r:id="rId24"/>
    <p:sldId id="279" r:id="rId25"/>
    <p:sldId id="280" r:id="rId26"/>
    <p:sldId id="270" r:id="rId27"/>
    <p:sldId id="271" r:id="rId28"/>
    <p:sldId id="281" r:id="rId29"/>
    <p:sldId id="282" r:id="rId30"/>
    <p:sldId id="273" r:id="rId31"/>
    <p:sldId id="28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6EE328-6AFF-436B-881F-213D56084544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dirty="0"/>
              <a:t>9/14/2025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2E37674-C1BA-4107-9B06-6D4CAC3A3DF5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2.wdp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fr-FR" sz="4000" dirty="0"/>
              <a:t>Les Bonnes Pratiques de Conception Orientée Objet avec SOLID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39047" y="5026117"/>
            <a:ext cx="8969339" cy="1069848"/>
          </a:xfrm>
        </p:spPr>
        <p:txBody>
          <a:bodyPr anchor="ctr">
            <a:normAutofit/>
          </a:bodyPr>
          <a:lstStyle/>
          <a:p>
            <a:r>
              <a:rPr lang="fr-FR" sz="2400" b="1" dirty="0"/>
              <a:t>« Un code bien écrit est lu mille fois, mais écrit une seule. »</a:t>
            </a:r>
          </a:p>
        </p:txBody>
      </p:sp>
    </p:spTree>
    <p:extLst>
      <p:ext uri="{BB962C8B-B14F-4D97-AF65-F5344CB8AC3E}">
        <p14:creationId xmlns:p14="http://schemas.microsoft.com/office/powerpoint/2010/main" val="77498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Objectif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Comprendre les principes </a:t>
            </a:r>
            <a:r>
              <a:rPr lang="fr-FR" sz="3200" b="1" dirty="0"/>
              <a:t>SOLID</a:t>
            </a:r>
            <a:r>
              <a:rPr lang="fr-FR" sz="3200" dirty="0"/>
              <a:t>, pourquoi ils sont essentiels à la conception orientée objet, et comment les appliquer efficacement dans le contexte des nouveautés Java (8 à 24).</a:t>
            </a:r>
          </a:p>
        </p:txBody>
      </p:sp>
    </p:spTree>
    <p:extLst>
      <p:ext uri="{BB962C8B-B14F-4D97-AF65-F5344CB8AC3E}">
        <p14:creationId xmlns:p14="http://schemas.microsoft.com/office/powerpoint/2010/main" val="3802017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351068"/>
            <a:ext cx="10058400" cy="64552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Introduction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818526"/>
            <a:ext cx="10058400" cy="435367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3200" dirty="0"/>
              <a:t>Un bon logiciel n’est pas seulement fait pour fonctionner. Il est pensé pour </a:t>
            </a:r>
            <a:r>
              <a:rPr lang="fr-FR" sz="3200" dirty="0" smtClean="0"/>
              <a:t>:</a:t>
            </a:r>
          </a:p>
          <a:p>
            <a:pPr lvl="2" algn="just">
              <a:lnSpc>
                <a:spcPct val="150000"/>
              </a:lnSpc>
            </a:pPr>
            <a:r>
              <a:rPr lang="fr-FR" sz="2600" dirty="0"/>
              <a:t>Être </a:t>
            </a:r>
            <a:r>
              <a:rPr lang="fr-FR" sz="2600" b="1" dirty="0" smtClean="0"/>
              <a:t>maintenable</a:t>
            </a:r>
            <a:endParaRPr lang="fr-FR" sz="2600" dirty="0" smtClean="0"/>
          </a:p>
          <a:p>
            <a:pPr lvl="2" algn="just">
              <a:lnSpc>
                <a:spcPct val="150000"/>
              </a:lnSpc>
            </a:pPr>
            <a:r>
              <a:rPr lang="fr-FR" sz="2600" dirty="0" smtClean="0"/>
              <a:t>Évolutif</a:t>
            </a:r>
          </a:p>
          <a:p>
            <a:pPr lvl="2" algn="just">
              <a:lnSpc>
                <a:spcPct val="150000"/>
              </a:lnSpc>
            </a:pPr>
            <a:r>
              <a:rPr lang="fr-FR" sz="2600" dirty="0" smtClean="0"/>
              <a:t>Compréhensible</a:t>
            </a:r>
          </a:p>
          <a:p>
            <a:pPr lvl="2" algn="just">
              <a:lnSpc>
                <a:spcPct val="150000"/>
              </a:lnSpc>
            </a:pPr>
            <a:r>
              <a:rPr lang="fr-FR" sz="2600" dirty="0"/>
              <a:t>Testable</a:t>
            </a:r>
          </a:p>
        </p:txBody>
      </p:sp>
    </p:spTree>
    <p:extLst>
      <p:ext uri="{BB962C8B-B14F-4D97-AF65-F5344CB8AC3E}">
        <p14:creationId xmlns:p14="http://schemas.microsoft.com/office/powerpoint/2010/main" val="156297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Problématique Rencontrée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Avez-vous déjà repris le code de quelqu’un d’autre et regretté que ce développeur n’ait pas suivi des bonnes pratiques </a:t>
            </a:r>
            <a:r>
              <a:rPr lang="fr-FR" sz="3200" dirty="0" smtClean="0"/>
              <a:t>?</a:t>
            </a:r>
          </a:p>
          <a:p>
            <a:pPr algn="just">
              <a:lnSpc>
                <a:spcPct val="200000"/>
              </a:lnSpc>
            </a:pPr>
            <a:r>
              <a:rPr lang="fr-FR" sz="3200" dirty="0" smtClean="0"/>
              <a:t>Impact sur le Rendement? Adaptation? Amélioration?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498192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66134"/>
            <a:ext cx="10058400" cy="1046218"/>
          </a:xfrm>
        </p:spPr>
        <p:txBody>
          <a:bodyPr>
            <a:normAutofit/>
          </a:bodyPr>
          <a:lstStyle/>
          <a:p>
            <a:pPr algn="ctr"/>
            <a:r>
              <a:rPr lang="fr-FR" sz="4400" dirty="0"/>
              <a:t>Pourquoi les Bonnes Pratiques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67107" y="1212352"/>
            <a:ext cx="10058400" cy="44872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Constats fréquents :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 smtClean="0"/>
              <a:t>Difficultés </a:t>
            </a:r>
            <a:r>
              <a:rPr lang="fr-FR" sz="2000" dirty="0"/>
              <a:t>de </a:t>
            </a:r>
            <a:r>
              <a:rPr lang="fr-FR" sz="2000" dirty="0" smtClean="0"/>
              <a:t>maintenance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 smtClean="0"/>
              <a:t>Code </a:t>
            </a:r>
            <a:r>
              <a:rPr lang="fr-FR" sz="2000" dirty="0"/>
              <a:t>spaghetti difficile à </a:t>
            </a:r>
            <a:r>
              <a:rPr lang="fr-FR" sz="2000" dirty="0" smtClean="0"/>
              <a:t>tester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 smtClean="0"/>
              <a:t>Faible réutilisabilité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D’où l’importance de techniques éprouvées, notamment </a:t>
            </a:r>
            <a:r>
              <a:rPr lang="fr-FR" sz="2400" b="1" dirty="0"/>
              <a:t>les principes SOLID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 smtClean="0"/>
              <a:t>À </a:t>
            </a:r>
            <a:r>
              <a:rPr lang="fr-FR" sz="2400" dirty="0"/>
              <a:t>titre d’exemple : Java 8 introduit des outils (</a:t>
            </a:r>
            <a:r>
              <a:rPr lang="fr-FR" sz="2400" b="1" dirty="0" err="1"/>
              <a:t>lambdas</a:t>
            </a:r>
            <a:r>
              <a:rPr lang="fr-FR" sz="2400" dirty="0"/>
              <a:t>, </a:t>
            </a:r>
            <a:r>
              <a:rPr lang="fr-FR" sz="2400" b="1" dirty="0"/>
              <a:t>interfaces</a:t>
            </a:r>
            <a:r>
              <a:rPr lang="fr-FR" sz="2400" dirty="0"/>
              <a:t> </a:t>
            </a:r>
            <a:r>
              <a:rPr lang="fr-FR" sz="2400" b="1" dirty="0"/>
              <a:t>fonctionnelles</a:t>
            </a:r>
            <a:r>
              <a:rPr lang="fr-FR" sz="2400" dirty="0"/>
              <a:t>) qui permettent d'appliquer ces principes plus facilement.</a:t>
            </a:r>
          </a:p>
        </p:txBody>
      </p:sp>
    </p:spTree>
    <p:extLst>
      <p:ext uri="{BB962C8B-B14F-4D97-AF65-F5344CB8AC3E}">
        <p14:creationId xmlns:p14="http://schemas.microsoft.com/office/powerpoint/2010/main" val="176161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5" y="361342"/>
            <a:ext cx="10058400" cy="768815"/>
          </a:xfrm>
        </p:spPr>
        <p:txBody>
          <a:bodyPr/>
          <a:lstStyle/>
          <a:p>
            <a:pPr algn="ctr"/>
            <a:r>
              <a:rPr lang="fr-FR" dirty="0"/>
              <a:t>Les Principes SOLID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1111" y="1520576"/>
            <a:ext cx="9935110" cy="42021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784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75706"/>
            <a:ext cx="10058400" cy="820186"/>
          </a:xfrm>
        </p:spPr>
        <p:txBody>
          <a:bodyPr/>
          <a:lstStyle/>
          <a:p>
            <a:pPr algn="ctr"/>
            <a:r>
              <a:rPr lang="fr-FR" dirty="0"/>
              <a:t>Single </a:t>
            </a:r>
            <a:r>
              <a:rPr lang="fr-FR" dirty="0" err="1"/>
              <a:t>Responsibility</a:t>
            </a:r>
            <a:r>
              <a:rPr lang="fr-FR" dirty="0"/>
              <a:t> </a:t>
            </a:r>
            <a:r>
              <a:rPr lang="fr-FR" dirty="0" err="1"/>
              <a:t>Principle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469204"/>
            <a:ext cx="10058400" cy="47029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400" b="1" dirty="0"/>
              <a:t>Définition</a:t>
            </a:r>
            <a:r>
              <a:rPr lang="fr-FR" sz="2400" dirty="0"/>
              <a:t> : Une classe ne doit avoir qu’une seule raison de changer</a:t>
            </a:r>
            <a:r>
              <a:rPr lang="fr-FR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fr-FR" sz="2400" b="1" dirty="0"/>
              <a:t>Bon</a:t>
            </a:r>
            <a:r>
              <a:rPr lang="fr-FR" sz="2400" dirty="0"/>
              <a:t> exemple </a:t>
            </a:r>
            <a:r>
              <a:rPr lang="fr-FR" sz="2400" dirty="0" smtClean="0"/>
              <a:t>:</a:t>
            </a:r>
          </a:p>
          <a:p>
            <a:pPr>
              <a:lnSpc>
                <a:spcPct val="150000"/>
              </a:lnSpc>
            </a:pPr>
            <a:endParaRPr lang="fr-FR" sz="2400" dirty="0"/>
          </a:p>
          <a:p>
            <a:pPr>
              <a:lnSpc>
                <a:spcPct val="150000"/>
              </a:lnSpc>
            </a:pPr>
            <a:endParaRPr lang="fr-FR" sz="2400" dirty="0" smtClean="0"/>
          </a:p>
          <a:p>
            <a:pPr>
              <a:lnSpc>
                <a:spcPct val="150000"/>
              </a:lnSpc>
            </a:pPr>
            <a:r>
              <a:rPr lang="fr-FR" sz="2400" b="1" dirty="0"/>
              <a:t>Mauvais</a:t>
            </a:r>
            <a:r>
              <a:rPr lang="fr-FR" sz="2400" dirty="0"/>
              <a:t> exemple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98275" y="2074803"/>
            <a:ext cx="6605887" cy="22095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98275" y="4486677"/>
            <a:ext cx="6605887" cy="12257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687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Exercice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b="1" dirty="0" err="1"/>
              <a:t>Refactoriser</a:t>
            </a:r>
            <a:r>
              <a:rPr lang="fr-FR" sz="2800" dirty="0"/>
              <a:t> une classe </a:t>
            </a:r>
            <a:r>
              <a:rPr lang="fr-FR" sz="2800" b="1" dirty="0" err="1"/>
              <a:t>UserManager</a:t>
            </a:r>
            <a:r>
              <a:rPr lang="fr-FR" sz="2800" dirty="0"/>
              <a:t> qui gère à la fois l’authentification et la persistance.</a:t>
            </a:r>
          </a:p>
        </p:txBody>
      </p:sp>
    </p:spTree>
    <p:extLst>
      <p:ext uri="{BB962C8B-B14F-4D97-AF65-F5344CB8AC3E}">
        <p14:creationId xmlns:p14="http://schemas.microsoft.com/office/powerpoint/2010/main" val="409000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Code initial (non conforme SRP)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2911" y="2291138"/>
            <a:ext cx="7983021" cy="29384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501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96955"/>
            <a:ext cx="10058400" cy="799638"/>
          </a:xfrm>
        </p:spPr>
        <p:txBody>
          <a:bodyPr/>
          <a:lstStyle/>
          <a:p>
            <a:pPr algn="ctr"/>
            <a:r>
              <a:rPr lang="fr-FR" dirty="0"/>
              <a:t>Code corrigé (conforme SRP)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0301" y="1150706"/>
            <a:ext cx="9041259" cy="51165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955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4" y="340794"/>
            <a:ext cx="10058400" cy="840734"/>
          </a:xfrm>
        </p:spPr>
        <p:txBody>
          <a:bodyPr>
            <a:normAutofit/>
          </a:bodyPr>
          <a:lstStyle/>
          <a:p>
            <a:pPr algn="ctr"/>
            <a:r>
              <a:rPr lang="fr-FR" sz="4400" dirty="0" smtClean="0"/>
              <a:t>Customisation de </a:t>
            </a:r>
            <a:r>
              <a:rPr lang="fr-FR" sz="4400" dirty="0" err="1" smtClean="0"/>
              <a:t>UserManager</a:t>
            </a:r>
            <a:endParaRPr lang="fr-FR" sz="44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16476" y="1448656"/>
            <a:ext cx="7674795" cy="44589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584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309971"/>
            <a:ext cx="10058400" cy="881831"/>
          </a:xfrm>
        </p:spPr>
        <p:txBody>
          <a:bodyPr/>
          <a:lstStyle/>
          <a:p>
            <a:pPr algn="ctr"/>
            <a:r>
              <a:rPr lang="fr-FR" dirty="0"/>
              <a:t>O – Open/</a:t>
            </a:r>
            <a:r>
              <a:rPr lang="fr-FR" dirty="0" err="1"/>
              <a:t>Closed</a:t>
            </a:r>
            <a:r>
              <a:rPr lang="fr-FR" dirty="0"/>
              <a:t> </a:t>
            </a:r>
            <a:r>
              <a:rPr lang="fr-FR" dirty="0" err="1"/>
              <a:t>Principle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325367"/>
            <a:ext cx="10058400" cy="460025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b="1" dirty="0"/>
              <a:t>Définition</a:t>
            </a:r>
            <a:r>
              <a:rPr lang="fr-FR" sz="2800" dirty="0"/>
              <a:t> : Le code doit être extensible sans modifier les classes existantes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800" dirty="0"/>
              <a:t>Exemple avec Shape et </a:t>
            </a:r>
            <a:r>
              <a:rPr lang="fr-FR" sz="2800" dirty="0" err="1"/>
              <a:t>AreaCalculator</a:t>
            </a:r>
            <a:r>
              <a:rPr lang="fr-FR" sz="2800" dirty="0"/>
              <a:t>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56881" y="3486339"/>
            <a:ext cx="8116583" cy="28630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480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Exercice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600" dirty="0"/>
              <a:t>Ajouter une nouvelle forme </a:t>
            </a:r>
            <a:r>
              <a:rPr lang="fr-FR" sz="3600" b="1" dirty="0"/>
              <a:t>Triangle</a:t>
            </a:r>
            <a:r>
              <a:rPr lang="fr-FR" sz="3600" dirty="0"/>
              <a:t> sans modifier les classes existantes.</a:t>
            </a:r>
          </a:p>
        </p:txBody>
      </p:sp>
    </p:spTree>
    <p:extLst>
      <p:ext uri="{BB962C8B-B14F-4D97-AF65-F5344CB8AC3E}">
        <p14:creationId xmlns:p14="http://schemas.microsoft.com/office/powerpoint/2010/main" val="383112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4" y="248326"/>
            <a:ext cx="10058400" cy="789364"/>
          </a:xfrm>
        </p:spPr>
        <p:txBody>
          <a:bodyPr/>
          <a:lstStyle/>
          <a:p>
            <a:pPr algn="ctr"/>
            <a:r>
              <a:rPr lang="fr-FR" dirty="0"/>
              <a:t>Code initial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84962" y="1428108"/>
            <a:ext cx="9133726" cy="46952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788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71326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fr-FR" sz="2800" dirty="0"/>
              <a:t>Ajout d’un Triangle sans modifier </a:t>
            </a:r>
            <a:r>
              <a:rPr lang="fr-FR" sz="2800" dirty="0" err="1"/>
              <a:t>AreaCalculator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5568592"/>
            <a:ext cx="10058400" cy="603607"/>
          </a:xfrm>
        </p:spPr>
        <p:txBody>
          <a:bodyPr/>
          <a:lstStyle/>
          <a:p>
            <a:r>
              <a:rPr lang="fr-FR" dirty="0"/>
              <a:t>L’extension s’est faite </a:t>
            </a:r>
            <a:r>
              <a:rPr lang="fr-FR" b="1" dirty="0"/>
              <a:t>sans modifier les classes existantes</a:t>
            </a:r>
            <a:r>
              <a:rPr lang="fr-FR" dirty="0"/>
              <a:t>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05510" y="1500027"/>
            <a:ext cx="8753582" cy="34212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698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99638"/>
          </a:xfrm>
        </p:spPr>
        <p:txBody>
          <a:bodyPr>
            <a:normAutofit/>
          </a:bodyPr>
          <a:lstStyle/>
          <a:p>
            <a:pPr algn="ctr"/>
            <a:r>
              <a:rPr lang="fr-FR" sz="4400" dirty="0"/>
              <a:t>L – </a:t>
            </a:r>
            <a:r>
              <a:rPr lang="fr-FR" sz="4400" dirty="0" err="1"/>
              <a:t>Liskov</a:t>
            </a:r>
            <a:r>
              <a:rPr lang="fr-FR" sz="4400" dirty="0"/>
              <a:t> Substitution </a:t>
            </a:r>
            <a:r>
              <a:rPr lang="fr-FR" sz="4400" dirty="0" err="1"/>
              <a:t>Principle</a:t>
            </a: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726058"/>
            <a:ext cx="10058400" cy="444614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b="1" dirty="0"/>
              <a:t>Définition</a:t>
            </a:r>
            <a:r>
              <a:rPr lang="fr-FR" dirty="0"/>
              <a:t> : Une </a:t>
            </a:r>
            <a:r>
              <a:rPr lang="fr-FR" b="1" dirty="0"/>
              <a:t>sous-classe</a:t>
            </a:r>
            <a:r>
              <a:rPr lang="fr-FR" dirty="0"/>
              <a:t> doit pouvoir remplacer sa </a:t>
            </a:r>
            <a:r>
              <a:rPr lang="fr-FR" b="1" dirty="0" err="1"/>
              <a:t>super-classe</a:t>
            </a:r>
            <a:r>
              <a:rPr lang="fr-FR" dirty="0"/>
              <a:t> sans effet de bord</a:t>
            </a:r>
            <a:r>
              <a:rPr lang="fr-FR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Exemple typique de violation </a:t>
            </a:r>
            <a:r>
              <a:rPr lang="fr-FR" dirty="0" smtClean="0"/>
              <a:t>:</a:t>
            </a:r>
          </a:p>
          <a:p>
            <a:pPr algn="just">
              <a:lnSpc>
                <a:spcPct val="150000"/>
              </a:lnSpc>
            </a:pPr>
            <a:endParaRPr lang="fr-FR" dirty="0"/>
          </a:p>
          <a:p>
            <a:pPr algn="just">
              <a:lnSpc>
                <a:spcPct val="150000"/>
              </a:lnSpc>
            </a:pPr>
            <a:r>
              <a:rPr lang="fr-FR" dirty="0"/>
              <a:t>Bonne approche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59676" y="2570489"/>
            <a:ext cx="6965879" cy="12309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59676" y="4027919"/>
            <a:ext cx="6965879" cy="17358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554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Exercice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Corriger une hiérarchie Animal → </a:t>
            </a:r>
            <a:r>
              <a:rPr lang="fr-FR" sz="3200" b="1" dirty="0"/>
              <a:t>Cat/Fish</a:t>
            </a:r>
            <a:r>
              <a:rPr lang="fr-FR" sz="3200" dirty="0"/>
              <a:t> où la méthode </a:t>
            </a:r>
            <a:r>
              <a:rPr lang="fr-FR" sz="3200" b="1" dirty="0" err="1"/>
              <a:t>walk</a:t>
            </a:r>
            <a:r>
              <a:rPr lang="fr-FR" sz="3200" b="1" dirty="0"/>
              <a:t>() </a:t>
            </a:r>
            <a:r>
              <a:rPr lang="fr-FR" sz="3200" dirty="0"/>
              <a:t>pose problème.</a:t>
            </a:r>
          </a:p>
        </p:txBody>
      </p:sp>
    </p:spTree>
    <p:extLst>
      <p:ext uri="{BB962C8B-B14F-4D97-AF65-F5344CB8AC3E}">
        <p14:creationId xmlns:p14="http://schemas.microsoft.com/office/powerpoint/2010/main" val="1675233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66134"/>
            <a:ext cx="10058400" cy="830460"/>
          </a:xfrm>
        </p:spPr>
        <p:txBody>
          <a:bodyPr/>
          <a:lstStyle/>
          <a:p>
            <a:pPr algn="ctr"/>
            <a:r>
              <a:rPr lang="fr-FR" dirty="0"/>
              <a:t>Code initial (violant LSP)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29492" y="1160980"/>
            <a:ext cx="7715891" cy="47431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5821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Pourquoi c’est un problème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Le programme suppose que tous les </a:t>
            </a:r>
            <a:r>
              <a:rPr lang="fr-FR" sz="2800" dirty="0" smtClean="0"/>
              <a:t>Animaux </a:t>
            </a:r>
            <a:r>
              <a:rPr lang="fr-FR" sz="2800" dirty="0"/>
              <a:t>peuvent </a:t>
            </a:r>
            <a:r>
              <a:rPr lang="fr-FR" sz="2800" dirty="0" smtClean="0"/>
              <a:t>marcher (</a:t>
            </a:r>
            <a:r>
              <a:rPr lang="fr-FR" sz="2800" b="1" dirty="0" err="1" smtClean="0"/>
              <a:t>walk</a:t>
            </a:r>
            <a:r>
              <a:rPr lang="fr-FR" sz="2800" b="1" dirty="0" smtClean="0"/>
              <a:t>())</a:t>
            </a:r>
            <a:r>
              <a:rPr lang="fr-FR" sz="2800" dirty="0" smtClean="0"/>
              <a:t>, </a:t>
            </a:r>
            <a:r>
              <a:rPr lang="fr-FR" sz="2800" dirty="0"/>
              <a:t>ce qui n’est pas vrai pour les poissons. Cela viole le principe de substitution de </a:t>
            </a:r>
            <a:r>
              <a:rPr lang="fr-FR" sz="2800" b="1" dirty="0" err="1"/>
              <a:t>Liskov</a:t>
            </a:r>
            <a:r>
              <a:rPr lang="fr-FR" sz="2800" dirty="0"/>
              <a:t>, car </a:t>
            </a:r>
            <a:r>
              <a:rPr lang="fr-FR" sz="2800" dirty="0" smtClean="0"/>
              <a:t>remplacer </a:t>
            </a:r>
            <a:r>
              <a:rPr lang="fr-FR" sz="2800" dirty="0"/>
              <a:t>Animal par </a:t>
            </a:r>
            <a:r>
              <a:rPr lang="fr-FR" sz="2800" b="1" dirty="0"/>
              <a:t>Fish</a:t>
            </a:r>
            <a:r>
              <a:rPr lang="fr-FR" sz="2800" dirty="0"/>
              <a:t> casse le comportement attendu.</a:t>
            </a:r>
          </a:p>
        </p:txBody>
      </p:sp>
    </p:spTree>
    <p:extLst>
      <p:ext uri="{BB962C8B-B14F-4D97-AF65-F5344CB8AC3E}">
        <p14:creationId xmlns:p14="http://schemas.microsoft.com/office/powerpoint/2010/main" val="831516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800" dirty="0" smtClean="0"/>
              <a:t>Abstraction</a:t>
            </a:r>
            <a:endParaRPr lang="fr-FR" sz="280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/>
              <a:t>Étape 1 : Introduire une abstraction appropriée</a:t>
            </a: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half" idx="2"/>
          </p:nvPr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20456" y="3189767"/>
            <a:ext cx="3774558" cy="14949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Espace réservé du texte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/>
              <a:t>Spécialiser les comportements avec des sous-interfaces</a:t>
            </a:r>
          </a:p>
        </p:txBody>
      </p:sp>
      <p:pic>
        <p:nvPicPr>
          <p:cNvPr id="10" name="Espace réservé du contenu 9"/>
          <p:cNvPicPr>
            <a:picLocks noGrp="1" noChangeAspect="1"/>
          </p:cNvPicPr>
          <p:nvPr>
            <p:ph sz="quarter" idx="4"/>
          </p:nvPr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95994" y="3093019"/>
            <a:ext cx="4007236" cy="1615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4681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Implémentation &amp; Utilisation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/>
              <a:t>Implémentations concrètes</a:t>
            </a:r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sz="half" idx="2"/>
          </p:nvPr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66800" y="2743200"/>
            <a:ext cx="4542890" cy="36986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/>
              <a:t>Exemple d'utilisation sécurisée</a:t>
            </a: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quarter" idx="4"/>
          </p:nvPr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19298" y="2743199"/>
            <a:ext cx="4232953" cy="36986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282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I – Interface </a:t>
            </a:r>
            <a:r>
              <a:rPr lang="fr-FR" sz="4000" dirty="0" err="1"/>
              <a:t>Segregation</a:t>
            </a:r>
            <a:r>
              <a:rPr lang="fr-FR" sz="4000" dirty="0"/>
              <a:t> </a:t>
            </a:r>
            <a:r>
              <a:rPr lang="fr-FR" sz="4000" dirty="0" err="1"/>
              <a:t>Principle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Définition</a:t>
            </a:r>
            <a:r>
              <a:rPr lang="fr-FR" dirty="0"/>
              <a:t> : Il vaut mieux plusieurs interfaces spécifiques qu’une grosse interface</a:t>
            </a:r>
            <a:r>
              <a:rPr lang="fr-FR" dirty="0" smtClean="0"/>
              <a:t>.</a:t>
            </a:r>
          </a:p>
          <a:p>
            <a:r>
              <a:rPr lang="fr-FR" dirty="0"/>
              <a:t>Mauvais exemple </a:t>
            </a:r>
            <a:r>
              <a:rPr lang="fr-FR" dirty="0" smtClean="0"/>
              <a:t>:</a:t>
            </a:r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r>
              <a:rPr lang="fr-FR" dirty="0"/>
              <a:t>Bon exemple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934997" y="2614633"/>
            <a:ext cx="3791169" cy="16491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934997" y="4468059"/>
            <a:ext cx="3791169" cy="11827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291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Exercice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4000" dirty="0"/>
              <a:t>Découper une interface </a:t>
            </a:r>
            <a:r>
              <a:rPr lang="fr-FR" sz="4000" b="1" dirty="0" err="1"/>
              <a:t>SmartDevice</a:t>
            </a:r>
            <a:r>
              <a:rPr lang="fr-FR" sz="4000" dirty="0"/>
              <a:t> trop générique.</a:t>
            </a:r>
          </a:p>
        </p:txBody>
      </p:sp>
    </p:spTree>
    <p:extLst>
      <p:ext uri="{BB962C8B-B14F-4D97-AF65-F5344CB8AC3E}">
        <p14:creationId xmlns:p14="http://schemas.microsoft.com/office/powerpoint/2010/main" val="128305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Interface initiale (violant ISP)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14059" y="2301411"/>
            <a:ext cx="6369977" cy="25890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529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5" y="340794"/>
            <a:ext cx="10058400" cy="758541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Interfaces spécifiques et classes concrètes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5784" y="1158411"/>
            <a:ext cx="8424809" cy="45411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2558265" y="5859309"/>
            <a:ext cx="7256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Chaque classe </a:t>
            </a:r>
            <a:r>
              <a:rPr lang="fr-FR" b="1" dirty="0"/>
              <a:t>implémente uniquement les interfaces utiles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1184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789364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>D – </a:t>
            </a:r>
            <a:r>
              <a:rPr lang="fr-FR" sz="4000" dirty="0" err="1"/>
              <a:t>Dependency</a:t>
            </a:r>
            <a:r>
              <a:rPr lang="fr-FR" sz="4000" dirty="0"/>
              <a:t> Inversion </a:t>
            </a:r>
            <a:r>
              <a:rPr lang="fr-FR" sz="4000" dirty="0" err="1"/>
              <a:t>Principle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917723"/>
            <a:ext cx="10058400" cy="525447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b="1" dirty="0"/>
              <a:t>Définition</a:t>
            </a:r>
            <a:r>
              <a:rPr lang="fr-FR" sz="2400" dirty="0"/>
              <a:t> : Dépendre des </a:t>
            </a:r>
            <a:r>
              <a:rPr lang="fr-FR" sz="2400" b="1" dirty="0"/>
              <a:t>abstractions</a:t>
            </a:r>
            <a:r>
              <a:rPr lang="fr-FR" sz="2400" dirty="0"/>
              <a:t>, pas des implémentations concrètes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Mauvais code </a:t>
            </a:r>
            <a:r>
              <a:rPr lang="fr-FR" sz="2400" dirty="0" smtClean="0"/>
              <a:t>:</a:t>
            </a:r>
          </a:p>
          <a:p>
            <a:pPr algn="just">
              <a:lnSpc>
                <a:spcPct val="150000"/>
              </a:lnSpc>
            </a:pPr>
            <a:endParaRPr lang="fr-FR" sz="2400" dirty="0"/>
          </a:p>
          <a:p>
            <a:pPr algn="just">
              <a:lnSpc>
                <a:spcPct val="150000"/>
              </a:lnSpc>
            </a:pPr>
            <a:r>
              <a:rPr lang="fr-FR" sz="2400" dirty="0" smtClean="0"/>
              <a:t>Bon </a:t>
            </a:r>
            <a:r>
              <a:rPr lang="fr-FR" sz="2400" dirty="0"/>
              <a:t>code avec injection via abstraction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682380" y="1630025"/>
            <a:ext cx="4578042" cy="20395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682380" y="4134812"/>
            <a:ext cx="4578042" cy="24509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095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Exercice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600" dirty="0"/>
              <a:t>Réécrire un service pour utiliser une interface </a:t>
            </a:r>
            <a:r>
              <a:rPr lang="fr-FR" sz="3600" b="1" dirty="0" err="1"/>
              <a:t>NotificationService</a:t>
            </a:r>
            <a:r>
              <a:rPr lang="fr-FR" sz="3600" dirty="0"/>
              <a:t> avec implémentation </a:t>
            </a:r>
            <a:r>
              <a:rPr lang="fr-FR" sz="3600" b="1" dirty="0"/>
              <a:t>Email/SMS</a:t>
            </a:r>
            <a:r>
              <a:rPr lang="fr-FR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859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55305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Code initial (couplage fort)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46606" y="1623318"/>
            <a:ext cx="9102903" cy="44076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166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35311"/>
            <a:ext cx="10058400" cy="902379"/>
          </a:xfrm>
        </p:spPr>
        <p:txBody>
          <a:bodyPr>
            <a:normAutofit/>
          </a:bodyPr>
          <a:lstStyle/>
          <a:p>
            <a:pPr algn="ctr"/>
            <a:r>
              <a:rPr lang="fr-FR" sz="3200" dirty="0"/>
              <a:t>Code corrigé avec interface </a:t>
            </a:r>
            <a:r>
              <a:rPr lang="fr-FR" sz="3200" dirty="0" err="1"/>
              <a:t>NotificationService</a:t>
            </a:r>
            <a:endParaRPr lang="fr-FR" sz="3200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0301" y="1037690"/>
            <a:ext cx="8866598" cy="51345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383604" y="6267459"/>
            <a:ext cx="726513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</a:t>
            </a:r>
            <a:r>
              <a:rPr kumimoji="0" lang="fr-FR" altLang="fr-FR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NotificationManager</a:t>
            </a:r>
            <a:r>
              <a:rPr kumimoji="0" lang="fr-FR" altLang="fr-F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dépend d'une </a:t>
            </a:r>
            <a:r>
              <a:rPr kumimoji="0" lang="fr-FR" altLang="fr-F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abstraction</a:t>
            </a:r>
            <a:r>
              <a:rPr kumimoji="0" lang="fr-FR" altLang="fr-F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pas d’une implémentation concrète. </a:t>
            </a:r>
          </a:p>
        </p:txBody>
      </p:sp>
    </p:spTree>
    <p:extLst>
      <p:ext uri="{BB962C8B-B14F-4D97-AF65-F5344CB8AC3E}">
        <p14:creationId xmlns:p14="http://schemas.microsoft.com/office/powerpoint/2010/main" val="312752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22928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>Lien avec Java moderne (Java 8 à 24)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510301"/>
            <a:ext cx="10058400" cy="466189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b="1" dirty="0">
                <a:solidFill>
                  <a:srgbClr val="FF0000"/>
                </a:solidFill>
              </a:rPr>
              <a:t>Java 8</a:t>
            </a:r>
            <a:r>
              <a:rPr lang="fr-FR" sz="2400" dirty="0"/>
              <a:t> : </a:t>
            </a:r>
            <a:r>
              <a:rPr lang="fr-FR" sz="2400" b="1" dirty="0" err="1"/>
              <a:t>Lambdas</a:t>
            </a:r>
            <a:r>
              <a:rPr lang="fr-FR" sz="2400" dirty="0"/>
              <a:t> et interfaces fonctionnelles facilitent </a:t>
            </a:r>
            <a:r>
              <a:rPr lang="fr-FR" sz="2400" b="1" dirty="0"/>
              <a:t>DIP</a:t>
            </a:r>
            <a:r>
              <a:rPr lang="fr-FR" sz="2400" dirty="0"/>
              <a:t> et </a:t>
            </a:r>
            <a:r>
              <a:rPr lang="fr-FR" sz="2400" b="1" dirty="0" smtClean="0"/>
              <a:t>ISP</a:t>
            </a:r>
          </a:p>
          <a:p>
            <a:pPr algn="just">
              <a:lnSpc>
                <a:spcPct val="150000"/>
              </a:lnSpc>
            </a:pPr>
            <a:r>
              <a:rPr lang="fr-FR" sz="2400" b="1" dirty="0">
                <a:solidFill>
                  <a:srgbClr val="FF0000"/>
                </a:solidFill>
              </a:rPr>
              <a:t>Java 14+ </a:t>
            </a:r>
            <a:r>
              <a:rPr lang="fr-FR" sz="2400" dirty="0"/>
              <a:t>: </a:t>
            </a:r>
            <a:r>
              <a:rPr lang="fr-FR" sz="2400" b="1" dirty="0"/>
              <a:t>records</a:t>
            </a:r>
            <a:r>
              <a:rPr lang="fr-FR" sz="2400" dirty="0"/>
              <a:t>, </a:t>
            </a:r>
            <a:r>
              <a:rPr lang="fr-FR" sz="2400" b="1" dirty="0" err="1"/>
              <a:t>sealed</a:t>
            </a:r>
            <a:r>
              <a:rPr lang="fr-FR" sz="2400" dirty="0"/>
              <a:t> et </a:t>
            </a:r>
            <a:r>
              <a:rPr lang="fr-FR" sz="2400" b="1" dirty="0"/>
              <a:t>pattern</a:t>
            </a:r>
            <a:r>
              <a:rPr lang="fr-FR" sz="2400" dirty="0"/>
              <a:t> </a:t>
            </a:r>
            <a:r>
              <a:rPr lang="fr-FR" sz="2400" b="1" dirty="0" err="1"/>
              <a:t>matching</a:t>
            </a:r>
            <a:r>
              <a:rPr lang="fr-FR" sz="2400" dirty="0"/>
              <a:t> permettent un design plus </a:t>
            </a:r>
            <a:r>
              <a:rPr lang="fr-FR" sz="2400" dirty="0" smtClean="0"/>
              <a:t>sûr</a:t>
            </a:r>
          </a:p>
          <a:p>
            <a:pPr algn="just">
              <a:lnSpc>
                <a:spcPct val="150000"/>
              </a:lnSpc>
            </a:pPr>
            <a:r>
              <a:rPr lang="fr-FR" sz="2400" b="1" dirty="0">
                <a:solidFill>
                  <a:srgbClr val="FF0000"/>
                </a:solidFill>
              </a:rPr>
              <a:t>Java 17+ </a:t>
            </a:r>
            <a:r>
              <a:rPr lang="fr-FR" sz="2400" dirty="0"/>
              <a:t>: </a:t>
            </a:r>
            <a:r>
              <a:rPr lang="fr-FR" sz="2400" b="1" dirty="0" err="1"/>
              <a:t>sealed</a:t>
            </a:r>
            <a:r>
              <a:rPr lang="fr-FR" sz="2400" dirty="0"/>
              <a:t> </a:t>
            </a:r>
            <a:r>
              <a:rPr lang="fr-FR" sz="2400" b="1" dirty="0"/>
              <a:t>classes</a:t>
            </a:r>
            <a:r>
              <a:rPr lang="fr-FR" sz="2400" dirty="0"/>
              <a:t> renforcent </a:t>
            </a:r>
            <a:r>
              <a:rPr lang="fr-FR" sz="2400" b="1" dirty="0" smtClean="0"/>
              <a:t>LSP</a:t>
            </a:r>
          </a:p>
          <a:p>
            <a:pPr algn="just">
              <a:lnSpc>
                <a:spcPct val="150000"/>
              </a:lnSpc>
            </a:pPr>
            <a:r>
              <a:rPr lang="fr-FR" sz="2400" b="1" dirty="0">
                <a:solidFill>
                  <a:srgbClr val="FF0000"/>
                </a:solidFill>
              </a:rPr>
              <a:t>Java 21–24 </a:t>
            </a:r>
            <a:r>
              <a:rPr lang="fr-FR" sz="2400" dirty="0"/>
              <a:t>: les améliorations du </a:t>
            </a:r>
            <a:r>
              <a:rPr lang="fr-FR" sz="2400" b="1" dirty="0"/>
              <a:t>pattern </a:t>
            </a:r>
            <a:r>
              <a:rPr lang="fr-FR" sz="2400" b="1" dirty="0" err="1"/>
              <a:t>matching</a:t>
            </a:r>
            <a:r>
              <a:rPr lang="fr-FR" sz="2400" dirty="0"/>
              <a:t>, des scopes et des </a:t>
            </a:r>
            <a:r>
              <a:rPr lang="fr-FR" sz="2400" b="1" dirty="0" err="1"/>
              <a:t>virtual</a:t>
            </a:r>
            <a:r>
              <a:rPr lang="fr-FR" sz="2400" dirty="0"/>
              <a:t> </a:t>
            </a:r>
            <a:r>
              <a:rPr lang="fr-FR" sz="2400" b="1" dirty="0"/>
              <a:t>threads</a:t>
            </a:r>
            <a:r>
              <a:rPr lang="fr-FR" sz="2400" dirty="0"/>
              <a:t> facilitent le respect de </a:t>
            </a:r>
            <a:r>
              <a:rPr lang="fr-FR" sz="2400" b="1" dirty="0"/>
              <a:t>SOLID</a:t>
            </a:r>
            <a:r>
              <a:rPr lang="fr-FR" sz="2400" dirty="0"/>
              <a:t> dans les architectures modernes (ex. </a:t>
            </a:r>
            <a:r>
              <a:rPr lang="fr-FR" sz="2400" b="1" dirty="0" err="1"/>
              <a:t>microservices</a:t>
            </a:r>
            <a:r>
              <a:rPr lang="fr-F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58487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833" y="1994513"/>
            <a:ext cx="5710123" cy="231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9725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112</TotalTime>
  <Words>568</Words>
  <Application>Microsoft Office PowerPoint</Application>
  <PresentationFormat>Grand écran</PresentationFormat>
  <Paragraphs>84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7" baseType="lpstr">
      <vt:lpstr>Arial</vt:lpstr>
      <vt:lpstr>Arial Unicode MS</vt:lpstr>
      <vt:lpstr>Georgia</vt:lpstr>
      <vt:lpstr>Trebuchet MS</vt:lpstr>
      <vt:lpstr>Wingdings</vt:lpstr>
      <vt:lpstr>Type de bois</vt:lpstr>
      <vt:lpstr>Les Bonnes Pratiques de Conception Orientée Objet avec SOLID</vt:lpstr>
      <vt:lpstr>Objectif</vt:lpstr>
      <vt:lpstr>Introduction</vt:lpstr>
      <vt:lpstr>Problématique Rencontrée</vt:lpstr>
      <vt:lpstr>Pourquoi les Bonnes Pratiques ?</vt:lpstr>
      <vt:lpstr>Les Principes SOLID</vt:lpstr>
      <vt:lpstr>Single Responsibility Principle</vt:lpstr>
      <vt:lpstr>Exercice</vt:lpstr>
      <vt:lpstr>Code initial (non conforme SRP)</vt:lpstr>
      <vt:lpstr>Code corrigé (conforme SRP)</vt:lpstr>
      <vt:lpstr>Customisation de UserManager</vt:lpstr>
      <vt:lpstr>O – Open/Closed Principle</vt:lpstr>
      <vt:lpstr>Exercice</vt:lpstr>
      <vt:lpstr>Code initial</vt:lpstr>
      <vt:lpstr>Ajout d’un Triangle sans modifier AreaCalculator</vt:lpstr>
      <vt:lpstr>L – Liskov Substitution Principle</vt:lpstr>
      <vt:lpstr>Exercice</vt:lpstr>
      <vt:lpstr>Code initial (violant LSP)</vt:lpstr>
      <vt:lpstr>Pourquoi c’est un problème ?</vt:lpstr>
      <vt:lpstr>Abstraction</vt:lpstr>
      <vt:lpstr>Implémentation &amp; Utilisation</vt:lpstr>
      <vt:lpstr>I – Interface Segregation Principle</vt:lpstr>
      <vt:lpstr>Exercice</vt:lpstr>
      <vt:lpstr>Interface initiale (violant ISP)</vt:lpstr>
      <vt:lpstr>Interfaces spécifiques et classes concrètes</vt:lpstr>
      <vt:lpstr>D – Dependency Inversion Principle</vt:lpstr>
      <vt:lpstr>Exercice</vt:lpstr>
      <vt:lpstr>Code initial (couplage fort) </vt:lpstr>
      <vt:lpstr>Code corrigé avec interface NotificationService</vt:lpstr>
      <vt:lpstr>Lien avec Java moderne (Java 8 à 24)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Bonnes Pratiques de Conception Orientée Objet avec SOLID</dc:title>
  <dc:creator>admin</dc:creator>
  <cp:lastModifiedBy>admin</cp:lastModifiedBy>
  <cp:revision>41</cp:revision>
  <dcterms:created xsi:type="dcterms:W3CDTF">2025-04-30T18:23:47Z</dcterms:created>
  <dcterms:modified xsi:type="dcterms:W3CDTF">2025-09-14T23:02:07Z</dcterms:modified>
</cp:coreProperties>
</file>