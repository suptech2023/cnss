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6" r:id="rId59"/>
    <p:sldId id="313" r:id="rId60"/>
    <p:sldId id="314" r:id="rId61"/>
    <p:sldId id="317" r:id="rId62"/>
    <p:sldId id="315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lfresco.com/content-services/community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swagger-ui/index.htm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microsoft.com/office/2007/relationships/hdphoto" Target="../media/hdphoto31.wdp"/><Relationship Id="rId4" Type="http://schemas.openxmlformats.org/officeDocument/2006/relationships/image" Target="../media/image42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://download.eclipse.org/egit/updates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mailto:tarik@example.com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onpseudo/mon-projet.git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ALFRESCO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GED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494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fr-FR" dirty="0"/>
              <a:t>Qu’est-ce qu’</a:t>
            </a:r>
            <a:r>
              <a:rPr lang="fr-FR" dirty="0" err="1"/>
              <a:t>Alfresco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 err="1"/>
              <a:t>Alfresco</a:t>
            </a:r>
            <a:r>
              <a:rPr lang="fr-FR" sz="2400" dirty="0"/>
              <a:t> est une </a:t>
            </a:r>
            <a:r>
              <a:rPr lang="fr-FR" sz="2400" b="1" dirty="0"/>
              <a:t>plateforme de gestion de contenu d’entreprise (ECM – Enterprise Content Management)</a:t>
            </a:r>
            <a:r>
              <a:rPr lang="fr-FR" sz="2400" dirty="0"/>
              <a:t> open source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Elle </a:t>
            </a:r>
            <a:r>
              <a:rPr lang="fr-FR" sz="2400" dirty="0"/>
              <a:t>permet aux organisations de </a:t>
            </a:r>
            <a:r>
              <a:rPr lang="fr-FR" sz="2400" b="1" dirty="0"/>
              <a:t>créer, stocker, partager et gérer</a:t>
            </a:r>
            <a:r>
              <a:rPr lang="fr-FR" sz="2400" dirty="0"/>
              <a:t> leurs documents et contenus numériques de manière sécurisée et collaborative.</a:t>
            </a:r>
          </a:p>
        </p:txBody>
      </p:sp>
    </p:spTree>
    <p:extLst>
      <p:ext uri="{BB962C8B-B14F-4D97-AF65-F5344CB8AC3E}">
        <p14:creationId xmlns:p14="http://schemas.microsoft.com/office/powerpoint/2010/main" val="117738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Principales fonctionnalités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Gestion documentaire (DMS</a:t>
            </a:r>
            <a:r>
              <a:rPr lang="fr-FR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Recherche </a:t>
            </a:r>
            <a:r>
              <a:rPr lang="fr-FR" sz="2800" dirty="0" smtClean="0"/>
              <a:t>avancée</a:t>
            </a:r>
          </a:p>
          <a:p>
            <a:pPr>
              <a:lnSpc>
                <a:spcPct val="150000"/>
              </a:lnSpc>
            </a:pPr>
            <a:r>
              <a:rPr lang="fr-FR" sz="2800" dirty="0" smtClean="0"/>
              <a:t>Collaboration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Sécurité et contrôle </a:t>
            </a:r>
            <a:r>
              <a:rPr lang="fr-FR" sz="2800" dirty="0" smtClean="0"/>
              <a:t>d’accès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Intégration</a:t>
            </a:r>
          </a:p>
        </p:txBody>
      </p:sp>
    </p:spTree>
    <p:extLst>
      <p:ext uri="{BB962C8B-B14F-4D97-AF65-F5344CB8AC3E}">
        <p14:creationId xmlns:p14="http://schemas.microsoft.com/office/powerpoint/2010/main" val="65651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48326"/>
            <a:ext cx="10058400" cy="74826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Architecture technique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17834"/>
            <a:ext cx="10058400" cy="475436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Alfresco</a:t>
            </a:r>
            <a:r>
              <a:rPr lang="fr-FR" sz="2400" b="1" dirty="0"/>
              <a:t> Content Services (ACS)</a:t>
            </a:r>
            <a:r>
              <a:rPr lang="fr-FR" sz="2400" dirty="0"/>
              <a:t> → cœur de la gestion documentaire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Alfresco</a:t>
            </a:r>
            <a:r>
              <a:rPr lang="fr-FR" sz="2400" b="1" dirty="0"/>
              <a:t> </a:t>
            </a:r>
            <a:r>
              <a:rPr lang="fr-FR" sz="2400" b="1" dirty="0" err="1"/>
              <a:t>Process</a:t>
            </a:r>
            <a:r>
              <a:rPr lang="fr-FR" sz="2400" b="1" dirty="0"/>
              <a:t> Services (APS)</a:t>
            </a:r>
            <a:r>
              <a:rPr lang="fr-FR" sz="2400" dirty="0"/>
              <a:t> → gestion des workflows et processus métiers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Alfresco</a:t>
            </a:r>
            <a:r>
              <a:rPr lang="fr-FR" sz="2400" b="1" dirty="0"/>
              <a:t> Share</a:t>
            </a:r>
            <a:r>
              <a:rPr lang="fr-FR" sz="2400" dirty="0"/>
              <a:t> → interface utilisateur web pour collaborer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/>
              <a:t>Base de données</a:t>
            </a:r>
            <a:r>
              <a:rPr lang="fr-FR" sz="2400" dirty="0"/>
              <a:t> (PostgreSQL, MySQL, Oracle</a:t>
            </a:r>
            <a:r>
              <a:rPr lang="fr-FR" sz="2400" dirty="0" smtClean="0"/>
              <a:t>…).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/>
              <a:t>Serveur d’application</a:t>
            </a:r>
            <a:r>
              <a:rPr lang="fr-FR" sz="2400" dirty="0"/>
              <a:t> (</a:t>
            </a:r>
            <a:r>
              <a:rPr lang="fr-FR" sz="2400" dirty="0" err="1"/>
              <a:t>Tomcat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/>
              <a:t>Indexation et recherche</a:t>
            </a:r>
            <a:r>
              <a:rPr lang="fr-FR" sz="2400" dirty="0"/>
              <a:t> avec Apache </a:t>
            </a:r>
            <a:r>
              <a:rPr lang="fr-FR" sz="2400" dirty="0" err="1"/>
              <a:t>Solr</a:t>
            </a:r>
            <a:r>
              <a:rPr lang="fr-FR" sz="2400" dirty="0"/>
              <a:t>.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0086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Avantages d’</a:t>
            </a:r>
            <a:r>
              <a:rPr lang="fr-FR" dirty="0" err="1"/>
              <a:t>Alfresco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Open source et extensible</a:t>
            </a:r>
            <a:r>
              <a:rPr lang="fr-F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Interface moderne et intuitive</a:t>
            </a:r>
            <a:r>
              <a:rPr lang="fr-F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Intégration facile avec d’autres outils</a:t>
            </a:r>
            <a:r>
              <a:rPr lang="fr-FR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Support des standards (CMIS</a:t>
            </a:r>
            <a:r>
              <a:rPr lang="fr-FR" sz="2400" dirty="0" smtClean="0"/>
              <a:t>).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Évolutif et adapté aux grandes organisations.</a:t>
            </a:r>
          </a:p>
        </p:txBody>
      </p:sp>
    </p:spTree>
    <p:extLst>
      <p:ext uri="{BB962C8B-B14F-4D97-AF65-F5344CB8AC3E}">
        <p14:creationId xmlns:p14="http://schemas.microsoft.com/office/powerpoint/2010/main" val="103061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Cas d’utilisation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Gestion des documents administratifs</a:t>
            </a:r>
            <a:r>
              <a:rPr lang="fr-FR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Archivage numérique légal</a:t>
            </a:r>
            <a:r>
              <a:rPr lang="fr-FR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Dématérialisation des processus RH</a:t>
            </a:r>
            <a:r>
              <a:rPr lang="fr-FR" sz="2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Gestion des dossiers clients ou projets.</a:t>
            </a:r>
          </a:p>
        </p:txBody>
      </p:sp>
    </p:spTree>
    <p:extLst>
      <p:ext uri="{BB962C8B-B14F-4D97-AF65-F5344CB8AC3E}">
        <p14:creationId xmlns:p14="http://schemas.microsoft.com/office/powerpoint/2010/main" val="266554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Doc </a:t>
            </a:r>
            <a:r>
              <a:rPr lang="fr-FR" dirty="0" err="1" smtClean="0"/>
              <a:t>Offecielle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2800" b="1" dirty="0">
                <a:hlinkClick r:id="rId2"/>
              </a:rPr>
              <a:t>https://docs.alfresco.com/content-services/community</a:t>
            </a:r>
            <a:r>
              <a:rPr lang="fr-FR" sz="2800" b="1" dirty="0" smtClean="0">
                <a:hlinkClick r:id="rId2"/>
              </a:rPr>
              <a:t>/</a:t>
            </a:r>
            <a:endParaRPr lang="fr-FR" sz="2800" b="1" dirty="0" smtClean="0"/>
          </a:p>
          <a:p>
            <a:pPr marL="0" indent="0" algn="ctr">
              <a:buNone/>
            </a:pP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62753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12653"/>
          </a:xfrm>
        </p:spPr>
        <p:txBody>
          <a:bodyPr/>
          <a:lstStyle/>
          <a:p>
            <a:pPr algn="ctr"/>
            <a:r>
              <a:rPr lang="fr-FR" dirty="0"/>
              <a:t>En 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980" y="1787703"/>
            <a:ext cx="9678256" cy="4263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444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6000" dirty="0" smtClean="0"/>
              <a:t>Tests unitaires </a:t>
            </a:r>
            <a:br>
              <a:rPr lang="fr-FR" sz="6000" dirty="0" smtClean="0"/>
            </a:br>
            <a:r>
              <a:rPr lang="fr-FR" sz="6000" dirty="0" smtClean="0"/>
              <a:t>&amp; </a:t>
            </a:r>
            <a:br>
              <a:rPr lang="fr-FR" sz="6000" dirty="0" smtClean="0"/>
            </a:br>
            <a:r>
              <a:rPr lang="fr-FR" sz="6000" dirty="0" smtClean="0"/>
              <a:t>test de qualité</a:t>
            </a:r>
            <a:endParaRPr lang="fr-FR" sz="60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474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6028"/>
            <a:ext cx="10058400" cy="1609344"/>
          </a:xfrm>
        </p:spPr>
        <p:txBody>
          <a:bodyPr/>
          <a:lstStyle/>
          <a:p>
            <a:pPr algn="ctr"/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55372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Assurer </a:t>
            </a:r>
            <a:r>
              <a:rPr lang="fr-FR" sz="3200" b="1" dirty="0"/>
              <a:t>les tests unitaires et la qualité</a:t>
            </a:r>
            <a:r>
              <a:rPr lang="fr-FR" sz="3200" dirty="0"/>
              <a:t> sur un projet </a:t>
            </a:r>
            <a:r>
              <a:rPr lang="fr-FR" sz="3200" b="1" dirty="0" err="1"/>
              <a:t>Spring</a:t>
            </a:r>
            <a:r>
              <a:rPr lang="fr-FR" sz="3200" b="1" dirty="0"/>
              <a:t> Boot + </a:t>
            </a:r>
            <a:r>
              <a:rPr lang="fr-FR" sz="3200" b="1" dirty="0" err="1"/>
              <a:t>Angular</a:t>
            </a:r>
            <a:r>
              <a:rPr lang="fr-FR" sz="3200" dirty="0"/>
              <a:t> est une étape essentielle pour garantir un code robuste, maintenable et fiable.</a:t>
            </a:r>
          </a:p>
        </p:txBody>
      </p:sp>
    </p:spTree>
    <p:extLst>
      <p:ext uri="{BB962C8B-B14F-4D97-AF65-F5344CB8AC3E}">
        <p14:creationId xmlns:p14="http://schemas.microsoft.com/office/powerpoint/2010/main" val="1605959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Tests unitaires côté </a:t>
            </a:r>
            <a:r>
              <a:rPr lang="fr-FR" dirty="0" err="1"/>
              <a:t>Spring</a:t>
            </a:r>
            <a:r>
              <a:rPr lang="fr-FR" dirty="0"/>
              <a:t> </a:t>
            </a:r>
            <a:r>
              <a:rPr lang="fr-FR" dirty="0" smtClean="0"/>
              <a:t>Boot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(</a:t>
            </a:r>
            <a:r>
              <a:rPr lang="fr-FR" sz="4000" b="1" dirty="0" err="1"/>
              <a:t>Backend</a:t>
            </a:r>
            <a:r>
              <a:rPr lang="fr-FR" sz="4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1306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Dépendances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Dans le </a:t>
            </a:r>
            <a:r>
              <a:rPr lang="fr-FR" sz="3200" dirty="0" smtClean="0"/>
              <a:t>pom.xml</a:t>
            </a:r>
            <a:r>
              <a:rPr lang="fr-FR" sz="3200" dirty="0"/>
              <a:t> </a:t>
            </a:r>
            <a:r>
              <a:rPr lang="fr-FR" sz="3200" dirty="0" smtClean="0"/>
              <a:t>:</a:t>
            </a:r>
            <a:endParaRPr lang="fr-FR" sz="32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5380" y="2987524"/>
            <a:ext cx="7890553" cy="2992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332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Structure typique des tests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Les tests se placent dans </a:t>
            </a:r>
            <a:r>
              <a:rPr lang="fr-FR" sz="2800" b="1" dirty="0" err="1"/>
              <a:t>src</a:t>
            </a:r>
            <a:r>
              <a:rPr lang="fr-FR" sz="2800" b="1" dirty="0"/>
              <a:t>/test/java</a:t>
            </a:r>
            <a:r>
              <a:rPr lang="fr-FR" sz="2800" b="1" dirty="0" smtClean="0"/>
              <a:t>/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Exemple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3000" y="4146804"/>
            <a:ext cx="6392096" cy="18441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812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27778"/>
            <a:ext cx="10058400" cy="830460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Exemple de test unitaire simple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2494" y="1397285"/>
            <a:ext cx="9144000" cy="4828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111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58541"/>
          </a:xfrm>
        </p:spPr>
        <p:txBody>
          <a:bodyPr/>
          <a:lstStyle/>
          <a:p>
            <a:pPr algn="ctr"/>
            <a:r>
              <a:rPr lang="fr-FR" dirty="0"/>
              <a:t>Tests avec </a:t>
            </a:r>
            <a:r>
              <a:rPr lang="fr-FR" dirty="0" err="1"/>
              <a:t>Mocking</a:t>
            </a:r>
            <a:r>
              <a:rPr lang="fr-FR" dirty="0"/>
              <a:t> (</a:t>
            </a:r>
            <a:r>
              <a:rPr lang="fr-FR" dirty="0" err="1"/>
              <a:t>Mockito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62315" y="1484410"/>
            <a:ext cx="10058400" cy="4050792"/>
          </a:xfrm>
        </p:spPr>
        <p:txBody>
          <a:bodyPr>
            <a:normAutofit/>
          </a:bodyPr>
          <a:lstStyle/>
          <a:p>
            <a:r>
              <a:rPr lang="fr-FR" sz="2800" dirty="0"/>
              <a:t>Permet de tester sans dépendances externes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6787" y="2147243"/>
            <a:ext cx="7849455" cy="40788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60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196956"/>
            <a:ext cx="10058400" cy="799638"/>
          </a:xfrm>
        </p:spPr>
        <p:txBody>
          <a:bodyPr/>
          <a:lstStyle/>
          <a:p>
            <a:pPr algn="ctr"/>
            <a:r>
              <a:rPr lang="fr-FR" dirty="0"/>
              <a:t>Tests d’intégration REST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2234" y="1738630"/>
            <a:ext cx="7736439" cy="4078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4275085" y="1182946"/>
            <a:ext cx="3648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 tester les contrôleurs REST :</a:t>
            </a:r>
          </a:p>
        </p:txBody>
      </p:sp>
    </p:spTree>
    <p:extLst>
      <p:ext uri="{BB962C8B-B14F-4D97-AF65-F5344CB8AC3E}">
        <p14:creationId xmlns:p14="http://schemas.microsoft.com/office/powerpoint/2010/main" val="48731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0734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Vérification de la qualité du </a:t>
            </a:r>
            <a:r>
              <a:rPr lang="fr-FR" sz="4400" dirty="0" smtClean="0"/>
              <a:t>code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17834"/>
            <a:ext cx="10058400" cy="4754366"/>
          </a:xfrm>
        </p:spPr>
        <p:txBody>
          <a:bodyPr>
            <a:normAutofit/>
          </a:bodyPr>
          <a:lstStyle/>
          <a:p>
            <a:r>
              <a:rPr lang="fr-FR" sz="2800" b="1" dirty="0" err="1"/>
              <a:t>Jacoco</a:t>
            </a:r>
            <a:r>
              <a:rPr lang="fr-FR" sz="2800" dirty="0"/>
              <a:t> → pour la couverture de code </a:t>
            </a:r>
            <a:r>
              <a:rPr lang="fr-FR" sz="2800" dirty="0" smtClean="0"/>
              <a:t>:</a:t>
            </a:r>
          </a:p>
          <a:p>
            <a:endParaRPr lang="fr-FR" sz="2800" dirty="0"/>
          </a:p>
          <a:p>
            <a:endParaRPr lang="fr-FR" sz="2800" dirty="0" smtClean="0"/>
          </a:p>
          <a:p>
            <a:endParaRPr lang="fr-FR" sz="2800" dirty="0"/>
          </a:p>
          <a:p>
            <a:endParaRPr lang="fr-FR" sz="2800" dirty="0" smtClean="0"/>
          </a:p>
          <a:p>
            <a:endParaRPr lang="fr-FR" sz="2800" dirty="0"/>
          </a:p>
          <a:p>
            <a:endParaRPr lang="fr-FR" sz="2800" dirty="0" smtClean="0"/>
          </a:p>
          <a:p>
            <a:r>
              <a:rPr lang="fr-FR" sz="2800" dirty="0"/>
              <a:t>Rapport : </a:t>
            </a:r>
            <a:r>
              <a:rPr lang="fr-FR" sz="2800" b="1" dirty="0" err="1"/>
              <a:t>target</a:t>
            </a:r>
            <a:r>
              <a:rPr lang="fr-FR" sz="2800" b="1" dirty="0"/>
              <a:t>/site/</a:t>
            </a:r>
            <a:r>
              <a:rPr lang="fr-FR" sz="2800" b="1" dirty="0" err="1"/>
              <a:t>jacoco</a:t>
            </a:r>
            <a:r>
              <a:rPr lang="fr-FR" sz="2800" b="1" dirty="0"/>
              <a:t>/index.html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1151" y="1956238"/>
            <a:ext cx="5763801" cy="2985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5221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SonarQube</a:t>
            </a:r>
            <a:r>
              <a:rPr lang="fr-FR" dirty="0"/>
              <a:t> / </a:t>
            </a:r>
            <a:r>
              <a:rPr lang="fr-FR" dirty="0" err="1"/>
              <a:t>SonarCloud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pour l’analyse de qualité, dettes techniques, duplication, etc.</a:t>
            </a:r>
          </a:p>
        </p:txBody>
      </p:sp>
    </p:spTree>
    <p:extLst>
      <p:ext uri="{BB962C8B-B14F-4D97-AF65-F5344CB8AC3E}">
        <p14:creationId xmlns:p14="http://schemas.microsoft.com/office/powerpoint/2010/main" val="337377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Tests unitaires côté </a:t>
            </a:r>
            <a:r>
              <a:rPr lang="fr-FR" dirty="0" err="1"/>
              <a:t>Angular</a:t>
            </a:r>
            <a:r>
              <a:rPr lang="fr-FR" dirty="0"/>
              <a:t> (</a:t>
            </a:r>
            <a:r>
              <a:rPr lang="fr-FR" dirty="0" err="1"/>
              <a:t>Frontend</a:t>
            </a:r>
            <a:r>
              <a:rPr lang="fr-FR" dirty="0"/>
              <a:t>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12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Outils intégrés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Angular</a:t>
            </a:r>
            <a:r>
              <a:rPr lang="fr-FR" sz="2800" dirty="0"/>
              <a:t> intègre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b="1" dirty="0"/>
              <a:t>Karma</a:t>
            </a:r>
            <a:r>
              <a:rPr lang="fr-FR" sz="2400" dirty="0"/>
              <a:t> (</a:t>
            </a:r>
            <a:r>
              <a:rPr lang="fr-FR" sz="2400" dirty="0" err="1"/>
              <a:t>runner</a:t>
            </a:r>
            <a:r>
              <a:rPr lang="fr-FR" sz="2400" dirty="0"/>
              <a:t> de tests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b="1" dirty="0"/>
              <a:t>Jasmine</a:t>
            </a:r>
            <a:r>
              <a:rPr lang="fr-FR" sz="2400" dirty="0"/>
              <a:t> (</a:t>
            </a:r>
            <a:r>
              <a:rPr lang="fr-FR" sz="2400" dirty="0" err="1"/>
              <a:t>framework</a:t>
            </a:r>
            <a:r>
              <a:rPr lang="fr-FR" sz="2400" dirty="0"/>
              <a:t> de test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b="1" dirty="0" err="1"/>
              <a:t>Jest</a:t>
            </a:r>
            <a:r>
              <a:rPr lang="fr-FR" sz="2400" dirty="0"/>
              <a:t> (option plus moderne)</a:t>
            </a:r>
          </a:p>
        </p:txBody>
      </p:sp>
    </p:spTree>
    <p:extLst>
      <p:ext uri="{BB962C8B-B14F-4D97-AF65-F5344CB8AC3E}">
        <p14:creationId xmlns:p14="http://schemas.microsoft.com/office/powerpoint/2010/main" val="823414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25510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de test de composant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76737"/>
            <a:ext cx="10058400" cy="4795463"/>
          </a:xfrm>
        </p:spPr>
        <p:txBody>
          <a:bodyPr/>
          <a:lstStyle/>
          <a:p>
            <a:r>
              <a:rPr lang="fr-FR" dirty="0"/>
              <a:t>Dans </a:t>
            </a:r>
            <a:r>
              <a:rPr lang="fr-FR" dirty="0" err="1"/>
              <a:t>src</a:t>
            </a:r>
            <a:r>
              <a:rPr lang="fr-FR" dirty="0"/>
              <a:t>/</a:t>
            </a:r>
            <a:r>
              <a:rPr lang="fr-FR" dirty="0" err="1"/>
              <a:t>app</a:t>
            </a:r>
            <a:r>
              <a:rPr lang="fr-FR" dirty="0"/>
              <a:t>/components/</a:t>
            </a:r>
            <a:r>
              <a:rPr lang="fr-FR" dirty="0" err="1"/>
              <a:t>employee</a:t>
            </a:r>
            <a:r>
              <a:rPr lang="fr-FR" dirty="0"/>
              <a:t>/</a:t>
            </a:r>
            <a:r>
              <a:rPr lang="fr-FR" dirty="0" err="1"/>
              <a:t>employee.component.spec.ts</a:t>
            </a:r>
            <a:r>
              <a:rPr lang="fr-FR" dirty="0"/>
              <a:t>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5916" y="2673311"/>
            <a:ext cx="9534418" cy="27719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395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Lancer les tests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ng</a:t>
            </a:r>
            <a:r>
              <a:rPr lang="fr-FR" sz="2800" b="1" dirty="0"/>
              <a:t> </a:t>
            </a:r>
            <a:r>
              <a:rPr lang="fr-FR" sz="2800" b="1" dirty="0" smtClean="0"/>
              <a:t>test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Cela ouvre </a:t>
            </a:r>
            <a:r>
              <a:rPr lang="fr-FR" sz="2800" b="1" dirty="0"/>
              <a:t>Karma</a:t>
            </a:r>
            <a:r>
              <a:rPr lang="fr-FR" sz="2800" dirty="0"/>
              <a:t> dans le navigateur et montre les résultats en temps réel.</a:t>
            </a:r>
          </a:p>
        </p:txBody>
      </p:sp>
    </p:spTree>
    <p:extLst>
      <p:ext uri="{BB962C8B-B14F-4D97-AF65-F5344CB8AC3E}">
        <p14:creationId xmlns:p14="http://schemas.microsoft.com/office/powerpoint/2010/main" val="417952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455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Qualité du code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02769"/>
            <a:ext cx="10058400" cy="45694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800" dirty="0" err="1" smtClean="0"/>
              <a:t>Linting</a:t>
            </a:r>
            <a:endParaRPr lang="fr-FR" sz="2800" dirty="0" smtClean="0"/>
          </a:p>
          <a:p>
            <a:pPr lvl="1">
              <a:lnSpc>
                <a:spcPct val="150000"/>
              </a:lnSpc>
            </a:pPr>
            <a:r>
              <a:rPr lang="fr-FR" sz="2400" b="1" dirty="0" err="1"/>
              <a:t>ng</a:t>
            </a:r>
            <a:r>
              <a:rPr lang="fr-FR" sz="2400" b="1" dirty="0"/>
              <a:t> </a:t>
            </a:r>
            <a:r>
              <a:rPr lang="fr-FR" sz="2400" b="1" dirty="0" err="1" smtClean="0"/>
              <a:t>lint</a:t>
            </a:r>
            <a:endParaRPr lang="fr-FR" sz="2400" b="1" dirty="0" smtClean="0"/>
          </a:p>
          <a:p>
            <a:pPr>
              <a:lnSpc>
                <a:spcPct val="150000"/>
              </a:lnSpc>
            </a:pPr>
            <a:r>
              <a:rPr lang="fr-FR" sz="2800" dirty="0"/>
              <a:t>Couverture de </a:t>
            </a:r>
            <a:r>
              <a:rPr lang="fr-FR" sz="2800" dirty="0" smtClean="0"/>
              <a:t>tests</a:t>
            </a:r>
          </a:p>
          <a:p>
            <a:pPr lvl="1">
              <a:lnSpc>
                <a:spcPct val="150000"/>
              </a:lnSpc>
            </a:pPr>
            <a:r>
              <a:rPr lang="fr-FR" sz="2400" b="1" dirty="0" err="1"/>
              <a:t>ng</a:t>
            </a:r>
            <a:r>
              <a:rPr lang="fr-FR" sz="2400" b="1" dirty="0"/>
              <a:t> test --</a:t>
            </a:r>
            <a:r>
              <a:rPr lang="fr-FR" sz="2400" b="1" dirty="0" smtClean="0"/>
              <a:t>code-</a:t>
            </a:r>
            <a:r>
              <a:rPr lang="fr-FR" sz="2400" b="1" dirty="0" err="1" smtClean="0"/>
              <a:t>coverage</a:t>
            </a:r>
            <a:endParaRPr lang="fr-FR" sz="2400" b="1" dirty="0" smtClean="0"/>
          </a:p>
          <a:p>
            <a:pPr lvl="1">
              <a:lnSpc>
                <a:spcPct val="150000"/>
              </a:lnSpc>
            </a:pPr>
            <a:r>
              <a:rPr lang="fr-FR" sz="2400" dirty="0"/>
              <a:t>Rapport : </a:t>
            </a:r>
            <a:r>
              <a:rPr lang="fr-FR" sz="2400" dirty="0" err="1" smtClean="0"/>
              <a:t>coverage</a:t>
            </a:r>
            <a:r>
              <a:rPr lang="fr-FR" sz="2400" dirty="0" smtClean="0"/>
              <a:t>/index.html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Analyse </a:t>
            </a:r>
            <a:r>
              <a:rPr lang="fr-FR" sz="2800" dirty="0" err="1" smtClean="0"/>
              <a:t>SonarQube</a:t>
            </a:r>
            <a:endParaRPr lang="fr-FR" sz="2800" dirty="0" smtClean="0"/>
          </a:p>
          <a:p>
            <a:pPr lvl="1">
              <a:lnSpc>
                <a:spcPct val="150000"/>
              </a:lnSpc>
            </a:pPr>
            <a:r>
              <a:rPr lang="fr-FR" sz="2400" dirty="0"/>
              <a:t>même principe qu’avec le </a:t>
            </a:r>
            <a:r>
              <a:rPr lang="fr-FR" sz="2400" dirty="0" err="1"/>
              <a:t>backend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5382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RECAP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528" y="2260315"/>
            <a:ext cx="9462499" cy="3421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5867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095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 smtClean="0"/>
              <a:t>Les contrats de communication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466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Qu’est-ce qu’un contrat de communication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C’est un </a:t>
            </a:r>
            <a:r>
              <a:rPr lang="fr-FR" sz="2400" b="1" dirty="0"/>
              <a:t>accord technique</a:t>
            </a:r>
            <a:r>
              <a:rPr lang="fr-FR" sz="2400" dirty="0"/>
              <a:t> entre le </a:t>
            </a:r>
            <a:r>
              <a:rPr lang="fr-FR" sz="2400" b="1" dirty="0" err="1"/>
              <a:t>frontend</a:t>
            </a:r>
            <a:r>
              <a:rPr lang="fr-FR" sz="2400" b="1" dirty="0"/>
              <a:t> (client </a:t>
            </a:r>
            <a:r>
              <a:rPr lang="fr-FR" sz="2400" b="1" dirty="0" err="1"/>
              <a:t>Angular</a:t>
            </a:r>
            <a:r>
              <a:rPr lang="fr-FR" sz="2400" b="1" dirty="0"/>
              <a:t>)</a:t>
            </a:r>
            <a:r>
              <a:rPr lang="fr-FR" sz="2400" dirty="0"/>
              <a:t> et le </a:t>
            </a:r>
            <a:r>
              <a:rPr lang="fr-FR" sz="2400" b="1" dirty="0" err="1"/>
              <a:t>backend</a:t>
            </a:r>
            <a:r>
              <a:rPr lang="fr-FR" sz="2400" b="1" dirty="0"/>
              <a:t> (API </a:t>
            </a:r>
            <a:r>
              <a:rPr lang="fr-FR" sz="2400" b="1" dirty="0" err="1"/>
              <a:t>Spring</a:t>
            </a:r>
            <a:r>
              <a:rPr lang="fr-FR" sz="2400" b="1" dirty="0"/>
              <a:t> Boot</a:t>
            </a:r>
            <a:r>
              <a:rPr lang="fr-FR" sz="2400" b="1" dirty="0" smtClean="0"/>
              <a:t>)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Il définit </a:t>
            </a:r>
            <a:r>
              <a:rPr lang="fr-FR" sz="2400" b="1" dirty="0"/>
              <a:t>comment les deux couches échangent les données</a:t>
            </a:r>
            <a:r>
              <a:rPr lang="fr-FR" sz="2400" dirty="0"/>
              <a:t> : format, structure, types, </a:t>
            </a:r>
            <a:r>
              <a:rPr lang="fr-FR" sz="2400" dirty="0" err="1"/>
              <a:t>endpoints</a:t>
            </a:r>
            <a:r>
              <a:rPr lang="fr-FR" sz="2400" dirty="0"/>
              <a:t>, codes de statut, etc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Il garantit la </a:t>
            </a:r>
            <a:r>
              <a:rPr lang="fr-FR" sz="2400" b="1" dirty="0"/>
              <a:t>cohérence</a:t>
            </a:r>
            <a:r>
              <a:rPr lang="fr-FR" sz="2400" dirty="0"/>
              <a:t>, la </a:t>
            </a:r>
            <a:r>
              <a:rPr lang="fr-FR" sz="2400" b="1" dirty="0"/>
              <a:t>maintenabilité</a:t>
            </a:r>
            <a:r>
              <a:rPr lang="fr-FR" sz="2400" dirty="0"/>
              <a:t> et la </a:t>
            </a:r>
            <a:r>
              <a:rPr lang="fr-FR" sz="2400" b="1" dirty="0"/>
              <a:t>sécurité</a:t>
            </a:r>
            <a:r>
              <a:rPr lang="fr-FR" sz="2400" dirty="0"/>
              <a:t> des échanges.</a:t>
            </a:r>
          </a:p>
        </p:txBody>
      </p:sp>
    </p:spTree>
    <p:extLst>
      <p:ext uri="{BB962C8B-B14F-4D97-AF65-F5344CB8AC3E}">
        <p14:creationId xmlns:p14="http://schemas.microsoft.com/office/powerpoint/2010/main" val="4066118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Éviter les incohérences entre le front et le back</a:t>
            </a:r>
            <a:r>
              <a:rPr lang="fr-FR" sz="28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800" dirty="0"/>
              <a:t>Faciliter les tests et la validation des intégrations</a:t>
            </a:r>
            <a:r>
              <a:rPr lang="fr-FR" sz="28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800" dirty="0"/>
              <a:t>Servir de </a:t>
            </a:r>
            <a:r>
              <a:rPr lang="fr-FR" sz="2800" b="1" dirty="0"/>
              <a:t>référence commune</a:t>
            </a:r>
            <a:r>
              <a:rPr lang="fr-FR" sz="2800" dirty="0"/>
              <a:t> entre les équipes.</a:t>
            </a:r>
          </a:p>
        </p:txBody>
      </p:sp>
    </p:spTree>
    <p:extLst>
      <p:ext uri="{BB962C8B-B14F-4D97-AF65-F5344CB8AC3E}">
        <p14:creationId xmlns:p14="http://schemas.microsoft.com/office/powerpoint/2010/main" val="184704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21939"/>
            <a:ext cx="10058400" cy="72771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contextuel (</a:t>
            </a:r>
            <a:r>
              <a:rPr lang="fr-FR" dirty="0" smtClean="0"/>
              <a:t>CNSS)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6800" y="1403603"/>
            <a:ext cx="10058400" cy="40507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Lorsqu’une application </a:t>
            </a:r>
            <a:r>
              <a:rPr lang="fr-FR" dirty="0" err="1"/>
              <a:t>Angular</a:t>
            </a:r>
            <a:r>
              <a:rPr lang="fr-FR" dirty="0"/>
              <a:t> de gestion des dossiers CNSS interagit avec le serveur </a:t>
            </a:r>
            <a:r>
              <a:rPr lang="fr-FR" dirty="0" err="1"/>
              <a:t>Spring</a:t>
            </a:r>
            <a:r>
              <a:rPr lang="fr-FR" dirty="0"/>
              <a:t> Boot pour récupérer la liste des affiliés, le contrat définit </a:t>
            </a:r>
            <a:r>
              <a:rPr lang="fr-FR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et les méthodes autorisées : </a:t>
            </a:r>
            <a:r>
              <a:rPr lang="fr-FR" b="1" dirty="0"/>
              <a:t>GET /api/affilies/{id}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3486" y="2562180"/>
            <a:ext cx="5024063" cy="2246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4969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96956"/>
            <a:ext cx="10058400" cy="892105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Types de contrats et technologies associées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171254"/>
            <a:ext cx="10058399" cy="4263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069848" y="5664100"/>
            <a:ext cx="10058399" cy="1114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fr-FR" dirty="0"/>
              <a:t>Pour </a:t>
            </a:r>
            <a:r>
              <a:rPr lang="fr-FR" dirty="0" smtClean="0"/>
              <a:t>l’application </a:t>
            </a:r>
            <a:r>
              <a:rPr lang="fr-FR" b="1" dirty="0" smtClean="0"/>
              <a:t>CNSS</a:t>
            </a:r>
            <a:r>
              <a:rPr lang="fr-FR" dirty="0" smtClean="0"/>
              <a:t>, </a:t>
            </a:r>
            <a:r>
              <a:rPr lang="fr-FR" dirty="0"/>
              <a:t>le </a:t>
            </a:r>
            <a:r>
              <a:rPr lang="fr-FR" b="1" dirty="0"/>
              <a:t>REST JSON</a:t>
            </a:r>
            <a:r>
              <a:rPr lang="fr-FR" dirty="0"/>
              <a:t> est le plus adapté (interopérabilité, simplicité, documentation claire).</a:t>
            </a:r>
          </a:p>
        </p:txBody>
      </p:sp>
    </p:spTree>
    <p:extLst>
      <p:ext uri="{BB962C8B-B14F-4D97-AF65-F5344CB8AC3E}">
        <p14:creationId xmlns:p14="http://schemas.microsoft.com/office/powerpoint/2010/main" val="11041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Structure du contrat REST dans le projet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Côté </a:t>
            </a:r>
            <a:r>
              <a:rPr lang="fr-FR" dirty="0" err="1"/>
              <a:t>Spring</a:t>
            </a:r>
            <a:r>
              <a:rPr lang="fr-FR" dirty="0"/>
              <a:t> Boot (</a:t>
            </a:r>
            <a:r>
              <a:rPr lang="fr-FR" dirty="0" err="1"/>
              <a:t>Backend</a:t>
            </a:r>
            <a:r>
              <a:rPr lang="fr-FR" dirty="0" smtClean="0"/>
              <a:t>)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Les contrats sont matérialisés par les </a:t>
            </a:r>
            <a:r>
              <a:rPr lang="fr-FR" b="1" dirty="0" err="1"/>
              <a:t>endpoints</a:t>
            </a:r>
            <a:r>
              <a:rPr lang="fr-FR" b="1" dirty="0"/>
              <a:t> REST</a:t>
            </a:r>
            <a:r>
              <a:rPr lang="fr-FR" dirty="0"/>
              <a:t> exposés par les </a:t>
            </a:r>
            <a:r>
              <a:rPr lang="fr-FR" b="1" dirty="0"/>
              <a:t>@</a:t>
            </a:r>
            <a:r>
              <a:rPr lang="fr-FR" b="1" dirty="0" err="1"/>
              <a:t>RestController</a:t>
            </a:r>
            <a:r>
              <a:rPr lang="fr-FR" dirty="0"/>
              <a:t>.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Côté </a:t>
            </a:r>
            <a:r>
              <a:rPr lang="fr-FR" dirty="0" err="1"/>
              <a:t>Angular</a:t>
            </a:r>
            <a:r>
              <a:rPr lang="fr-FR" dirty="0"/>
              <a:t> (</a:t>
            </a:r>
            <a:r>
              <a:rPr lang="fr-FR" dirty="0" err="1"/>
              <a:t>Frontend</a:t>
            </a:r>
            <a:r>
              <a:rPr lang="fr-FR" dirty="0"/>
              <a:t>)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Le contrat est consommé via </a:t>
            </a:r>
            <a:r>
              <a:rPr lang="fr-FR" b="1" dirty="0" err="1"/>
              <a:t>HttpClient</a:t>
            </a:r>
            <a:r>
              <a:rPr lang="fr-FR" dirty="0"/>
              <a:t>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3675" y="4251960"/>
            <a:ext cx="5810549" cy="23496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86294" y="4469258"/>
            <a:ext cx="4972306" cy="1479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920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Modèle partagé (exemple JSON attendu)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3200" y="2496620"/>
            <a:ext cx="6000108" cy="29692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7448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Bonnes pratiques autour des contrats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Standardiser les </a:t>
            </a:r>
            <a:r>
              <a:rPr lang="fr-FR" sz="2400" dirty="0" smtClean="0"/>
              <a:t>échanges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Documenter les </a:t>
            </a:r>
            <a:r>
              <a:rPr lang="fr-FR" sz="2400" dirty="0" smtClean="0"/>
              <a:t>API</a:t>
            </a:r>
          </a:p>
          <a:p>
            <a:pPr algn="just">
              <a:lnSpc>
                <a:spcPct val="200000"/>
              </a:lnSpc>
            </a:pPr>
            <a:r>
              <a:rPr lang="fr-FR" sz="2400" dirty="0" err="1"/>
              <a:t>Versionner</a:t>
            </a:r>
            <a:r>
              <a:rPr lang="fr-FR" sz="2400" dirty="0"/>
              <a:t> les </a:t>
            </a:r>
            <a:r>
              <a:rPr lang="fr-FR" sz="2400" dirty="0" smtClean="0"/>
              <a:t>API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Gérer les erreurs </a:t>
            </a:r>
            <a:r>
              <a:rPr lang="fr-FR" sz="2400" dirty="0" smtClean="0"/>
              <a:t>proprement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Tests d’intégration</a:t>
            </a:r>
          </a:p>
        </p:txBody>
      </p:sp>
    </p:spTree>
    <p:extLst>
      <p:ext uri="{BB962C8B-B14F-4D97-AF65-F5344CB8AC3E}">
        <p14:creationId xmlns:p14="http://schemas.microsoft.com/office/powerpoint/2010/main" val="381158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Standardiser les </a:t>
            </a:r>
            <a:r>
              <a:rPr lang="fr-FR" dirty="0" smtClean="0"/>
              <a:t>échanges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Utiliser </a:t>
            </a:r>
            <a:r>
              <a:rPr lang="fr-FR" sz="2800" dirty="0" smtClean="0"/>
              <a:t>le </a:t>
            </a:r>
            <a:r>
              <a:rPr lang="fr-FR" sz="2800" dirty="0"/>
              <a:t>même format JSON (</a:t>
            </a:r>
            <a:r>
              <a:rPr lang="fr-FR" sz="2800" dirty="0" err="1"/>
              <a:t>camelCase</a:t>
            </a:r>
            <a:r>
              <a:rPr lang="fr-FR" sz="2800" dirty="0"/>
              <a:t>, types cohérents</a:t>
            </a:r>
            <a:r>
              <a:rPr lang="fr-FR" sz="2800" dirty="0" smtClean="0"/>
              <a:t>).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Définir des </a:t>
            </a:r>
            <a:r>
              <a:rPr lang="fr-FR" sz="2800" dirty="0" err="1"/>
              <a:t>DTOs</a:t>
            </a:r>
            <a:r>
              <a:rPr lang="fr-FR" sz="2800" dirty="0"/>
              <a:t> clairs côté </a:t>
            </a:r>
            <a:r>
              <a:rPr lang="fr-FR" sz="2800" dirty="0" err="1"/>
              <a:t>backend</a:t>
            </a:r>
            <a:r>
              <a:rPr lang="fr-FR" sz="2800" dirty="0"/>
              <a:t> et des interfaces </a:t>
            </a:r>
            <a:r>
              <a:rPr lang="fr-FR" sz="2800" dirty="0" err="1"/>
              <a:t>TypeScript</a:t>
            </a:r>
            <a:r>
              <a:rPr lang="fr-FR" sz="2800" dirty="0"/>
              <a:t> côté </a:t>
            </a:r>
            <a:r>
              <a:rPr lang="fr-FR" sz="2800" dirty="0" err="1"/>
              <a:t>frontend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7804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Documenter les </a:t>
            </a:r>
            <a:r>
              <a:rPr lang="fr-FR" dirty="0" smtClean="0"/>
              <a:t>API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nb-NO" sz="3200" dirty="0"/>
              <a:t>Utiliser </a:t>
            </a:r>
            <a:r>
              <a:rPr lang="nb-NO" sz="3200" b="1" dirty="0"/>
              <a:t>Swagger / OpenAPI</a:t>
            </a:r>
            <a:r>
              <a:rPr lang="nb-NO" sz="3200" dirty="0"/>
              <a:t> dans Spring Boot</a:t>
            </a:r>
            <a:r>
              <a:rPr lang="nb-NO" sz="3200" dirty="0" smtClean="0"/>
              <a:t>.</a:t>
            </a:r>
          </a:p>
          <a:p>
            <a:pPr lvl="1" algn="just">
              <a:lnSpc>
                <a:spcPct val="200000"/>
              </a:lnSpc>
            </a:pPr>
            <a:r>
              <a:rPr lang="fr-FR" sz="2800" dirty="0"/>
              <a:t>URL typique : /</a:t>
            </a:r>
            <a:r>
              <a:rPr lang="fr-FR" sz="2800" dirty="0" err="1"/>
              <a:t>swagger-ui</a:t>
            </a:r>
            <a:r>
              <a:rPr lang="fr-FR" sz="2800" dirty="0"/>
              <a:t>/index.html</a:t>
            </a:r>
          </a:p>
        </p:txBody>
      </p:sp>
    </p:spTree>
    <p:extLst>
      <p:ext uri="{BB962C8B-B14F-4D97-AF65-F5344CB8AC3E}">
        <p14:creationId xmlns:p14="http://schemas.microsoft.com/office/powerpoint/2010/main" val="3145262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Versionner</a:t>
            </a:r>
            <a:r>
              <a:rPr lang="fr-FR" dirty="0"/>
              <a:t> les </a:t>
            </a:r>
            <a:r>
              <a:rPr lang="fr-FR" dirty="0" smtClean="0"/>
              <a:t>API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Exemple : /api/v1/affilies, /</a:t>
            </a:r>
            <a:r>
              <a:rPr lang="fr-FR" sz="2800" dirty="0" smtClean="0"/>
              <a:t>api/v2/affilies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Utile pour les évolutions sans casser le contrat existant.</a:t>
            </a:r>
          </a:p>
        </p:txBody>
      </p:sp>
    </p:spTree>
    <p:extLst>
      <p:ext uri="{BB962C8B-B14F-4D97-AF65-F5344CB8AC3E}">
        <p14:creationId xmlns:p14="http://schemas.microsoft.com/office/powerpoint/2010/main" val="2975045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Gérer les erreurs proprement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Retourner des réponses uniformes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7600" y="3102795"/>
            <a:ext cx="5250094" cy="27021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2897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Tests d’intégration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/>
              <a:t>Utiliser </a:t>
            </a:r>
            <a:r>
              <a:rPr lang="fr-FR" sz="3200" b="1" dirty="0" err="1"/>
              <a:t>Postman</a:t>
            </a:r>
            <a:r>
              <a:rPr lang="fr-FR" sz="3200" dirty="0"/>
              <a:t> ou </a:t>
            </a:r>
            <a:r>
              <a:rPr lang="fr-FR" sz="3200" b="1" dirty="0" err="1"/>
              <a:t>RestAssured</a:t>
            </a:r>
            <a:r>
              <a:rPr lang="fr-FR" sz="3200" dirty="0"/>
              <a:t> pour valider le respect du contrat.</a:t>
            </a:r>
          </a:p>
        </p:txBody>
      </p:sp>
    </p:spTree>
    <p:extLst>
      <p:ext uri="{BB962C8B-B14F-4D97-AF65-F5344CB8AC3E}">
        <p14:creationId xmlns:p14="http://schemas.microsoft.com/office/powerpoint/2010/main" val="2325388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81890"/>
            <a:ext cx="10058400" cy="53251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Cas d’application CNSS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25366"/>
            <a:ext cx="10058400" cy="484683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Application : </a:t>
            </a:r>
            <a:r>
              <a:rPr lang="fr-FR" sz="2400" i="1" dirty="0"/>
              <a:t>Gestion des cotisations </a:t>
            </a:r>
            <a:r>
              <a:rPr lang="fr-FR" sz="2400" i="1" dirty="0" smtClean="0"/>
              <a:t>sociales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Frontend</a:t>
            </a:r>
            <a:r>
              <a:rPr lang="fr-FR" sz="2000" b="1" dirty="0"/>
              <a:t> </a:t>
            </a:r>
            <a:r>
              <a:rPr lang="fr-FR" sz="2000" b="1" dirty="0" err="1"/>
              <a:t>Angular</a:t>
            </a:r>
            <a:r>
              <a:rPr lang="fr-FR" sz="2000" dirty="0"/>
              <a:t> : tableau de bord, formulaires de saisie, suivi des déclarations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Backend</a:t>
            </a:r>
            <a:r>
              <a:rPr lang="fr-FR" sz="2000" b="1" dirty="0"/>
              <a:t> </a:t>
            </a:r>
            <a:r>
              <a:rPr lang="fr-FR" sz="2000" b="1" dirty="0" err="1"/>
              <a:t>Spring</a:t>
            </a:r>
            <a:r>
              <a:rPr lang="fr-FR" sz="2000" b="1" dirty="0"/>
              <a:t> Boot</a:t>
            </a:r>
            <a:r>
              <a:rPr lang="fr-FR" sz="2000" dirty="0"/>
              <a:t> : services REST pour la gestion des affiliés, cotisations, paiements</a:t>
            </a:r>
            <a:r>
              <a:rPr lang="fr-FR" sz="20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Contrat de communication</a:t>
            </a:r>
            <a:r>
              <a:rPr lang="fr-FR" sz="2000" dirty="0"/>
              <a:t> </a:t>
            </a:r>
            <a:r>
              <a:rPr lang="fr-FR" sz="2000" dirty="0" smtClean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Format JSON unique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Authentification par </a:t>
            </a:r>
            <a:r>
              <a:rPr lang="fr-FR" sz="1800" b="1" dirty="0"/>
              <a:t>JWT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Documentation automatique </a:t>
            </a:r>
            <a:r>
              <a:rPr lang="fr-FR" sz="1800" b="1" dirty="0" err="1"/>
              <a:t>Swagger</a:t>
            </a:r>
            <a:r>
              <a:rPr lang="fr-FR" sz="1800" dirty="0" smtClean="0"/>
              <a:t>.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Validation des entrées côté </a:t>
            </a:r>
            <a:r>
              <a:rPr lang="fr-FR" sz="1800" b="1" dirty="0" err="1"/>
              <a:t>backend</a:t>
            </a:r>
            <a:r>
              <a:rPr lang="fr-FR" sz="1800" dirty="0"/>
              <a:t> (Bean Validation).</a:t>
            </a:r>
          </a:p>
        </p:txBody>
      </p:sp>
    </p:spTree>
    <p:extLst>
      <p:ext uri="{BB962C8B-B14F-4D97-AF65-F5344CB8AC3E}">
        <p14:creationId xmlns:p14="http://schemas.microsoft.com/office/powerpoint/2010/main" val="2885013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nb-NO" sz="5400" dirty="0"/>
              <a:t>Utiliser Swagger / OpenAPI dans Spring Boot</a:t>
            </a:r>
            <a:endParaRPr lang="fr-FR" sz="5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372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Installer et configurer </a:t>
            </a:r>
            <a:r>
              <a:rPr lang="fr-FR" sz="2400" dirty="0" err="1"/>
              <a:t>Swagger</a:t>
            </a:r>
            <a:r>
              <a:rPr lang="fr-FR" sz="2400" dirty="0"/>
              <a:t> / </a:t>
            </a:r>
            <a:r>
              <a:rPr lang="fr-FR" sz="2400" dirty="0" err="1"/>
              <a:t>OpenAPI</a:t>
            </a:r>
            <a:r>
              <a:rPr lang="fr-FR" sz="2400" dirty="0"/>
              <a:t> dans un projet </a:t>
            </a:r>
            <a:r>
              <a:rPr lang="fr-FR" sz="2400" dirty="0" err="1"/>
              <a:t>Spring</a:t>
            </a:r>
            <a:r>
              <a:rPr lang="fr-FR" sz="2400" dirty="0"/>
              <a:t> Boot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Générer automatiquement la documentation des API REST exposées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T</a:t>
            </a:r>
            <a:r>
              <a:rPr lang="fr-FR" sz="2400" dirty="0" smtClean="0"/>
              <a:t>ester </a:t>
            </a:r>
            <a:r>
              <a:rPr lang="fr-FR" sz="2400" dirty="0"/>
              <a:t>les </a:t>
            </a:r>
            <a:r>
              <a:rPr lang="fr-FR" sz="2400" dirty="0" err="1"/>
              <a:t>endpoints</a:t>
            </a:r>
            <a:r>
              <a:rPr lang="fr-FR" sz="2400" dirty="0"/>
              <a:t> directement depuis l’interface </a:t>
            </a:r>
            <a:r>
              <a:rPr lang="fr-FR" sz="2400" dirty="0" err="1"/>
              <a:t>Swagger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Comprendre comment cette documentation sert de </a:t>
            </a:r>
            <a:r>
              <a:rPr lang="fr-FR" sz="2400" b="1" dirty="0"/>
              <a:t>contrat clair</a:t>
            </a:r>
            <a:r>
              <a:rPr lang="fr-FR" sz="2400" dirty="0"/>
              <a:t> entre le front (</a:t>
            </a:r>
            <a:r>
              <a:rPr lang="fr-FR" sz="2400" dirty="0" err="1"/>
              <a:t>Angular</a:t>
            </a:r>
            <a:r>
              <a:rPr lang="fr-FR" sz="2400" dirty="0"/>
              <a:t>) et le back (</a:t>
            </a:r>
            <a:r>
              <a:rPr lang="fr-FR" sz="2400" dirty="0" err="1"/>
              <a:t>Spring</a:t>
            </a:r>
            <a:r>
              <a:rPr lang="fr-FR" sz="2400" dirty="0"/>
              <a:t> Boot).</a:t>
            </a:r>
            <a:endParaRPr lang="fr-FR" sz="2400" dirty="0" smtClean="0"/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2594452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89423"/>
            <a:ext cx="10058400" cy="789364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qu’est-ce que </a:t>
            </a:r>
            <a:r>
              <a:rPr lang="fr-FR" sz="3600" dirty="0" err="1"/>
              <a:t>Swagger</a:t>
            </a:r>
            <a:r>
              <a:rPr lang="fr-FR" sz="3600" dirty="0"/>
              <a:t> / </a:t>
            </a:r>
            <a:r>
              <a:rPr lang="fr-FR" sz="3600" dirty="0" err="1"/>
              <a:t>OpenAPI</a:t>
            </a:r>
            <a:r>
              <a:rPr lang="fr-FR" sz="3600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13043"/>
            <a:ext cx="10058400" cy="45591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 err="1"/>
              <a:t>Swagger</a:t>
            </a:r>
            <a:r>
              <a:rPr lang="fr-FR" sz="2800" b="1" dirty="0"/>
              <a:t> (ou </a:t>
            </a:r>
            <a:r>
              <a:rPr lang="fr-FR" sz="2800" b="1" dirty="0" err="1"/>
              <a:t>OpenAPI</a:t>
            </a:r>
            <a:r>
              <a:rPr lang="fr-FR" sz="2800" b="1" dirty="0"/>
              <a:t>)</a:t>
            </a:r>
            <a:r>
              <a:rPr lang="fr-FR" sz="2800" dirty="0"/>
              <a:t> est un outil qui permet de </a:t>
            </a:r>
            <a:r>
              <a:rPr lang="fr-FR" sz="2800" b="1" dirty="0"/>
              <a:t>décrire, visualiser et tester les API REST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 err="1"/>
              <a:t>Swagger</a:t>
            </a:r>
            <a:r>
              <a:rPr lang="fr-FR" sz="2400" dirty="0"/>
              <a:t> lit automatiquement les annotations </a:t>
            </a:r>
            <a:r>
              <a:rPr lang="fr-FR" sz="2400" dirty="0" err="1"/>
              <a:t>Spring</a:t>
            </a:r>
            <a:r>
              <a:rPr lang="fr-FR" sz="2400" dirty="0"/>
              <a:t> (@</a:t>
            </a:r>
            <a:r>
              <a:rPr lang="fr-FR" sz="2400" dirty="0" err="1"/>
              <a:t>RestController</a:t>
            </a:r>
            <a:r>
              <a:rPr lang="fr-FR" sz="2400" dirty="0"/>
              <a:t>, @</a:t>
            </a:r>
            <a:r>
              <a:rPr lang="fr-FR" sz="2400" dirty="0" err="1"/>
              <a:t>GetMapping</a:t>
            </a:r>
            <a:r>
              <a:rPr lang="fr-FR" sz="2400" dirty="0"/>
              <a:t>, etc</a:t>
            </a:r>
            <a:r>
              <a:rPr lang="fr-FR" sz="2400" dirty="0" smtClean="0"/>
              <a:t>.)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génère une interface web pour interagir avec les </a:t>
            </a:r>
            <a:r>
              <a:rPr lang="fr-FR" sz="2400" dirty="0" err="1"/>
              <a:t>endpoints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sert de </a:t>
            </a:r>
            <a:r>
              <a:rPr lang="fr-FR" sz="2400" b="1" dirty="0"/>
              <a:t>contrat technique partagé</a:t>
            </a:r>
            <a:r>
              <a:rPr lang="fr-FR" sz="2400" dirty="0"/>
              <a:t> entre développeurs </a:t>
            </a:r>
            <a:r>
              <a:rPr lang="fr-FR" sz="2400" dirty="0" err="1"/>
              <a:t>backend</a:t>
            </a:r>
            <a:r>
              <a:rPr lang="fr-FR" sz="2400" dirty="0"/>
              <a:t>, </a:t>
            </a:r>
            <a:r>
              <a:rPr lang="fr-FR" sz="2400" dirty="0" err="1"/>
              <a:t>frontend</a:t>
            </a:r>
            <a:r>
              <a:rPr lang="fr-FR" sz="2400" dirty="0"/>
              <a:t> et QA.</a:t>
            </a:r>
          </a:p>
        </p:txBody>
      </p:sp>
    </p:spTree>
    <p:extLst>
      <p:ext uri="{BB962C8B-B14F-4D97-AF65-F5344CB8AC3E}">
        <p14:creationId xmlns:p14="http://schemas.microsoft.com/office/powerpoint/2010/main" val="2729404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Intégration dans un projet </a:t>
            </a:r>
            <a:r>
              <a:rPr lang="fr-FR" sz="3600" dirty="0" err="1"/>
              <a:t>Spring</a:t>
            </a:r>
            <a:r>
              <a:rPr lang="fr-FR" sz="3600" dirty="0"/>
              <a:t> Boot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Ajouter la </a:t>
            </a:r>
            <a:r>
              <a:rPr lang="fr-FR" dirty="0" smtClean="0"/>
              <a:t>dépendance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b="1" dirty="0" err="1" smtClean="0"/>
              <a:t>springdoc-openapi</a:t>
            </a:r>
            <a:r>
              <a:rPr lang="fr-FR" dirty="0" smtClean="0"/>
              <a:t> </a:t>
            </a:r>
            <a:r>
              <a:rPr lang="fr-FR" dirty="0"/>
              <a:t>est la version moderne et maintenue de </a:t>
            </a:r>
            <a:r>
              <a:rPr lang="fr-FR" dirty="0" err="1"/>
              <a:t>Swagger</a:t>
            </a:r>
            <a:r>
              <a:rPr lang="fr-FR" dirty="0"/>
              <a:t> pour </a:t>
            </a:r>
            <a:r>
              <a:rPr lang="fr-FR" dirty="0" err="1"/>
              <a:t>Spring</a:t>
            </a:r>
            <a:r>
              <a:rPr lang="fr-FR" dirty="0"/>
              <a:t> Boot (compatible avec </a:t>
            </a:r>
            <a:r>
              <a:rPr lang="fr-FR" dirty="0" err="1"/>
              <a:t>Spring</a:t>
            </a:r>
            <a:r>
              <a:rPr lang="fr-FR" dirty="0"/>
              <a:t> Boot 3.x et 4.x).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0048" y="1912814"/>
            <a:ext cx="6041511" cy="23201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9671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Lancer l’application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Une fois l’application démarrée, ouvre ton navigateur à l’adresse : </a:t>
            </a:r>
            <a:r>
              <a:rPr lang="fr-FR" sz="2400" b="1" dirty="0">
                <a:hlinkClick r:id="rId2"/>
              </a:rPr>
              <a:t>http://</a:t>
            </a:r>
            <a:r>
              <a:rPr lang="fr-FR" sz="2400" b="1" dirty="0" smtClean="0">
                <a:hlinkClick r:id="rId2"/>
              </a:rPr>
              <a:t>localhost:8080/swagger-ui/index.html</a:t>
            </a:r>
            <a:endParaRPr lang="fr-FR" sz="2400" b="1" dirty="0" smtClean="0"/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Vous aurez automatiquement 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la liste des </a:t>
            </a:r>
            <a:r>
              <a:rPr lang="fr-FR" sz="2000" b="1" dirty="0" err="1"/>
              <a:t>endpoints</a:t>
            </a:r>
            <a:r>
              <a:rPr lang="fr-FR" sz="2000" b="1" dirty="0"/>
              <a:t> </a:t>
            </a:r>
            <a:r>
              <a:rPr lang="fr-FR" sz="2000" b="1" dirty="0" smtClean="0"/>
              <a:t>disponibles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méthodes HTTP</a:t>
            </a:r>
            <a:r>
              <a:rPr lang="fr-FR" sz="2000" dirty="0"/>
              <a:t> (GET, POST, PUT, DELETE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modèles de données</a:t>
            </a:r>
            <a:r>
              <a:rPr lang="fr-FR" sz="2000" dirty="0"/>
              <a:t> (</a:t>
            </a:r>
            <a:r>
              <a:rPr lang="fr-FR" sz="2000" dirty="0" err="1"/>
              <a:t>DTOs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codes de </a:t>
            </a:r>
            <a:r>
              <a:rPr lang="fr-FR" sz="2000" dirty="0" smtClean="0"/>
              <a:t>réponse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et la possibilité de </a:t>
            </a:r>
            <a:r>
              <a:rPr lang="fr-FR" sz="2000" b="1" dirty="0"/>
              <a:t>tester directement l’API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94424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concret </a:t>
            </a:r>
            <a:r>
              <a:rPr lang="fr-FR" dirty="0" smtClean="0"/>
              <a:t>CNSS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Classe modèle : Affilie.java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2188396"/>
            <a:ext cx="9779662" cy="4037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1781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Contrôleur : AffilieController.java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1397" y="2003461"/>
            <a:ext cx="9123451" cy="43562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0471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Résultat visuel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Section : </a:t>
            </a:r>
            <a:r>
              <a:rPr lang="fr-FR" dirty="0" smtClean="0"/>
              <a:t>Affiliés</a:t>
            </a:r>
          </a:p>
          <a:p>
            <a:pPr lvl="1" algn="just">
              <a:lnSpc>
                <a:spcPct val="150000"/>
              </a:lnSpc>
            </a:pPr>
            <a:r>
              <a:rPr lang="fr-FR" dirty="0" err="1"/>
              <a:t>Endpoint</a:t>
            </a:r>
            <a:r>
              <a:rPr lang="fr-FR" dirty="0"/>
              <a:t> : GET /api/affilies/{id</a:t>
            </a:r>
            <a:r>
              <a:rPr lang="fr-FR" dirty="0" smtClean="0"/>
              <a:t>}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Description : Récupérer un affilié par son </a:t>
            </a:r>
            <a:r>
              <a:rPr lang="fr-FR" dirty="0" smtClean="0"/>
              <a:t>identifiant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Exemple de réponse JSON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2548" y="3832261"/>
            <a:ext cx="5363109" cy="2609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7966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Bonnes </a:t>
            </a:r>
            <a:r>
              <a:rPr lang="fr-FR" dirty="0"/>
              <a:t>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Utiliser les annotations </a:t>
            </a:r>
            <a:r>
              <a:rPr lang="fr-FR" sz="2400" dirty="0" err="1"/>
              <a:t>Swagger</a:t>
            </a:r>
            <a:r>
              <a:rPr lang="fr-FR" sz="2400" dirty="0"/>
              <a:t> pour enrichir la </a:t>
            </a:r>
            <a:r>
              <a:rPr lang="fr-FR" sz="2400" dirty="0" smtClean="0"/>
              <a:t>documentation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Toujours documenter les codes de retour (200, 404, 500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Personnaliser la page </a:t>
            </a:r>
            <a:r>
              <a:rPr lang="fr-FR" sz="2400" dirty="0" err="1"/>
              <a:t>Swagger</a:t>
            </a:r>
            <a:r>
              <a:rPr lang="fr-FR" sz="2400" dirty="0"/>
              <a:t> (nom, description, contact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Utiliser </a:t>
            </a:r>
            <a:r>
              <a:rPr lang="fr-FR" sz="2400" dirty="0" err="1"/>
              <a:t>Swagger</a:t>
            </a:r>
            <a:r>
              <a:rPr lang="fr-FR" sz="2400" dirty="0"/>
              <a:t> comme contrat</a:t>
            </a:r>
          </a:p>
        </p:txBody>
      </p:sp>
    </p:spTree>
    <p:extLst>
      <p:ext uri="{BB962C8B-B14F-4D97-AF65-F5344CB8AC3E}">
        <p14:creationId xmlns:p14="http://schemas.microsoft.com/office/powerpoint/2010/main" val="658443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Utiliser les annotations </a:t>
            </a:r>
            <a:r>
              <a:rPr lang="fr-FR" dirty="0" err="1"/>
              <a:t>Swagger</a:t>
            </a:r>
            <a:r>
              <a:rPr lang="fr-FR" dirty="0"/>
              <a:t> pour enrichir la documentation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Schema</a:t>
            </a:r>
            <a:r>
              <a:rPr lang="fr-FR" sz="2800" b="1" dirty="0"/>
              <a:t> </a:t>
            </a:r>
            <a:r>
              <a:rPr lang="fr-FR" sz="2800" dirty="0"/>
              <a:t>→ décrire les modèles (</a:t>
            </a:r>
            <a:r>
              <a:rPr lang="fr-FR" sz="2800" dirty="0" err="1"/>
              <a:t>DTOs</a:t>
            </a:r>
            <a:r>
              <a:rPr lang="fr-FR" sz="28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Operation</a:t>
            </a:r>
            <a:r>
              <a:rPr lang="fr-FR" sz="2800" b="1" dirty="0"/>
              <a:t> </a:t>
            </a:r>
            <a:r>
              <a:rPr lang="fr-FR" sz="2800" dirty="0"/>
              <a:t>→ décrire les </a:t>
            </a:r>
            <a:r>
              <a:rPr lang="fr-FR" sz="2800" dirty="0" smtClean="0"/>
              <a:t>méthodes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@Tag </a:t>
            </a:r>
            <a:r>
              <a:rPr lang="fr-FR" sz="2800" dirty="0"/>
              <a:t>→ regrouper les </a:t>
            </a:r>
            <a:r>
              <a:rPr lang="fr-FR" sz="2800" dirty="0" err="1"/>
              <a:t>endpoints</a:t>
            </a:r>
            <a:r>
              <a:rPr lang="fr-FR" sz="2800" dirty="0"/>
              <a:t> par thème</a:t>
            </a:r>
          </a:p>
        </p:txBody>
      </p:sp>
    </p:spTree>
    <p:extLst>
      <p:ext uri="{BB962C8B-B14F-4D97-AF65-F5344CB8AC3E}">
        <p14:creationId xmlns:p14="http://schemas.microsoft.com/office/powerpoint/2010/main" val="35282204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Toujours documenter les codes de retour (200, 404, 500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6239" y="2373331"/>
            <a:ext cx="7705618" cy="2958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3133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Personnaliser la page </a:t>
            </a:r>
            <a:r>
              <a:rPr lang="fr-FR" dirty="0" err="1"/>
              <a:t>Swagger</a:t>
            </a:r>
            <a:r>
              <a:rPr lang="fr-FR" dirty="0"/>
              <a:t> (nom, description, contact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3178" y="2383605"/>
            <a:ext cx="5311739" cy="3472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19463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Utiliser </a:t>
            </a:r>
            <a:r>
              <a:rPr lang="fr-FR" sz="4000" dirty="0" err="1"/>
              <a:t>Swagger</a:t>
            </a:r>
            <a:r>
              <a:rPr lang="fr-FR" sz="4000" dirty="0"/>
              <a:t> comme contrat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Angular</a:t>
            </a:r>
            <a:r>
              <a:rPr lang="fr-FR" sz="2800" dirty="0"/>
              <a:t> peut consommer directement le fichier JSON </a:t>
            </a:r>
            <a:r>
              <a:rPr lang="fr-FR" sz="2800" dirty="0" err="1"/>
              <a:t>OpenAPI</a:t>
            </a:r>
            <a:r>
              <a:rPr lang="fr-FR" sz="2800" dirty="0"/>
              <a:t> (/v3/api-docs) pour générer des clients automatiques avec des outils comme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err="1"/>
              <a:t>Generator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470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Swagger</a:t>
            </a:r>
            <a:r>
              <a:rPr lang="fr-FR" sz="2800" dirty="0"/>
              <a:t> /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smtClean="0"/>
              <a:t>=</a:t>
            </a:r>
            <a:r>
              <a:rPr lang="fr-FR" sz="2800" b="1" dirty="0"/>
              <a:t>Documentation vivante + contrat de communication + outil de </a:t>
            </a:r>
            <a:r>
              <a:rPr lang="fr-FR" sz="2800" b="1" dirty="0" smtClean="0"/>
              <a:t>test </a:t>
            </a:r>
            <a:r>
              <a:rPr lang="fr-FR" sz="2800" dirty="0" smtClean="0"/>
              <a:t>Indispensable </a:t>
            </a:r>
            <a:r>
              <a:rPr lang="fr-FR" sz="2800" dirty="0"/>
              <a:t>dans une architecture </a:t>
            </a:r>
            <a:r>
              <a:rPr lang="fr-FR" sz="2800" b="1" dirty="0" err="1"/>
              <a:t>Spring</a:t>
            </a:r>
            <a:r>
              <a:rPr lang="fr-FR" sz="2800" b="1" dirty="0"/>
              <a:t> Boot + </a:t>
            </a:r>
            <a:r>
              <a:rPr lang="fr-FR" sz="2800" b="1" dirty="0" err="1"/>
              <a:t>Angular</a:t>
            </a:r>
            <a:r>
              <a:rPr lang="fr-FR" sz="2800" dirty="0"/>
              <a:t> comme celle de la </a:t>
            </a:r>
            <a:r>
              <a:rPr lang="fr-FR" sz="2800" b="1" dirty="0"/>
              <a:t>CNSS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930228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/>
              <a:t>gestion des logs dans un projet </a:t>
            </a:r>
            <a:r>
              <a:rPr lang="fr-FR" sz="5400" dirty="0" err="1"/>
              <a:t>Spring</a:t>
            </a:r>
            <a:r>
              <a:rPr lang="fr-FR" sz="5400" dirty="0"/>
              <a:t> Boot </a:t>
            </a:r>
            <a:r>
              <a:rPr lang="fr-FR" sz="5400" dirty="0" err="1"/>
              <a:t>RESTful</a:t>
            </a:r>
            <a:endParaRPr lang="fr-FR" sz="5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8110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968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Objectif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33591"/>
            <a:ext cx="10058400" cy="4538609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Mettre en place un </a:t>
            </a:r>
            <a:r>
              <a:rPr lang="fr-FR" sz="2800" b="1" dirty="0"/>
              <a:t>système de journalisation (</a:t>
            </a:r>
            <a:r>
              <a:rPr lang="fr-FR" sz="2800" b="1" dirty="0" err="1"/>
              <a:t>logging</a:t>
            </a:r>
            <a:r>
              <a:rPr lang="fr-FR" sz="2800" b="1" dirty="0"/>
              <a:t>)</a:t>
            </a:r>
            <a:r>
              <a:rPr lang="fr-FR" sz="2800" dirty="0"/>
              <a:t> clair et configurable pour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tracer les requêtes et réponses</a:t>
            </a:r>
            <a:r>
              <a:rPr lang="fr-FR" sz="2400" dirty="0" smtClean="0"/>
              <a:t>,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suivre les erreurs</a:t>
            </a:r>
            <a:r>
              <a:rPr lang="fr-FR" sz="2400" dirty="0" smtClean="0"/>
              <a:t>,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déboguer plus facilement</a:t>
            </a:r>
            <a:r>
              <a:rPr lang="fr-FR" sz="2400" dirty="0" smtClean="0"/>
              <a:t>,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conserver l’historique d’exécution dans un fichier log.</a:t>
            </a:r>
          </a:p>
        </p:txBody>
      </p:sp>
    </p:spTree>
    <p:extLst>
      <p:ext uri="{BB962C8B-B14F-4D97-AF65-F5344CB8AC3E}">
        <p14:creationId xmlns:p14="http://schemas.microsoft.com/office/powerpoint/2010/main" val="266393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48113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Dépendance </a:t>
            </a:r>
            <a:r>
              <a:rPr lang="fr-FR" dirty="0" err="1"/>
              <a:t>Maven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258377"/>
            <a:ext cx="10058400" cy="504995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Spring</a:t>
            </a:r>
            <a:r>
              <a:rPr lang="fr-FR" sz="2400" b="1" dirty="0"/>
              <a:t> Boot </a:t>
            </a:r>
            <a:r>
              <a:rPr lang="fr-FR" sz="2400" dirty="0"/>
              <a:t>utilise </a:t>
            </a:r>
            <a:r>
              <a:rPr lang="fr-FR" sz="2400" b="1" dirty="0"/>
              <a:t>SLF4J</a:t>
            </a:r>
            <a:r>
              <a:rPr lang="fr-FR" sz="2400" dirty="0"/>
              <a:t> et </a:t>
            </a:r>
            <a:r>
              <a:rPr lang="fr-FR" sz="2400" b="1" dirty="0" err="1"/>
              <a:t>Logback</a:t>
            </a:r>
            <a:r>
              <a:rPr lang="fr-FR" sz="2400" dirty="0"/>
              <a:t> par défaut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Vérifie que </a:t>
            </a:r>
            <a:r>
              <a:rPr lang="fr-FR" sz="2400" dirty="0" smtClean="0"/>
              <a:t>le fichier </a:t>
            </a:r>
            <a:r>
              <a:rPr lang="fr-FR" sz="2400" b="1" dirty="0"/>
              <a:t>pom.xml</a:t>
            </a:r>
            <a:r>
              <a:rPr lang="fr-FR" sz="2400" dirty="0"/>
              <a:t> contient </a:t>
            </a:r>
            <a:r>
              <a:rPr lang="fr-FR" sz="2400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  <a:p>
            <a:pPr algn="just">
              <a:lnSpc>
                <a:spcPct val="150000"/>
              </a:lnSpc>
            </a:pPr>
            <a:endParaRPr lang="fr-FR" sz="2400" dirty="0" smtClean="0"/>
          </a:p>
          <a:p>
            <a:pPr algn="just">
              <a:lnSpc>
                <a:spcPct val="150000"/>
              </a:lnSpc>
            </a:pPr>
            <a:endParaRPr lang="fr-FR" sz="2400" dirty="0"/>
          </a:p>
          <a:p>
            <a:pPr algn="just">
              <a:lnSpc>
                <a:spcPct val="150000"/>
              </a:lnSpc>
            </a:pPr>
            <a:r>
              <a:rPr lang="fr-FR" sz="2400" dirty="0"/>
              <a:t>Ne pas ajouter log4j ou d’autres moteurs sans raison — </a:t>
            </a:r>
            <a:r>
              <a:rPr lang="fr-FR" sz="2400" dirty="0" err="1"/>
              <a:t>Logback</a:t>
            </a:r>
            <a:r>
              <a:rPr lang="fr-FR" sz="2400" dirty="0"/>
              <a:t> est déjà intégré et performant.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1316" y="2638049"/>
            <a:ext cx="4343623" cy="20956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747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196956"/>
            <a:ext cx="10058400" cy="7174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de configuration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361" y="1232899"/>
            <a:ext cx="7274103" cy="4962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2004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09971"/>
            <a:ext cx="10058400" cy="594155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Exemple d’utilisation dans un contrôleur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254" y="1068512"/>
            <a:ext cx="9698804" cy="5103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96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81831"/>
          </a:xfrm>
        </p:spPr>
        <p:txBody>
          <a:bodyPr/>
          <a:lstStyle/>
          <a:p>
            <a:pPr algn="ctr"/>
            <a:r>
              <a:rPr lang="fr-FR" dirty="0"/>
              <a:t>Les paramètres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0979" y="1366462"/>
            <a:ext cx="9328935" cy="4911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1380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68875"/>
            <a:ext cx="10058400" cy="892105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Exemple de structure finale du projet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3721" y="1387011"/>
            <a:ext cx="9113178" cy="48494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93626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55799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Exemple d’un filtre pour tracer toutes les requêtes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7" y="1402217"/>
            <a:ext cx="10058400" cy="4050792"/>
          </a:xfrm>
        </p:spPr>
        <p:txBody>
          <a:bodyPr/>
          <a:lstStyle/>
          <a:p>
            <a:r>
              <a:rPr lang="fr-FR" dirty="0"/>
              <a:t>Créer une classe LoggingFilter.java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88" y="1850428"/>
            <a:ext cx="9087317" cy="4231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15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de log produit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09" y="2630184"/>
            <a:ext cx="11753636" cy="222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1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58601"/>
            <a:ext cx="10058400" cy="45031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888509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1800" b="1" dirty="0"/>
              <a:t>Utiliser les bons niveaux de log</a:t>
            </a:r>
            <a:r>
              <a:rPr lang="fr-FR" sz="1800" dirty="0"/>
              <a:t> </a:t>
            </a:r>
            <a:r>
              <a:rPr lang="fr-FR" sz="1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1600" b="1" dirty="0"/>
              <a:t>TRACE</a:t>
            </a:r>
            <a:r>
              <a:rPr lang="fr-FR" sz="1600" dirty="0"/>
              <a:t> → détails très fins (rare</a:t>
            </a:r>
            <a:r>
              <a:rPr lang="fr-FR" sz="16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1600" b="1" dirty="0"/>
              <a:t>DEBUG</a:t>
            </a:r>
            <a:r>
              <a:rPr lang="fr-FR" sz="1600" dirty="0"/>
              <a:t> → utile pour le </a:t>
            </a:r>
            <a:r>
              <a:rPr lang="fr-FR" sz="1600" dirty="0" smtClean="0"/>
              <a:t>développement</a:t>
            </a:r>
          </a:p>
          <a:p>
            <a:pPr lvl="1" algn="just">
              <a:lnSpc>
                <a:spcPct val="200000"/>
              </a:lnSpc>
            </a:pPr>
            <a:r>
              <a:rPr lang="fr-FR" sz="1600" b="1" dirty="0"/>
              <a:t>INFO</a:t>
            </a:r>
            <a:r>
              <a:rPr lang="fr-FR" sz="1600" dirty="0"/>
              <a:t> → événements </a:t>
            </a:r>
            <a:r>
              <a:rPr lang="fr-FR" sz="1600" dirty="0" smtClean="0"/>
              <a:t>normaux</a:t>
            </a:r>
          </a:p>
          <a:p>
            <a:pPr lvl="1" algn="just">
              <a:lnSpc>
                <a:spcPct val="200000"/>
              </a:lnSpc>
            </a:pPr>
            <a:r>
              <a:rPr lang="fr-FR" sz="1600" b="1" dirty="0"/>
              <a:t>WARN</a:t>
            </a:r>
            <a:r>
              <a:rPr lang="fr-FR" sz="1600" dirty="0"/>
              <a:t> → situations anormales sans </a:t>
            </a:r>
            <a:r>
              <a:rPr lang="fr-FR" sz="1600" dirty="0" smtClean="0"/>
              <a:t>échec</a:t>
            </a:r>
          </a:p>
          <a:p>
            <a:pPr lvl="1" algn="just">
              <a:lnSpc>
                <a:spcPct val="200000"/>
              </a:lnSpc>
            </a:pPr>
            <a:r>
              <a:rPr lang="fr-FR" sz="1600" b="1" dirty="0"/>
              <a:t>ERROR</a:t>
            </a:r>
            <a:r>
              <a:rPr lang="fr-FR" sz="1600" dirty="0"/>
              <a:t> → erreurs nécessitant une </a:t>
            </a:r>
            <a:r>
              <a:rPr lang="fr-FR" sz="1600" dirty="0" smtClean="0"/>
              <a:t>attention</a:t>
            </a:r>
          </a:p>
          <a:p>
            <a:pPr algn="just">
              <a:lnSpc>
                <a:spcPct val="200000"/>
              </a:lnSpc>
            </a:pPr>
            <a:r>
              <a:rPr lang="fr-FR" sz="1800" dirty="0"/>
              <a:t>Ne pas </a:t>
            </a:r>
            <a:r>
              <a:rPr lang="fr-FR" sz="1800" dirty="0" err="1"/>
              <a:t>logger</a:t>
            </a:r>
            <a:r>
              <a:rPr lang="fr-FR" sz="1800" dirty="0"/>
              <a:t> des </a:t>
            </a:r>
            <a:r>
              <a:rPr lang="fr-FR" sz="1800" b="1" dirty="0"/>
              <a:t>données sensibles</a:t>
            </a:r>
            <a:r>
              <a:rPr lang="fr-FR" sz="1800" dirty="0"/>
              <a:t> (mots de passe, </a:t>
            </a:r>
            <a:r>
              <a:rPr lang="fr-FR" sz="1800" dirty="0" err="1"/>
              <a:t>tokens</a:t>
            </a:r>
            <a:r>
              <a:rPr lang="fr-FR" sz="1800" dirty="0" smtClean="0"/>
              <a:t>…)</a:t>
            </a:r>
          </a:p>
          <a:p>
            <a:pPr algn="just">
              <a:lnSpc>
                <a:spcPct val="200000"/>
              </a:lnSpc>
            </a:pPr>
            <a:r>
              <a:rPr lang="fr-FR" sz="1800" dirty="0"/>
              <a:t>Centraliser les logs avec </a:t>
            </a:r>
            <a:r>
              <a:rPr lang="fr-FR" sz="1800" b="1" dirty="0"/>
              <a:t>ELK (</a:t>
            </a:r>
            <a:r>
              <a:rPr lang="fr-FR" sz="1800" b="1" dirty="0" err="1"/>
              <a:t>Elasticsearch</a:t>
            </a:r>
            <a:r>
              <a:rPr lang="fr-FR" sz="1800" b="1" dirty="0"/>
              <a:t>, </a:t>
            </a:r>
            <a:r>
              <a:rPr lang="fr-FR" sz="1800" b="1" dirty="0" err="1"/>
              <a:t>Logstash</a:t>
            </a:r>
            <a:r>
              <a:rPr lang="fr-FR" sz="1800" b="1" dirty="0"/>
              <a:t>, </a:t>
            </a:r>
            <a:r>
              <a:rPr lang="fr-FR" sz="1800" b="1" dirty="0" err="1"/>
              <a:t>Kibana</a:t>
            </a:r>
            <a:r>
              <a:rPr lang="fr-FR" sz="1800" b="1" dirty="0"/>
              <a:t>)</a:t>
            </a:r>
            <a:r>
              <a:rPr lang="fr-FR" sz="1800" dirty="0"/>
              <a:t> ou </a:t>
            </a:r>
            <a:r>
              <a:rPr lang="fr-FR" sz="1800" b="1" dirty="0" err="1"/>
              <a:t>Grafana</a:t>
            </a:r>
            <a:r>
              <a:rPr lang="fr-FR" sz="1800" b="1" dirty="0"/>
              <a:t> </a:t>
            </a:r>
            <a:r>
              <a:rPr lang="fr-FR" sz="1800" b="1" dirty="0" err="1"/>
              <a:t>Loki</a:t>
            </a:r>
            <a:r>
              <a:rPr lang="fr-FR" sz="1800" dirty="0"/>
              <a:t> si projet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13813954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Interaction avec des API </a:t>
            </a:r>
            <a:r>
              <a:rPr lang="fr-FR" dirty="0" smtClean="0"/>
              <a:t>externes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(exemple : paiement électronique)</a:t>
            </a:r>
          </a:p>
        </p:txBody>
      </p:sp>
    </p:spTree>
    <p:extLst>
      <p:ext uri="{BB962C8B-B14F-4D97-AF65-F5344CB8AC3E}">
        <p14:creationId xmlns:p14="http://schemas.microsoft.com/office/powerpoint/2010/main" val="29098438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7504"/>
            <a:ext cx="10058400" cy="851008"/>
          </a:xfrm>
        </p:spPr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07560"/>
            <a:ext cx="10058400" cy="47646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Comprendre comment </a:t>
            </a:r>
            <a:r>
              <a:rPr lang="fr-FR" sz="2400" b="1" dirty="0"/>
              <a:t>un </a:t>
            </a:r>
            <a:r>
              <a:rPr lang="fr-FR" sz="2400" b="1" dirty="0" err="1"/>
              <a:t>backend</a:t>
            </a:r>
            <a:r>
              <a:rPr lang="fr-FR" sz="2400" b="1" dirty="0"/>
              <a:t> </a:t>
            </a:r>
            <a:r>
              <a:rPr lang="fr-FR" sz="2400" b="1" dirty="0" err="1"/>
              <a:t>Spring</a:t>
            </a:r>
            <a:r>
              <a:rPr lang="fr-FR" sz="2400" b="1" dirty="0"/>
              <a:t> Boot</a:t>
            </a:r>
            <a:r>
              <a:rPr lang="fr-FR" sz="2400" dirty="0"/>
              <a:t> consomme une </a:t>
            </a:r>
            <a:r>
              <a:rPr lang="fr-FR" sz="2400" b="1" dirty="0"/>
              <a:t>API externe sécurisée</a:t>
            </a:r>
            <a:r>
              <a:rPr lang="fr-FR" sz="2400" dirty="0"/>
              <a:t> (banque, paiement, service gouvernemental</a:t>
            </a:r>
            <a:r>
              <a:rPr lang="fr-FR" sz="2400" dirty="0" smtClean="0"/>
              <a:t>…).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Gérer la communication via </a:t>
            </a:r>
            <a:r>
              <a:rPr lang="fr-FR" sz="2400" b="1" dirty="0"/>
              <a:t>HTTP REST (GET, POST, PUT)</a:t>
            </a:r>
            <a:r>
              <a:rPr lang="fr-FR" sz="2400" dirty="0"/>
              <a:t> avec </a:t>
            </a:r>
            <a:r>
              <a:rPr lang="fr-FR" sz="2400" b="1" dirty="0" err="1"/>
              <a:t>Spring</a:t>
            </a:r>
            <a:r>
              <a:rPr lang="fr-FR" sz="2400" b="1" dirty="0"/>
              <a:t> </a:t>
            </a:r>
            <a:r>
              <a:rPr lang="fr-FR" sz="2400" b="1" dirty="0" err="1"/>
              <a:t>WebClient</a:t>
            </a:r>
            <a:r>
              <a:rPr lang="fr-FR" sz="2400" dirty="0"/>
              <a:t> ou </a:t>
            </a:r>
            <a:r>
              <a:rPr lang="fr-FR" sz="2400" b="1" dirty="0" err="1"/>
              <a:t>RestTemplate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Intégrer les résultats côté </a:t>
            </a:r>
            <a:r>
              <a:rPr lang="fr-FR" sz="2400" b="1" dirty="0" err="1"/>
              <a:t>Angular</a:t>
            </a:r>
            <a:r>
              <a:rPr lang="fr-FR" sz="2400" dirty="0"/>
              <a:t> pour afficher ou confirmer une transaction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Respecter les </a:t>
            </a:r>
            <a:r>
              <a:rPr lang="fr-FR" sz="2400" b="1" dirty="0"/>
              <a:t>bonnes pratiques de sécurité</a:t>
            </a:r>
            <a:r>
              <a:rPr lang="fr-FR" sz="2400" dirty="0"/>
              <a:t> et de </a:t>
            </a:r>
            <a:r>
              <a:rPr lang="fr-FR" sz="2400" b="1" dirty="0"/>
              <a:t>traçabilité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70078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838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Contexte CNSS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48656"/>
            <a:ext cx="10058400" cy="47235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L’application interne CNSS doit permettre, par exemple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la </a:t>
            </a:r>
            <a:r>
              <a:rPr lang="fr-FR" sz="2000" b="1" dirty="0"/>
              <a:t>consultation des cotisations</a:t>
            </a:r>
            <a:r>
              <a:rPr lang="fr-FR" sz="2000" dirty="0"/>
              <a:t> d’un affilié</a:t>
            </a:r>
            <a:r>
              <a:rPr lang="fr-FR" sz="2000" dirty="0" smtClean="0"/>
              <a:t>,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et le paiement électronique sécurisé via un partenaire externe (ex : API de paiement PAY-Niger</a:t>
            </a:r>
            <a:r>
              <a:rPr lang="fr-FR" sz="2000" dirty="0" smtClean="0"/>
              <a:t>).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L’API externe de paiement expose un contrat REST tel que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7311" y="4158337"/>
            <a:ext cx="5917915" cy="1841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17249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Corps de la requête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365" y="2321960"/>
            <a:ext cx="9298113" cy="35856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8828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Réponse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155" y="2321960"/>
            <a:ext cx="8209051" cy="31438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770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Communication </a:t>
            </a:r>
            <a:r>
              <a:rPr lang="fr-FR" sz="3600" dirty="0" err="1"/>
              <a:t>Backend</a:t>
            </a:r>
            <a:r>
              <a:rPr lang="fr-FR" sz="3600" dirty="0"/>
              <a:t> → API externe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Étape 1 – </a:t>
            </a:r>
            <a:r>
              <a:rPr lang="fr-FR" sz="3200" dirty="0" smtClean="0"/>
              <a:t>Dépendance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Étape 2 – Configuration d’un </a:t>
            </a:r>
            <a:r>
              <a:rPr lang="fr-FR" sz="3200" dirty="0" err="1" smtClean="0"/>
              <a:t>WebClient</a:t>
            </a:r>
            <a:endParaRPr lang="fr-FR" sz="3200" dirty="0" smtClean="0"/>
          </a:p>
          <a:p>
            <a:pPr algn="just">
              <a:lnSpc>
                <a:spcPct val="200000"/>
              </a:lnSpc>
            </a:pPr>
            <a:r>
              <a:rPr lang="fr-FR" sz="3200" dirty="0"/>
              <a:t>Étape 3 – Service pour appeler l’API externe</a:t>
            </a:r>
          </a:p>
        </p:txBody>
      </p:sp>
    </p:spTree>
    <p:extLst>
      <p:ext uri="{BB962C8B-B14F-4D97-AF65-F5344CB8AC3E}">
        <p14:creationId xmlns:p14="http://schemas.microsoft.com/office/powerpoint/2010/main" val="3585037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Étape 1 – </a:t>
            </a:r>
            <a:r>
              <a:rPr lang="fr-FR" dirty="0" smtClean="0"/>
              <a:t>Dépendance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4701" y="2650733"/>
            <a:ext cx="7171362" cy="22705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4172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Étape 2 – Configuration d’un </a:t>
            </a:r>
            <a:r>
              <a:rPr lang="fr-FR" sz="3600" dirty="0" err="1" smtClean="0"/>
              <a:t>WebClient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043" y="2013735"/>
            <a:ext cx="9061805" cy="4078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37580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56492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Étape 3 – Service pour appeler l’API externe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1816" y="1541124"/>
            <a:ext cx="8147406" cy="4664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00156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64024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Exemple d’objets de transfert (</a:t>
            </a:r>
            <a:r>
              <a:rPr lang="fr-FR" sz="4000" dirty="0" err="1"/>
              <a:t>DTOs</a:t>
            </a:r>
            <a:r>
              <a:rPr lang="fr-FR" sz="4000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17169" y="1448656"/>
            <a:ext cx="6606283" cy="4911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58624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20186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Contrôleur pour déclencher un paiement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1123" y="1304818"/>
            <a:ext cx="8465905" cy="51268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08686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Côté </a:t>
            </a:r>
            <a:r>
              <a:rPr lang="fr-FR" dirty="0" err="1"/>
              <a:t>Angular</a:t>
            </a:r>
            <a:r>
              <a:rPr lang="fr-FR" dirty="0"/>
              <a:t> (appel à ton </a:t>
            </a:r>
            <a:r>
              <a:rPr lang="fr-FR" dirty="0" err="1"/>
              <a:t>backend</a:t>
            </a:r>
            <a:r>
              <a:rPr lang="fr-FR" dirty="0"/>
              <a:t> CNSS)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Service </a:t>
            </a:r>
            <a:r>
              <a:rPr lang="fr-FR" dirty="0" err="1" smtClean="0"/>
              <a:t>Angular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Composant </a:t>
            </a:r>
            <a:r>
              <a:rPr lang="fr-FR" dirty="0" err="1"/>
              <a:t>Angular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4288" y="2688336"/>
            <a:ext cx="5553734" cy="34247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1910" y="2764986"/>
            <a:ext cx="5315455" cy="32482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4203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Bonnes pratiques</a:t>
            </a:r>
          </a:p>
        </p:txBody>
      </p:sp>
      <p:graphicFrame>
        <p:nvGraphicFramePr>
          <p:cNvPr id="8" name="Espace réservé du contenu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889604"/>
              </p:ext>
            </p:extLst>
          </p:nvPr>
        </p:nvGraphicFramePr>
        <p:xfrm>
          <a:off x="1069975" y="21209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03796693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511474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Sécuriser les clés d’API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Ne jamais les mettre en dur dans le code. Les placer dans </a:t>
                      </a:r>
                      <a:r>
                        <a:rPr lang="fr-FR" b="1" dirty="0" err="1" smtClean="0"/>
                        <a:t>application.yml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50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</a:rPr>
                        <a:t>Utiliser HTTPS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Toujours sécuriser la communication avec l’API externe.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8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</a:rPr>
                        <a:t>Gérer les erreurs réseau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Utiliser .</a:t>
                      </a:r>
                      <a:r>
                        <a:rPr lang="fr-FR" b="1" dirty="0" err="1" smtClean="0"/>
                        <a:t>onStatus</a:t>
                      </a:r>
                      <a:r>
                        <a:rPr lang="fr-FR" b="1" dirty="0" smtClean="0"/>
                        <a:t>() dans </a:t>
                      </a:r>
                      <a:r>
                        <a:rPr lang="fr-FR" b="1" dirty="0" err="1" smtClean="0"/>
                        <a:t>WebClient</a:t>
                      </a:r>
                      <a:r>
                        <a:rPr lang="fr-FR" b="1" dirty="0" smtClean="0"/>
                        <a:t> pour intercepter les erreurs.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7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>
                          <a:solidFill>
                            <a:srgbClr val="FF0000"/>
                          </a:solidFill>
                        </a:rPr>
                        <a:t>Logger</a:t>
                      </a:r>
                      <a:r>
                        <a:rPr lang="fr-FR" b="1" dirty="0" smtClean="0">
                          <a:solidFill>
                            <a:srgbClr val="FF0000"/>
                          </a:solidFill>
                        </a:rPr>
                        <a:t> les requêtes/réponses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Pour audit interne CNSS (traçabilité des paiements).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3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</a:rPr>
                        <a:t>Documenter avec </a:t>
                      </a:r>
                      <a:r>
                        <a:rPr lang="fr-FR" b="1" dirty="0" err="1" smtClean="0">
                          <a:solidFill>
                            <a:srgbClr val="FF0000"/>
                          </a:solidFill>
                        </a:rPr>
                        <a:t>Swagger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Ajouter les </a:t>
                      </a:r>
                      <a:r>
                        <a:rPr lang="fr-FR" b="1" dirty="0" err="1" smtClean="0"/>
                        <a:t>endpoints</a:t>
                      </a:r>
                      <a:r>
                        <a:rPr lang="fr-FR" b="1" dirty="0" smtClean="0"/>
                        <a:t> /api/paiements à </a:t>
                      </a:r>
                      <a:r>
                        <a:rPr lang="fr-FR" b="1" dirty="0" err="1" smtClean="0"/>
                        <a:t>Swagger</a:t>
                      </a:r>
                      <a:r>
                        <a:rPr lang="fr-FR" b="1" dirty="0" smtClean="0"/>
                        <a:t> UI pour test et suivi.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4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9207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560" y="2219218"/>
            <a:ext cx="9411128" cy="3739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6176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Optimisation, déploiement &amp; bonnes pratiques</a:t>
            </a:r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1734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Tester et valider les fonctionnalités de leur application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Optimiser </a:t>
            </a:r>
            <a:r>
              <a:rPr lang="fr-FR" sz="2400" dirty="0"/>
              <a:t>le code et les performances côté front &amp; back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Construire </a:t>
            </a:r>
            <a:r>
              <a:rPr lang="fr-FR" sz="2400" dirty="0"/>
              <a:t>et déployer l’application dans un environnement serveur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Appliquer </a:t>
            </a:r>
            <a:r>
              <a:rPr lang="fr-FR" sz="2400" dirty="0"/>
              <a:t>les bonnes pratiques d’architecture et de maintenance logicielle.</a:t>
            </a:r>
          </a:p>
        </p:txBody>
      </p:sp>
    </p:spTree>
    <p:extLst>
      <p:ext uri="{BB962C8B-B14F-4D97-AF65-F5344CB8AC3E}">
        <p14:creationId xmlns:p14="http://schemas.microsoft.com/office/powerpoint/2010/main" val="38041210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Tests &amp; validations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Objectif </a:t>
            </a:r>
            <a:endParaRPr lang="fr-FR" sz="3200" dirty="0" smtClean="0"/>
          </a:p>
          <a:p>
            <a:pPr lvl="1" algn="just">
              <a:lnSpc>
                <a:spcPct val="200000"/>
              </a:lnSpc>
            </a:pPr>
            <a:r>
              <a:rPr lang="fr-FR" sz="2800" dirty="0"/>
              <a:t>Garantir la fiabilité du code avant la mise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41512724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Tests </a:t>
            </a:r>
            <a:r>
              <a:rPr lang="en-US" sz="3600" dirty="0" err="1"/>
              <a:t>unitaires</a:t>
            </a:r>
            <a:r>
              <a:rPr lang="en-US" sz="3600" dirty="0"/>
              <a:t> (Spring Boot + Angular)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Backend</a:t>
            </a:r>
            <a:r>
              <a:rPr lang="fr-FR" sz="2800" dirty="0"/>
              <a:t> : </a:t>
            </a:r>
            <a:r>
              <a:rPr lang="fr-FR" sz="2800" dirty="0" err="1"/>
              <a:t>JUnit</a:t>
            </a:r>
            <a:r>
              <a:rPr lang="fr-FR" sz="2800" dirty="0"/>
              <a:t> 5, </a:t>
            </a:r>
            <a:r>
              <a:rPr lang="fr-FR" sz="2800" dirty="0" err="1" smtClean="0"/>
              <a:t>Mockito</a:t>
            </a:r>
            <a:endParaRPr lang="fr-FR" sz="2800" dirty="0" smtClean="0"/>
          </a:p>
          <a:p>
            <a:pPr algn="just">
              <a:lnSpc>
                <a:spcPct val="200000"/>
              </a:lnSpc>
            </a:pPr>
            <a:r>
              <a:rPr lang="fr-FR" sz="2800" dirty="0" err="1"/>
              <a:t>Frontend</a:t>
            </a:r>
            <a:r>
              <a:rPr lang="fr-FR" sz="2800" dirty="0"/>
              <a:t> : Jasmine, Karma</a:t>
            </a:r>
          </a:p>
        </p:txBody>
      </p:sp>
    </p:spTree>
    <p:extLst>
      <p:ext uri="{BB962C8B-B14F-4D97-AF65-F5344CB8AC3E}">
        <p14:creationId xmlns:p14="http://schemas.microsoft.com/office/powerpoint/2010/main" val="3946726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Tests d’intégration (API)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Vérification des </a:t>
            </a:r>
            <a:r>
              <a:rPr lang="fr-FR" sz="2800" dirty="0" err="1"/>
              <a:t>endpoints</a:t>
            </a:r>
            <a:r>
              <a:rPr lang="fr-FR" sz="2800" dirty="0"/>
              <a:t> REST avec </a:t>
            </a:r>
            <a:r>
              <a:rPr lang="fr-FR" sz="2800" dirty="0" err="1" smtClean="0"/>
              <a:t>MockMvc</a:t>
            </a:r>
            <a:endParaRPr lang="fr-FR" sz="2800" dirty="0" smtClean="0"/>
          </a:p>
          <a:p>
            <a:pPr algn="just">
              <a:lnSpc>
                <a:spcPct val="200000"/>
              </a:lnSpc>
            </a:pPr>
            <a:r>
              <a:rPr lang="fr-FR" sz="2800" dirty="0"/>
              <a:t>Exemple : /api/affilies, /api/paiement</a:t>
            </a:r>
          </a:p>
        </p:txBody>
      </p:sp>
    </p:spTree>
    <p:extLst>
      <p:ext uri="{BB962C8B-B14F-4D97-AF65-F5344CB8AC3E}">
        <p14:creationId xmlns:p14="http://schemas.microsoft.com/office/powerpoint/2010/main" val="25204262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Validation des entrées (</a:t>
            </a:r>
            <a:r>
              <a:rPr lang="fr-FR" sz="4000" dirty="0" err="1"/>
              <a:t>Backend</a:t>
            </a:r>
            <a:r>
              <a:rPr lang="fr-FR" sz="4000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Annotations @</a:t>
            </a:r>
            <a:r>
              <a:rPr lang="fr-FR" b="1" dirty="0" err="1"/>
              <a:t>Valid</a:t>
            </a:r>
            <a:r>
              <a:rPr lang="fr-FR" dirty="0"/>
              <a:t>, @</a:t>
            </a:r>
            <a:r>
              <a:rPr lang="fr-FR" b="1" dirty="0" err="1"/>
              <a:t>NotNull</a:t>
            </a:r>
            <a:r>
              <a:rPr lang="fr-FR" dirty="0"/>
              <a:t>, @</a:t>
            </a:r>
            <a:r>
              <a:rPr lang="fr-FR" b="1" dirty="0"/>
              <a:t>Email</a:t>
            </a:r>
            <a:r>
              <a:rPr lang="fr-FR" dirty="0"/>
              <a:t>, @</a:t>
            </a:r>
            <a:r>
              <a:rPr lang="fr-FR" b="1" dirty="0" smtClean="0"/>
              <a:t>Size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Gestion des erreurs avec </a:t>
            </a:r>
            <a:r>
              <a:rPr lang="fr-FR" b="1" dirty="0"/>
              <a:t>@</a:t>
            </a:r>
            <a:r>
              <a:rPr lang="fr-FR" b="1" dirty="0" err="1"/>
              <a:t>ControllerAdvice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437111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Optimisation &amp; </a:t>
            </a:r>
            <a:r>
              <a:rPr lang="fr-FR" dirty="0" err="1"/>
              <a:t>build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/>
              <a:t>Améliorer la performance et réduire la taille du déploiement.</a:t>
            </a:r>
          </a:p>
        </p:txBody>
      </p:sp>
    </p:spTree>
    <p:extLst>
      <p:ext uri="{BB962C8B-B14F-4D97-AF65-F5344CB8AC3E}">
        <p14:creationId xmlns:p14="http://schemas.microsoft.com/office/powerpoint/2010/main" val="26454539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fr-FR" dirty="0"/>
              <a:t>Côté </a:t>
            </a:r>
            <a:r>
              <a:rPr lang="fr-FR" dirty="0" err="1"/>
              <a:t>Angular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Commande de </a:t>
            </a:r>
            <a:r>
              <a:rPr lang="fr-FR" sz="2800" dirty="0" err="1"/>
              <a:t>build</a:t>
            </a:r>
            <a:r>
              <a:rPr lang="fr-FR" sz="2800" dirty="0"/>
              <a:t> optimisé </a:t>
            </a:r>
            <a:r>
              <a:rPr lang="fr-FR" sz="2800" dirty="0" smtClean="0"/>
              <a:t>:</a:t>
            </a:r>
          </a:p>
          <a:p>
            <a:pPr>
              <a:lnSpc>
                <a:spcPct val="200000"/>
              </a:lnSpc>
            </a:pPr>
            <a:r>
              <a:rPr lang="fr-FR" sz="2800" dirty="0" err="1"/>
              <a:t>ng</a:t>
            </a:r>
            <a:r>
              <a:rPr lang="fr-FR" sz="2800" dirty="0"/>
              <a:t> </a:t>
            </a:r>
            <a:r>
              <a:rPr lang="fr-FR" sz="2800" dirty="0" err="1"/>
              <a:t>build</a:t>
            </a:r>
            <a:r>
              <a:rPr lang="fr-FR" sz="2800" dirty="0"/>
              <a:t> --configuration </a:t>
            </a:r>
            <a:r>
              <a:rPr lang="fr-FR" sz="2800" dirty="0" smtClean="0"/>
              <a:t>production</a:t>
            </a:r>
          </a:p>
          <a:p>
            <a:pPr>
              <a:lnSpc>
                <a:spcPct val="200000"/>
              </a:lnSpc>
            </a:pPr>
            <a:r>
              <a:rPr lang="en-US" sz="2800" dirty="0" err="1"/>
              <a:t>Minification</a:t>
            </a:r>
            <a:r>
              <a:rPr lang="en-US" sz="2800" dirty="0"/>
              <a:t>, tree-shaking, lazy loading des modules</a:t>
            </a:r>
            <a:r>
              <a:rPr lang="en-US" sz="28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800" dirty="0"/>
              <a:t>Optimisation du </a:t>
            </a:r>
            <a:r>
              <a:rPr lang="fr-FR" sz="2800" i="1" dirty="0"/>
              <a:t>Change </a:t>
            </a:r>
            <a:r>
              <a:rPr lang="fr-FR" sz="2800" i="1" dirty="0" err="1"/>
              <a:t>Detection</a:t>
            </a:r>
            <a:r>
              <a:rPr lang="fr-FR" sz="2800" dirty="0"/>
              <a:t> et des observables.</a:t>
            </a:r>
          </a:p>
          <a:p>
            <a:pPr>
              <a:lnSpc>
                <a:spcPct val="200000"/>
              </a:lnSpc>
            </a:pPr>
            <a:endParaRPr lang="fr-FR" sz="2800" dirty="0" smtClean="0"/>
          </a:p>
          <a:p>
            <a:pPr>
              <a:lnSpc>
                <a:spcPct val="200000"/>
              </a:lnSpc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421253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Côté </a:t>
            </a:r>
            <a:r>
              <a:rPr lang="fr-FR" dirty="0" err="1"/>
              <a:t>Spring</a:t>
            </a:r>
            <a:r>
              <a:rPr lang="fr-FR" dirty="0"/>
              <a:t> Boot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Profil de production (application-</a:t>
            </a:r>
            <a:r>
              <a:rPr lang="fr-FR" dirty="0" err="1"/>
              <a:t>prod.yml</a:t>
            </a:r>
            <a:r>
              <a:rPr lang="fr-FR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Cache HTTP, compression GZIP, pagination côté serveur</a:t>
            </a:r>
            <a:r>
              <a:rPr lang="fr-FR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Monitoring avec </a:t>
            </a:r>
            <a:r>
              <a:rPr lang="fr-FR" b="1" dirty="0" err="1"/>
              <a:t>Spring</a:t>
            </a:r>
            <a:r>
              <a:rPr lang="fr-FR" b="1" dirty="0"/>
              <a:t> </a:t>
            </a:r>
            <a:r>
              <a:rPr lang="fr-FR" b="1" dirty="0" err="1"/>
              <a:t>Actuator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3215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Déploiement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Objectif : Mettre l’application en ligne sur un serveur CNSS (Linux ou Cloud).</a:t>
            </a:r>
          </a:p>
        </p:txBody>
      </p:sp>
    </p:spTree>
    <p:extLst>
      <p:ext uri="{BB962C8B-B14F-4D97-AF65-F5344CB8AC3E}">
        <p14:creationId xmlns:p14="http://schemas.microsoft.com/office/powerpoint/2010/main" val="27987027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Génération du package </a:t>
            </a:r>
            <a:r>
              <a:rPr lang="fr-FR" sz="4000" dirty="0" err="1"/>
              <a:t>Spring</a:t>
            </a:r>
            <a:r>
              <a:rPr lang="fr-FR" sz="4000" dirty="0"/>
              <a:t> Boot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err="1"/>
              <a:t>mvn</a:t>
            </a:r>
            <a:r>
              <a:rPr lang="fr-FR" sz="3200" dirty="0"/>
              <a:t> clean package</a:t>
            </a:r>
          </a:p>
          <a:p>
            <a:pPr algn="just">
              <a:lnSpc>
                <a:spcPct val="200000"/>
              </a:lnSpc>
            </a:pPr>
            <a:r>
              <a:rPr lang="fr-FR" sz="3200" dirty="0"/>
              <a:t>java -jar </a:t>
            </a:r>
            <a:r>
              <a:rPr lang="fr-FR" sz="3200" dirty="0" err="1"/>
              <a:t>target</a:t>
            </a:r>
            <a:r>
              <a:rPr lang="fr-FR" sz="3200" dirty="0"/>
              <a:t>/cnss-app.jar</a:t>
            </a:r>
          </a:p>
        </p:txBody>
      </p:sp>
    </p:spTree>
    <p:extLst>
      <p:ext uri="{BB962C8B-B14F-4D97-AF65-F5344CB8AC3E}">
        <p14:creationId xmlns:p14="http://schemas.microsoft.com/office/powerpoint/2010/main" val="831353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Déploiement du </a:t>
            </a:r>
            <a:r>
              <a:rPr lang="fr-FR" dirty="0" err="1"/>
              <a:t>frontend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 dans le </a:t>
            </a:r>
            <a:r>
              <a:rPr lang="fr-FR" dirty="0" err="1"/>
              <a:t>backend</a:t>
            </a:r>
            <a:r>
              <a:rPr lang="fr-FR" dirty="0"/>
              <a:t>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Copier le dossier </a:t>
            </a:r>
            <a:r>
              <a:rPr lang="fr-FR" sz="2400" dirty="0" err="1"/>
              <a:t>dist</a:t>
            </a:r>
            <a:r>
              <a:rPr lang="fr-FR" sz="2400" dirty="0"/>
              <a:t>/ dans </a:t>
            </a:r>
            <a:r>
              <a:rPr lang="fr-FR" sz="2400" dirty="0" err="1" smtClean="0"/>
              <a:t>src</a:t>
            </a:r>
            <a:r>
              <a:rPr lang="fr-FR" sz="2400" dirty="0" smtClean="0"/>
              <a:t>/main/</a:t>
            </a:r>
            <a:r>
              <a:rPr lang="fr-FR" sz="2400" dirty="0" err="1" smtClean="0"/>
              <a:t>resources</a:t>
            </a:r>
            <a:r>
              <a:rPr lang="fr-FR" sz="2400" dirty="0" smtClean="0"/>
              <a:t>/</a:t>
            </a:r>
            <a:r>
              <a:rPr lang="fr-FR" sz="2400" dirty="0" err="1" smtClean="0"/>
              <a:t>static</a:t>
            </a:r>
            <a:endParaRPr lang="fr-FR" sz="2400" dirty="0" smtClean="0"/>
          </a:p>
          <a:p>
            <a:pPr algn="just">
              <a:lnSpc>
                <a:spcPct val="200000"/>
              </a:lnSpc>
            </a:pPr>
            <a:r>
              <a:rPr lang="fr-FR" sz="2400" dirty="0"/>
              <a:t>Configuration du proxy si besoin.</a:t>
            </a:r>
          </a:p>
        </p:txBody>
      </p:sp>
    </p:spTree>
    <p:extLst>
      <p:ext uri="{BB962C8B-B14F-4D97-AF65-F5344CB8AC3E}">
        <p14:creationId xmlns:p14="http://schemas.microsoft.com/office/powerpoint/2010/main" val="5925099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Déploiement sur serveur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 err="1"/>
              <a:t>Tomcat</a:t>
            </a:r>
            <a:r>
              <a:rPr lang="fr-FR" dirty="0"/>
              <a:t>, Docker, ou serveur Linux (Ubuntu</a:t>
            </a:r>
            <a:r>
              <a:rPr lang="fr-FR" dirty="0" smtClean="0"/>
              <a:t>)</a:t>
            </a:r>
          </a:p>
          <a:p>
            <a:r>
              <a:rPr lang="fr-FR" dirty="0"/>
              <a:t>Exemple de conteneurisation Docker </a:t>
            </a:r>
            <a:r>
              <a:rPr lang="fr-FR" dirty="0" smtClean="0"/>
              <a:t>: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3626" y="3676021"/>
            <a:ext cx="4242683" cy="19747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20576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50000"/>
              </a:lnSpc>
            </a:pPr>
            <a:r>
              <a:rPr lang="fr-FR" sz="3600" dirty="0"/>
              <a:t>Tests post-déploiement avec </a:t>
            </a:r>
            <a:r>
              <a:rPr lang="fr-FR" sz="3600" b="1" dirty="0" err="1"/>
              <a:t>Swagger</a:t>
            </a:r>
            <a:r>
              <a:rPr lang="fr-FR" sz="3600" dirty="0"/>
              <a:t> &amp; </a:t>
            </a:r>
            <a:r>
              <a:rPr lang="fr-FR" sz="3600" b="1" dirty="0" err="1"/>
              <a:t>Postman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72961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Bonnes pratiques &amp; architecture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Architecture en </a:t>
            </a:r>
            <a:r>
              <a:rPr lang="fr-FR" sz="2800" dirty="0" smtClean="0"/>
              <a:t>couches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Gestion des erreurs et </a:t>
            </a:r>
            <a:r>
              <a:rPr lang="fr-FR" sz="2800" dirty="0" smtClean="0"/>
              <a:t>logs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Sécurité &amp; configuration </a:t>
            </a:r>
            <a:endParaRPr lang="fr-FR" sz="2800" dirty="0" smtClean="0"/>
          </a:p>
          <a:p>
            <a:pPr algn="just">
              <a:lnSpc>
                <a:spcPct val="200000"/>
              </a:lnSpc>
            </a:pPr>
            <a:r>
              <a:rPr lang="fr-FR" sz="2800" dirty="0"/>
              <a:t>Côté </a:t>
            </a:r>
            <a:r>
              <a:rPr lang="fr-FR" sz="2800" dirty="0" err="1"/>
              <a:t>Angular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065033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Architecture en couches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Controller → Service → </a:t>
            </a:r>
            <a:r>
              <a:rPr lang="fr-FR" sz="2400" dirty="0" err="1"/>
              <a:t>Repository</a:t>
            </a:r>
            <a:r>
              <a:rPr lang="fr-FR" sz="2400" dirty="0"/>
              <a:t> → </a:t>
            </a:r>
            <a:r>
              <a:rPr lang="fr-FR" sz="2400" dirty="0" err="1" smtClean="0"/>
              <a:t>Entity</a:t>
            </a:r>
            <a:endParaRPr lang="fr-FR" sz="2400" dirty="0" smtClean="0"/>
          </a:p>
          <a:p>
            <a:pPr algn="just">
              <a:lnSpc>
                <a:spcPct val="200000"/>
              </a:lnSpc>
            </a:pPr>
            <a:r>
              <a:rPr lang="fr-FR" sz="2400" dirty="0"/>
              <a:t>Responsabilités bien séparées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Respect du principe </a:t>
            </a:r>
            <a:r>
              <a:rPr lang="fr-FR" sz="2400" b="1" dirty="0"/>
              <a:t>SRP (Single </a:t>
            </a:r>
            <a:r>
              <a:rPr lang="fr-FR" sz="2400" b="1" dirty="0" err="1"/>
              <a:t>Responsibility</a:t>
            </a:r>
            <a:r>
              <a:rPr lang="fr-FR" sz="2400" b="1" dirty="0"/>
              <a:t> </a:t>
            </a:r>
            <a:r>
              <a:rPr lang="fr-FR" sz="2400" b="1" dirty="0" err="1"/>
              <a:t>Principle</a:t>
            </a:r>
            <a:r>
              <a:rPr lang="fr-FR" sz="2400" b="1" dirty="0"/>
              <a:t>)</a:t>
            </a:r>
            <a:r>
              <a:rPr lang="fr-FR" sz="2400" dirty="0"/>
              <a:t>.</a:t>
            </a:r>
            <a:endParaRPr lang="fr-FR" sz="2400" dirty="0" smtClean="0"/>
          </a:p>
          <a:p>
            <a:pPr algn="just">
              <a:lnSpc>
                <a:spcPct val="20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279495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Gestion des erreurs et logs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/>
              <a:t>Utiliser @</a:t>
            </a:r>
            <a:r>
              <a:rPr lang="fr-FR" dirty="0" err="1"/>
              <a:t>ControllerAdvice</a:t>
            </a:r>
            <a:r>
              <a:rPr lang="fr-FR" dirty="0"/>
              <a:t> et </a:t>
            </a:r>
            <a:r>
              <a:rPr lang="fr-FR" dirty="0" err="1"/>
              <a:t>ResponseEntityExceptionHandler</a:t>
            </a:r>
            <a:r>
              <a:rPr lang="fr-FR" dirty="0" smtClean="0"/>
              <a:t>.</a:t>
            </a:r>
          </a:p>
          <a:p>
            <a:pPr algn="just">
              <a:lnSpc>
                <a:spcPct val="300000"/>
              </a:lnSpc>
            </a:pPr>
            <a:r>
              <a:rPr lang="fr-FR" dirty="0" err="1"/>
              <a:t>Logger</a:t>
            </a:r>
            <a:r>
              <a:rPr lang="fr-FR" dirty="0"/>
              <a:t> avec </a:t>
            </a:r>
            <a:r>
              <a:rPr lang="fr-FR" b="1" dirty="0"/>
              <a:t>SLF4J / </a:t>
            </a:r>
            <a:r>
              <a:rPr lang="fr-FR" b="1" dirty="0" err="1"/>
              <a:t>Logback</a:t>
            </a:r>
            <a:r>
              <a:rPr lang="fr-FR" dirty="0"/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Utiliser </a:t>
            </a:r>
            <a:r>
              <a:rPr kumimoji="0" lang="fr-FR" altLang="fr-F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@ControllerAdvice</a:t>
            </a:r>
            <a:r>
              <a:rPr kumimoji="0" lang="fr-FR" altLang="fr-F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et </a:t>
            </a:r>
            <a:r>
              <a:rPr kumimoji="0" lang="fr-FR" altLang="fr-F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ResponseEntityExceptionHandler</a:t>
            </a:r>
            <a:r>
              <a:rPr kumimoji="0" lang="fr-FR" altLang="fr-F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225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Sécurité &amp; configuration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Variables d’environnement pour les secrets (API paiement, DB, etc</a:t>
            </a:r>
            <a:r>
              <a:rPr lang="fr-FR" dirty="0" smtClean="0"/>
              <a:t>.).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Utiliser </a:t>
            </a:r>
            <a:r>
              <a:rPr lang="fr-FR" dirty="0" err="1"/>
              <a:t>application.yml</a:t>
            </a:r>
            <a:r>
              <a:rPr lang="fr-FR" dirty="0"/>
              <a:t> plutôt que .</a:t>
            </a:r>
            <a:r>
              <a:rPr lang="fr-FR" dirty="0" err="1"/>
              <a:t>properties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644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Côté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Low">
              <a:lnSpc>
                <a:spcPct val="200000"/>
              </a:lnSpc>
            </a:pPr>
            <a:r>
              <a:rPr lang="fr-FR" dirty="0"/>
              <a:t>Modularité (</a:t>
            </a:r>
            <a:r>
              <a:rPr lang="fr-FR" dirty="0" err="1"/>
              <a:t>feature</a:t>
            </a:r>
            <a:r>
              <a:rPr lang="fr-FR" dirty="0"/>
              <a:t> modules</a:t>
            </a:r>
            <a:r>
              <a:rPr lang="fr-FR" dirty="0" smtClean="0"/>
              <a:t>)</a:t>
            </a:r>
          </a:p>
          <a:p>
            <a:pPr algn="justLow">
              <a:lnSpc>
                <a:spcPct val="200000"/>
              </a:lnSpc>
            </a:pPr>
            <a:r>
              <a:rPr lang="fr-FR" dirty="0"/>
              <a:t>Services centralisés pour la communication HTTP</a:t>
            </a:r>
            <a:r>
              <a:rPr lang="fr-FR" dirty="0" smtClean="0"/>
              <a:t>.</a:t>
            </a:r>
          </a:p>
          <a:p>
            <a:pPr algn="justLow">
              <a:lnSpc>
                <a:spcPct val="200000"/>
              </a:lnSpc>
            </a:pPr>
            <a:r>
              <a:rPr lang="fr-FR" dirty="0"/>
              <a:t>Réutilisation via composants et </a:t>
            </a:r>
            <a:r>
              <a:rPr lang="fr-FR" dirty="0" err="1" smtClean="0"/>
              <a:t>pipes.Z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63007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Vérifier que Git est installé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git </a:t>
            </a:r>
            <a:r>
              <a:rPr lang="fr-FR" b="1" dirty="0" smtClean="0"/>
              <a:t>–version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573774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24977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>Vérifier le plugin </a:t>
            </a:r>
            <a:r>
              <a:rPr lang="fr-FR" sz="4000" dirty="0" err="1"/>
              <a:t>EGit</a:t>
            </a:r>
            <a:r>
              <a:rPr lang="fr-FR" sz="4000" dirty="0"/>
              <a:t> dans Eclipse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45915"/>
            <a:ext cx="10058400" cy="482628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Eclipse intègre souvent </a:t>
            </a:r>
            <a:r>
              <a:rPr lang="fr-FR" sz="2400" b="1" dirty="0" err="1"/>
              <a:t>EGit</a:t>
            </a:r>
            <a:r>
              <a:rPr lang="fr-FR" sz="2400" dirty="0"/>
              <a:t> par défaut (le plugin Git) Pour vérifier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 Va dans </a:t>
            </a:r>
            <a:r>
              <a:rPr lang="fr-FR" sz="2000" b="1" dirty="0"/>
              <a:t>Help → About Eclipse IDE → Installation </a:t>
            </a:r>
            <a:r>
              <a:rPr lang="fr-FR" sz="2000" b="1" dirty="0" err="1" smtClean="0"/>
              <a:t>Details</a:t>
            </a:r>
            <a:endParaRPr lang="fr-FR" sz="2000" b="1" dirty="0" smtClean="0"/>
          </a:p>
          <a:p>
            <a:pPr lvl="1" algn="just">
              <a:lnSpc>
                <a:spcPct val="150000"/>
              </a:lnSpc>
            </a:pPr>
            <a:r>
              <a:rPr lang="fr-FR" sz="2000" dirty="0"/>
              <a:t>Cherche </a:t>
            </a:r>
            <a:r>
              <a:rPr lang="fr-FR" sz="2000" b="1" dirty="0" err="1"/>
              <a:t>EGit</a:t>
            </a:r>
            <a:r>
              <a:rPr lang="fr-FR" sz="2000" dirty="0"/>
              <a:t> dans la liste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Si tu ne le trouves pas, installe-le </a:t>
            </a:r>
            <a:r>
              <a:rPr lang="fr-FR" sz="1800" dirty="0" smtClean="0"/>
              <a:t>: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/>
              <a:t>Menu : </a:t>
            </a:r>
            <a:r>
              <a:rPr lang="en-US" sz="1800" b="1" dirty="0"/>
              <a:t>Help → Install New Software</a:t>
            </a:r>
            <a:r>
              <a:rPr lang="en-US" sz="1800" b="1" dirty="0" smtClean="0"/>
              <a:t>…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Dans le champ </a:t>
            </a:r>
            <a:r>
              <a:rPr lang="fr-FR" sz="2000" i="1" dirty="0" err="1"/>
              <a:t>Work</a:t>
            </a:r>
            <a:r>
              <a:rPr lang="fr-FR" sz="2000" i="1" dirty="0"/>
              <a:t> </a:t>
            </a:r>
            <a:r>
              <a:rPr lang="fr-FR" sz="2000" i="1" dirty="0" err="1"/>
              <a:t>with</a:t>
            </a:r>
            <a:r>
              <a:rPr lang="fr-FR" sz="2000" dirty="0"/>
              <a:t>, choisis un site de mise à jour Eclipse (ou colle ceci selon ta version) </a:t>
            </a:r>
            <a:r>
              <a:rPr lang="fr-FR" sz="2000" dirty="0" smtClean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fr-FR" sz="1800" b="1" dirty="0">
                <a:solidFill>
                  <a:srgbClr val="FF0000"/>
                </a:solidFill>
                <a:hlinkClick r:id="rId2"/>
              </a:rPr>
              <a:t>http://</a:t>
            </a:r>
            <a:r>
              <a:rPr lang="fr-FR" sz="1800" b="1" dirty="0" smtClean="0">
                <a:solidFill>
                  <a:srgbClr val="FF0000"/>
                </a:solidFill>
                <a:hlinkClick r:id="rId2"/>
              </a:rPr>
              <a:t>download.eclipse.org/egit/updates</a:t>
            </a:r>
            <a:endParaRPr lang="fr-FR" sz="1800" b="1" dirty="0" smtClean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Coche </a:t>
            </a:r>
            <a:r>
              <a:rPr lang="fr-FR" sz="2000" b="1" dirty="0" err="1"/>
              <a:t>EGit</a:t>
            </a:r>
            <a:r>
              <a:rPr lang="fr-FR" sz="2000" dirty="0"/>
              <a:t>, puis installe.</a:t>
            </a:r>
          </a:p>
        </p:txBody>
      </p:sp>
    </p:spTree>
    <p:extLst>
      <p:ext uri="{BB962C8B-B14F-4D97-AF65-F5344CB8AC3E}">
        <p14:creationId xmlns:p14="http://schemas.microsoft.com/office/powerpoint/2010/main" val="59246289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51008"/>
          </a:xfrm>
        </p:spPr>
        <p:txBody>
          <a:bodyPr/>
          <a:lstStyle/>
          <a:p>
            <a:pPr algn="ctr"/>
            <a:r>
              <a:rPr lang="fr-FR" dirty="0"/>
              <a:t>Configurer ton identité Git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69204"/>
            <a:ext cx="10058400" cy="47029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Avant de travailler avec GitHub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Menu : </a:t>
            </a:r>
            <a:r>
              <a:rPr lang="fr-FR" sz="2000" b="1" dirty="0" err="1"/>
              <a:t>Window</a:t>
            </a:r>
            <a:r>
              <a:rPr lang="fr-FR" sz="2000" b="1" dirty="0"/>
              <a:t> → </a:t>
            </a:r>
            <a:r>
              <a:rPr lang="fr-FR" sz="2000" b="1" dirty="0" err="1"/>
              <a:t>Preferences</a:t>
            </a:r>
            <a:r>
              <a:rPr lang="fr-FR" sz="2000" b="1" dirty="0"/>
              <a:t> → Team → Git → </a:t>
            </a:r>
            <a:r>
              <a:rPr lang="fr-FR" sz="2000" b="1" dirty="0" smtClean="0"/>
              <a:t>Configuration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Clique sur </a:t>
            </a:r>
            <a:r>
              <a:rPr lang="fr-FR" sz="2000" b="1" dirty="0" err="1"/>
              <a:t>Add</a:t>
            </a:r>
            <a:r>
              <a:rPr lang="fr-FR" sz="2000" b="1" dirty="0"/>
              <a:t> </a:t>
            </a:r>
            <a:r>
              <a:rPr lang="fr-FR" sz="2000" b="1" dirty="0" smtClean="0"/>
              <a:t>Entry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Key : </a:t>
            </a:r>
            <a:r>
              <a:rPr lang="fr-FR" sz="1800" dirty="0" smtClean="0"/>
              <a:t>user.name	</a:t>
            </a:r>
          </a:p>
          <a:p>
            <a:pPr lvl="2" algn="just">
              <a:lnSpc>
                <a:spcPct val="150000"/>
              </a:lnSpc>
            </a:pPr>
            <a:r>
              <a:rPr lang="fr-FR" sz="1800" dirty="0"/>
              <a:t>Value : ton nom (ex. </a:t>
            </a:r>
            <a:r>
              <a:rPr lang="fr-FR" sz="1800" dirty="0" smtClean="0"/>
              <a:t>Tarik </a:t>
            </a:r>
            <a:r>
              <a:rPr lang="fr-FR" sz="1800" dirty="0" err="1"/>
              <a:t>Haddane</a:t>
            </a:r>
            <a:r>
              <a:rPr lang="fr-FR" sz="1800" dirty="0" smtClean="0"/>
              <a:t>)	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Key : </a:t>
            </a:r>
            <a:r>
              <a:rPr lang="fr-FR" sz="2400" dirty="0" err="1" smtClean="0"/>
              <a:t>user.email</a:t>
            </a:r>
            <a:endParaRPr lang="fr-FR" sz="2400" dirty="0" smtClean="0"/>
          </a:p>
          <a:p>
            <a:pPr algn="just">
              <a:lnSpc>
                <a:spcPct val="150000"/>
              </a:lnSpc>
            </a:pPr>
            <a:r>
              <a:rPr lang="fr-FR" sz="2400" dirty="0"/>
              <a:t>Value : ton email GitHub (ex. </a:t>
            </a:r>
            <a:r>
              <a:rPr lang="fr-FR" sz="2400" dirty="0">
                <a:hlinkClick r:id="rId2"/>
              </a:rPr>
              <a:t>tarik@example.com</a:t>
            </a:r>
            <a:r>
              <a:rPr lang="fr-FR" sz="2400" dirty="0" smtClean="0"/>
              <a:t>)	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960558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7929" y="248326"/>
            <a:ext cx="10058400" cy="758541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Connecter Eclipse à ton dépôt GitHub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66463"/>
            <a:ext cx="10058400" cy="480573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Connecter Eclipse à ton dépôt </a:t>
            </a:r>
            <a:r>
              <a:rPr lang="fr-FR" sz="2800" dirty="0" smtClean="0"/>
              <a:t>GitHub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Copie le lien HTTPS de ton dépôt sur GitHub (ex. </a:t>
            </a:r>
            <a:r>
              <a:rPr lang="fr-FR" sz="2800" dirty="0">
                <a:hlinkClick r:id="rId2"/>
              </a:rPr>
              <a:t>https://github.com/tonpseudo/mon-projet.git</a:t>
            </a:r>
            <a:r>
              <a:rPr lang="fr-FR" sz="2800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Dans Eclipse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/>
              <a:t>File → Import → </a:t>
            </a:r>
            <a:r>
              <a:rPr lang="en-US" sz="2400" dirty="0" err="1"/>
              <a:t>Git</a:t>
            </a:r>
            <a:r>
              <a:rPr lang="en-US" sz="2400" dirty="0"/>
              <a:t> → Projects from </a:t>
            </a:r>
            <a:r>
              <a:rPr lang="en-US" sz="2400" dirty="0" err="1"/>
              <a:t>Git</a:t>
            </a:r>
            <a:r>
              <a:rPr lang="en-US" sz="2400" dirty="0"/>
              <a:t> (with smart import</a:t>
            </a:r>
            <a:r>
              <a:rPr lang="en-US" sz="2400" dirty="0" smtClean="0"/>
              <a:t>)</a:t>
            </a:r>
          </a:p>
          <a:p>
            <a:pPr lvl="1"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751976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Important : GitHub n’accepte plus les mots de passe.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Tu dois utiliser un </a:t>
            </a:r>
            <a:r>
              <a:rPr lang="fr-FR" sz="2400" b="1" dirty="0" err="1"/>
              <a:t>Personal</a:t>
            </a:r>
            <a:r>
              <a:rPr lang="fr-FR" sz="2400" b="1" dirty="0"/>
              <a:t> Access </a:t>
            </a:r>
            <a:r>
              <a:rPr lang="fr-FR" sz="2400" b="1" dirty="0" err="1"/>
              <a:t>Token</a:t>
            </a:r>
            <a:r>
              <a:rPr lang="fr-FR" sz="2400" b="1" dirty="0"/>
              <a:t> (PAT)</a:t>
            </a:r>
            <a:r>
              <a:rPr lang="fr-FR" sz="2400" dirty="0"/>
              <a:t> Tu dois utiliser un </a:t>
            </a:r>
            <a:r>
              <a:rPr lang="fr-FR" sz="2400" b="1" dirty="0" err="1"/>
              <a:t>Personal</a:t>
            </a:r>
            <a:r>
              <a:rPr lang="fr-FR" sz="2400" b="1" dirty="0"/>
              <a:t> Access </a:t>
            </a:r>
            <a:r>
              <a:rPr lang="fr-FR" sz="2400" b="1" dirty="0" err="1" smtClean="0"/>
              <a:t>Token</a:t>
            </a:r>
            <a:r>
              <a:rPr lang="fr-FR" sz="2400" b="1" dirty="0" smtClean="0"/>
              <a:t> </a:t>
            </a:r>
            <a:r>
              <a:rPr lang="fr-FR" sz="2400" b="1" dirty="0"/>
              <a:t>(PAT)</a:t>
            </a:r>
            <a:r>
              <a:rPr lang="fr-FR" sz="2400" dirty="0"/>
              <a:t> :</a:t>
            </a:r>
            <a:r>
              <a:rPr lang="fr-FR" sz="2400" dirty="0" smtClean="0"/>
              <a:t>	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Va sur GitHub → </a:t>
            </a:r>
            <a:r>
              <a:rPr lang="fr-FR" sz="2400" b="1" dirty="0"/>
              <a:t>Settings → </a:t>
            </a:r>
            <a:r>
              <a:rPr lang="fr-FR" sz="2400" b="1" dirty="0" err="1"/>
              <a:t>Developer</a:t>
            </a:r>
            <a:r>
              <a:rPr lang="fr-FR" sz="2400" b="1" dirty="0"/>
              <a:t> settings → </a:t>
            </a:r>
            <a:r>
              <a:rPr lang="fr-FR" sz="2400" b="1" dirty="0" err="1"/>
              <a:t>Personal</a:t>
            </a:r>
            <a:r>
              <a:rPr lang="fr-FR" sz="2400" b="1" dirty="0"/>
              <a:t> </a:t>
            </a:r>
            <a:r>
              <a:rPr lang="fr-FR" sz="2400" b="1" dirty="0" err="1"/>
              <a:t>access</a:t>
            </a:r>
            <a:r>
              <a:rPr lang="fr-FR" sz="2400" b="1" dirty="0"/>
              <a:t> </a:t>
            </a:r>
            <a:r>
              <a:rPr lang="fr-FR" sz="2400" b="1" dirty="0" err="1"/>
              <a:t>tokens</a:t>
            </a:r>
            <a:r>
              <a:rPr lang="fr-FR" sz="2400" b="1" dirty="0"/>
              <a:t> → </a:t>
            </a:r>
            <a:r>
              <a:rPr lang="fr-FR" sz="2400" b="1" dirty="0" err="1"/>
              <a:t>Tokens</a:t>
            </a:r>
            <a:r>
              <a:rPr lang="fr-FR" sz="2400" b="1" dirty="0"/>
              <a:t> (</a:t>
            </a:r>
            <a:r>
              <a:rPr lang="fr-FR" sz="2400" b="1" dirty="0" err="1"/>
              <a:t>classic</a:t>
            </a:r>
            <a:r>
              <a:rPr lang="fr-FR" sz="2400" b="1" dirty="0"/>
              <a:t>)</a:t>
            </a:r>
            <a:r>
              <a:rPr lang="fr-FR" sz="2400" dirty="0"/>
              <a:t> → </a:t>
            </a:r>
            <a:r>
              <a:rPr lang="fr-FR" sz="2400" b="1" dirty="0" err="1"/>
              <a:t>Generate</a:t>
            </a:r>
            <a:r>
              <a:rPr lang="fr-FR" sz="2400" b="1" dirty="0"/>
              <a:t> new </a:t>
            </a:r>
            <a:r>
              <a:rPr lang="fr-FR" sz="2400" b="1" dirty="0" err="1" smtClean="0"/>
              <a:t>token</a:t>
            </a:r>
            <a:endParaRPr lang="fr-FR" sz="2400" b="1" dirty="0" smtClean="0"/>
          </a:p>
          <a:p>
            <a:pPr algn="just">
              <a:lnSpc>
                <a:spcPct val="150000"/>
              </a:lnSpc>
            </a:pPr>
            <a:r>
              <a:rPr lang="fr-FR" sz="2400" dirty="0"/>
              <a:t>Tu dois utiliser un </a:t>
            </a:r>
            <a:r>
              <a:rPr lang="fr-FR" sz="2400" b="1" dirty="0" err="1"/>
              <a:t>Personal</a:t>
            </a:r>
            <a:r>
              <a:rPr lang="fr-FR" sz="2400" b="1" dirty="0"/>
              <a:t> Access </a:t>
            </a:r>
            <a:r>
              <a:rPr lang="fr-FR" sz="2400" b="1" dirty="0" err="1"/>
              <a:t>Token</a:t>
            </a:r>
            <a:r>
              <a:rPr lang="fr-FR" sz="2400" b="1" dirty="0"/>
              <a:t> (PAT)</a:t>
            </a:r>
            <a:r>
              <a:rPr lang="fr-FR" sz="2400" dirty="0"/>
              <a:t> </a:t>
            </a:r>
            <a:r>
              <a:rPr lang="fr-FR" sz="2400" dirty="0" smtClean="0"/>
              <a:t>: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Va sur GitHub → </a:t>
            </a:r>
            <a:r>
              <a:rPr lang="fr-FR" sz="2400" b="1" dirty="0"/>
              <a:t>Settings → </a:t>
            </a:r>
            <a:r>
              <a:rPr lang="fr-FR" sz="2400" b="1" dirty="0" err="1"/>
              <a:t>Developer</a:t>
            </a:r>
            <a:r>
              <a:rPr lang="fr-FR" sz="2400" b="1" dirty="0"/>
              <a:t> settings → </a:t>
            </a:r>
            <a:r>
              <a:rPr lang="fr-FR" sz="2400" b="1" dirty="0" err="1"/>
              <a:t>Personal</a:t>
            </a:r>
            <a:r>
              <a:rPr lang="fr-FR" sz="2400" b="1" dirty="0"/>
              <a:t> </a:t>
            </a:r>
            <a:r>
              <a:rPr lang="fr-FR" sz="2400" b="1" dirty="0" err="1"/>
              <a:t>access</a:t>
            </a:r>
            <a:r>
              <a:rPr lang="fr-FR" sz="2400" b="1" dirty="0"/>
              <a:t> </a:t>
            </a:r>
            <a:r>
              <a:rPr lang="fr-FR" sz="2400" b="1" dirty="0" err="1"/>
              <a:t>tokens</a:t>
            </a:r>
            <a:r>
              <a:rPr lang="fr-FR" sz="2400" b="1" dirty="0"/>
              <a:t> → </a:t>
            </a:r>
            <a:r>
              <a:rPr lang="fr-FR" sz="2400" b="1" dirty="0" err="1"/>
              <a:t>Tokens</a:t>
            </a:r>
            <a:r>
              <a:rPr lang="fr-FR" sz="2400" b="1" dirty="0"/>
              <a:t> (</a:t>
            </a:r>
            <a:r>
              <a:rPr lang="fr-FR" sz="2400" b="1" dirty="0" err="1"/>
              <a:t>classic</a:t>
            </a:r>
            <a:r>
              <a:rPr lang="fr-FR" sz="2400" b="1" dirty="0"/>
              <a:t>)</a:t>
            </a:r>
            <a:r>
              <a:rPr lang="fr-FR" sz="2400" dirty="0"/>
              <a:t> → </a:t>
            </a:r>
            <a:r>
              <a:rPr lang="fr-FR" sz="2400" b="1" dirty="0" err="1"/>
              <a:t>Generate</a:t>
            </a:r>
            <a:r>
              <a:rPr lang="fr-FR" sz="2400" b="1" dirty="0"/>
              <a:t> new </a:t>
            </a:r>
            <a:r>
              <a:rPr lang="fr-FR" sz="2400" b="1" dirty="0" err="1"/>
              <a:t>token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8794570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Cache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smtClean="0"/>
              <a:t>Repo</a:t>
            </a:r>
          </a:p>
          <a:p>
            <a:pPr algn="just">
              <a:lnSpc>
                <a:spcPct val="200000"/>
              </a:lnSpc>
            </a:pPr>
            <a:r>
              <a:rPr lang="fr-FR" sz="2800" dirty="0" smtClean="0"/>
              <a:t>Workflow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Copie le </a:t>
            </a:r>
            <a:r>
              <a:rPr lang="fr-FR" sz="2800" dirty="0" err="1"/>
              <a:t>token</a:t>
            </a:r>
            <a:r>
              <a:rPr lang="fr-FR" sz="2800" dirty="0"/>
              <a:t> et utilise-le comme </a:t>
            </a:r>
            <a:r>
              <a:rPr lang="fr-FR" sz="2800" b="1" dirty="0"/>
              <a:t>mot de passe</a:t>
            </a:r>
            <a:r>
              <a:rPr lang="fr-FR" sz="2800" dirty="0"/>
              <a:t> dans Eclipse.</a:t>
            </a:r>
          </a:p>
          <a:p>
            <a:pPr algn="just">
              <a:lnSpc>
                <a:spcPct val="200000"/>
              </a:lnSpc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39865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Partager un projet Eclipse vers GitHub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254" y="2093976"/>
            <a:ext cx="9637159" cy="38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270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Vérifier la </a:t>
            </a:r>
            <a:r>
              <a:rPr lang="fr-FR" dirty="0" smtClean="0"/>
              <a:t>connexion	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Tu peux tester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600" b="1" dirty="0"/>
              <a:t>Team → Pull</a:t>
            </a:r>
            <a:r>
              <a:rPr lang="fr-FR" sz="2600" dirty="0"/>
              <a:t> pour récupérer les </a:t>
            </a:r>
            <a:r>
              <a:rPr lang="fr-FR" sz="2600" dirty="0" smtClean="0"/>
              <a:t>changements	</a:t>
            </a:r>
          </a:p>
          <a:p>
            <a:pPr lvl="1" algn="just">
              <a:lnSpc>
                <a:spcPct val="200000"/>
              </a:lnSpc>
            </a:pPr>
            <a:r>
              <a:rPr lang="fr-FR" sz="2800" b="1" dirty="0"/>
              <a:t>T</a:t>
            </a:r>
            <a:r>
              <a:rPr lang="fr-FR" sz="2800" b="1" dirty="0" smtClean="0"/>
              <a:t>eam </a:t>
            </a:r>
            <a:r>
              <a:rPr lang="fr-FR" sz="2800" b="1" dirty="0"/>
              <a:t>→ Push</a:t>
            </a:r>
            <a:r>
              <a:rPr lang="fr-FR" sz="2800" dirty="0"/>
              <a:t> pour envoyer tes </a:t>
            </a:r>
            <a:r>
              <a:rPr lang="fr-FR" sz="2800" dirty="0" err="1" smtClean="0"/>
              <a:t>commits</a:t>
            </a:r>
            <a:endParaRPr lang="fr-FR" sz="2800" dirty="0" smtClean="0"/>
          </a:p>
          <a:p>
            <a:pPr lvl="1" algn="just">
              <a:lnSpc>
                <a:spcPct val="200000"/>
              </a:lnSpc>
            </a:pPr>
            <a:r>
              <a:rPr lang="fr-FR" sz="2800" b="1" smtClean="0"/>
              <a:t>Team </a:t>
            </a:r>
            <a:r>
              <a:rPr lang="fr-FR" sz="2800" b="1" dirty="0"/>
              <a:t>→ Push</a:t>
            </a:r>
            <a:r>
              <a:rPr lang="fr-FR" sz="2800" dirty="0"/>
              <a:t> pour envoyer tes </a:t>
            </a:r>
            <a:r>
              <a:rPr lang="fr-FR" sz="2800" dirty="0" err="1"/>
              <a:t>commits</a:t>
            </a:r>
            <a:endParaRPr lang="fr-FR" sz="2600" dirty="0"/>
          </a:p>
        </p:txBody>
      </p:sp>
    </p:spTree>
    <p:extLst>
      <p:ext uri="{BB962C8B-B14F-4D97-AF65-F5344CB8AC3E}">
        <p14:creationId xmlns:p14="http://schemas.microsoft.com/office/powerpoint/2010/main" val="1445582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340</TotalTime>
  <Words>2198</Words>
  <Application>Microsoft Office PowerPoint</Application>
  <PresentationFormat>Grand écran</PresentationFormat>
  <Paragraphs>347</Paragraphs>
  <Slides>104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104</vt:i4>
      </vt:variant>
    </vt:vector>
  </HeadingPairs>
  <TitlesOfParts>
    <vt:vector size="110" baseType="lpstr">
      <vt:lpstr>Arial</vt:lpstr>
      <vt:lpstr>Arial Unicode MS</vt:lpstr>
      <vt:lpstr>Georgia</vt:lpstr>
      <vt:lpstr>Trebuchet MS</vt:lpstr>
      <vt:lpstr>Wingdings</vt:lpstr>
      <vt:lpstr>Type de bois</vt:lpstr>
      <vt:lpstr>ALFRESCO</vt:lpstr>
      <vt:lpstr>Qu’est-ce qu’Alfresco ?</vt:lpstr>
      <vt:lpstr>Principales fonctionnalités</vt:lpstr>
      <vt:lpstr>Architecture technique</vt:lpstr>
      <vt:lpstr>Avantages d’Alfresco</vt:lpstr>
      <vt:lpstr>Cas d’utilisation</vt:lpstr>
      <vt:lpstr>Doc Offecielle</vt:lpstr>
      <vt:lpstr>En résumé</vt:lpstr>
      <vt:lpstr>Tests unitaires  &amp;  test de qualité</vt:lpstr>
      <vt:lpstr>Introduction</vt:lpstr>
      <vt:lpstr>Tests unitaires côté Spring Boot</vt:lpstr>
      <vt:lpstr>Dépendances</vt:lpstr>
      <vt:lpstr>Structure typique des tests</vt:lpstr>
      <vt:lpstr>Exemple de test unitaire simple</vt:lpstr>
      <vt:lpstr>Tests avec Mocking (Mockito)</vt:lpstr>
      <vt:lpstr>Tests d’intégration REST</vt:lpstr>
      <vt:lpstr>Vérification de la qualité du code</vt:lpstr>
      <vt:lpstr>SonarQube / SonarCloud</vt:lpstr>
      <vt:lpstr>Tests unitaires côté Angular (Frontend)</vt:lpstr>
      <vt:lpstr>Outils intégrés</vt:lpstr>
      <vt:lpstr>Exemple de test de composant</vt:lpstr>
      <vt:lpstr>Lancer les tests</vt:lpstr>
      <vt:lpstr>Qualité du code Angular</vt:lpstr>
      <vt:lpstr>RECAP</vt:lpstr>
      <vt:lpstr>Présentation PowerPoint</vt:lpstr>
      <vt:lpstr>Les contrats de communication</vt:lpstr>
      <vt:lpstr>Qu’est-ce qu’un contrat de communication ?</vt:lpstr>
      <vt:lpstr>Objectif</vt:lpstr>
      <vt:lpstr>Exemple contextuel (CNSS)</vt:lpstr>
      <vt:lpstr>Types de contrats et technologies associées</vt:lpstr>
      <vt:lpstr>Structure du contrat REST dans le projet</vt:lpstr>
      <vt:lpstr>Modèle partagé (exemple JSON attendu)</vt:lpstr>
      <vt:lpstr>Bonnes pratiques autour des contrats</vt:lpstr>
      <vt:lpstr>Standardiser les échanges</vt:lpstr>
      <vt:lpstr>Documenter les API</vt:lpstr>
      <vt:lpstr>Versionner les API</vt:lpstr>
      <vt:lpstr>Gérer les erreurs proprement</vt:lpstr>
      <vt:lpstr>Tests d’intégration</vt:lpstr>
      <vt:lpstr>Cas d’application CNSS</vt:lpstr>
      <vt:lpstr>Utiliser Swagger / OpenAPI dans Spring Boot</vt:lpstr>
      <vt:lpstr>Objectifs</vt:lpstr>
      <vt:lpstr>qu’est-ce que Swagger / OpenAPI ?</vt:lpstr>
      <vt:lpstr>Intégration dans un projet Spring Boot</vt:lpstr>
      <vt:lpstr>Lancer l’application</vt:lpstr>
      <vt:lpstr>Exemple concret CNSS Classe modèle : Affilie.java</vt:lpstr>
      <vt:lpstr>Contrôleur : AffilieController.java</vt:lpstr>
      <vt:lpstr>Résultat visuel</vt:lpstr>
      <vt:lpstr>Bonnes pratiques</vt:lpstr>
      <vt:lpstr>Utiliser les annotations Swagger pour enrichir la documentation</vt:lpstr>
      <vt:lpstr>Toujours documenter les codes de retour (200, 404, 500)</vt:lpstr>
      <vt:lpstr>Personnaliser la page Swagger (nom, description, contact)</vt:lpstr>
      <vt:lpstr>Utiliser Swagger comme contrat</vt:lpstr>
      <vt:lpstr>Conclusion</vt:lpstr>
      <vt:lpstr>gestion des logs dans un projet Spring Boot RESTful</vt:lpstr>
      <vt:lpstr>Objectif</vt:lpstr>
      <vt:lpstr>Dépendance Maven</vt:lpstr>
      <vt:lpstr>Exemple de configuration</vt:lpstr>
      <vt:lpstr>Exemple d’utilisation dans un contrôleur</vt:lpstr>
      <vt:lpstr>Les paramètres</vt:lpstr>
      <vt:lpstr>Exemple de structure finale du projet</vt:lpstr>
      <vt:lpstr>Exemple d’un filtre pour tracer toutes les requêtes</vt:lpstr>
      <vt:lpstr>Exemple de log produit</vt:lpstr>
      <vt:lpstr>Bonnes pratiques</vt:lpstr>
      <vt:lpstr>Interaction avec des API externes</vt:lpstr>
      <vt:lpstr>Objectifs</vt:lpstr>
      <vt:lpstr>Contexte CNSS </vt:lpstr>
      <vt:lpstr>Corps de la requête</vt:lpstr>
      <vt:lpstr>Réponse </vt:lpstr>
      <vt:lpstr>Communication Backend → API externe</vt:lpstr>
      <vt:lpstr>Étape 1 – Dépendance</vt:lpstr>
      <vt:lpstr>Étape 2 – Configuration d’un WebClient</vt:lpstr>
      <vt:lpstr>Étape 3 – Service pour appeler l’API externe</vt:lpstr>
      <vt:lpstr>Exemple d’objets de transfert (DTOs)</vt:lpstr>
      <vt:lpstr>Contrôleur pour déclencher un paiement</vt:lpstr>
      <vt:lpstr>Côté Angular (appel à ton backend CNSS)</vt:lpstr>
      <vt:lpstr>Bonnes pratiques</vt:lpstr>
      <vt:lpstr>Résumé</vt:lpstr>
      <vt:lpstr>Optimisation, déploiement &amp; bonnes pratiques</vt:lpstr>
      <vt:lpstr>Objectifs</vt:lpstr>
      <vt:lpstr>Tests &amp; validations</vt:lpstr>
      <vt:lpstr>Tests unitaires (Spring Boot + Angular)</vt:lpstr>
      <vt:lpstr>Tests d’intégration (API)</vt:lpstr>
      <vt:lpstr>Validation des entrées (Backend)</vt:lpstr>
      <vt:lpstr>Optimisation &amp; build</vt:lpstr>
      <vt:lpstr>Côté Angular </vt:lpstr>
      <vt:lpstr>Côté Spring Boot </vt:lpstr>
      <vt:lpstr>Déploiement</vt:lpstr>
      <vt:lpstr>Génération du package Spring Boot</vt:lpstr>
      <vt:lpstr>Déploiement du frontend Angular dans le backend :</vt:lpstr>
      <vt:lpstr>Déploiement sur serveur :</vt:lpstr>
      <vt:lpstr>TEST</vt:lpstr>
      <vt:lpstr>Bonnes pratiques &amp; architecture</vt:lpstr>
      <vt:lpstr>Architecture en couches</vt:lpstr>
      <vt:lpstr>Gestion des erreurs et logs</vt:lpstr>
      <vt:lpstr>Sécurité &amp; configuration</vt:lpstr>
      <vt:lpstr>Côté Angular</vt:lpstr>
      <vt:lpstr>Vérifier que Git est installé</vt:lpstr>
      <vt:lpstr>Vérifier le plugin EGit dans Eclipse</vt:lpstr>
      <vt:lpstr>Configurer ton identité Git</vt:lpstr>
      <vt:lpstr>Connecter Eclipse à ton dépôt GitHub</vt:lpstr>
      <vt:lpstr>Important : GitHub n’accepte plus les mots de passe.</vt:lpstr>
      <vt:lpstr>Cache </vt:lpstr>
      <vt:lpstr>Partager un projet Eclipse vers GitHub</vt:lpstr>
      <vt:lpstr>Vérifier la connexion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ALFRESCO</dc:title>
  <dc:creator>admin</dc:creator>
  <cp:lastModifiedBy>admin</cp:lastModifiedBy>
  <cp:revision>117</cp:revision>
  <dcterms:created xsi:type="dcterms:W3CDTF">2025-10-30T22:44:34Z</dcterms:created>
  <dcterms:modified xsi:type="dcterms:W3CDTF">2025-10-31T04:25:04Z</dcterms:modified>
</cp:coreProperties>
</file>