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C08AF-84E6-4329-8E67-FEA434B4707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3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4F6EE328-6AFF-436B-881F-213D56084544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2069A-09EE-4C7C-86A4-2314A404921D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6EE7F1-171E-411F-96CA-A251A21496E7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C98D-A273-4547-9B92-97D7769F71A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7CD67-0644-446C-B2AD-1C09BF34F286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80828-6983-48AD-9E27-CBD3696F837E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EFB91-0324-450E-B17F-36DC0ECCE413}" type="datetimeFigureOut">
              <a:rPr lang="en-US" dirty="0"/>
              <a:t>10/30/2025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E0FA7-C445-42F7-AF66-A4F5A6FC8A9C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AC5C5-1A57-4420-8AFB-CE41693A794B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52E37674-C1BA-4107-9B06-6D4CAC3A3DF5}" type="datetimeFigureOut">
              <a:rPr lang="en-US" dirty="0"/>
              <a:t>10/30/2025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n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/>
              <a:t>Sécurité et Authentification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8269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Objectif global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Low">
              <a:lnSpc>
                <a:spcPct val="200000"/>
              </a:lnSpc>
            </a:pPr>
            <a:r>
              <a:rPr lang="fr-FR" sz="2800" dirty="0"/>
              <a:t>Mettre en place un système complet d’authentification et d’autorisation basé sur </a:t>
            </a:r>
            <a:r>
              <a:rPr lang="fr-FR" sz="2800" b="1" dirty="0" err="1"/>
              <a:t>Spring</a:t>
            </a:r>
            <a:r>
              <a:rPr lang="fr-FR" sz="2800" b="1" dirty="0"/>
              <a:t> Security + JWT</a:t>
            </a:r>
            <a:r>
              <a:rPr lang="fr-FR" sz="2800" dirty="0"/>
              <a:t>, avec </a:t>
            </a:r>
            <a:r>
              <a:rPr lang="fr-FR" sz="2800" b="1" dirty="0"/>
              <a:t>intégration côté </a:t>
            </a:r>
            <a:r>
              <a:rPr lang="fr-FR" sz="2800" b="1" dirty="0" err="1"/>
              <a:t>Angular</a:t>
            </a:r>
            <a:r>
              <a:rPr lang="fr-FR" sz="2800" dirty="0"/>
              <a:t> pour protéger les routes et gérer la session utilisateur.</a:t>
            </a:r>
          </a:p>
        </p:txBody>
      </p:sp>
    </p:spTree>
    <p:extLst>
      <p:ext uri="{BB962C8B-B14F-4D97-AF65-F5344CB8AC3E}">
        <p14:creationId xmlns:p14="http://schemas.microsoft.com/office/powerpoint/2010/main" val="3720058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Introduction à </a:t>
            </a:r>
            <a:r>
              <a:rPr lang="fr-FR" dirty="0" err="1"/>
              <a:t>Spring</a:t>
            </a:r>
            <a:r>
              <a:rPr lang="fr-FR" dirty="0"/>
              <a:t> Security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Framework de sécurité officiel de </a:t>
            </a:r>
            <a:r>
              <a:rPr lang="fr-FR" sz="2800" dirty="0" err="1"/>
              <a:t>Spring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Gère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Authentification (vérification de l’identité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Autorisation (contrôle d’accès aux ressources</a:t>
            </a:r>
            <a:r>
              <a:rPr lang="fr-FR" sz="24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Protection contre les attaques (CSRF, XSS, etc.)</a:t>
            </a:r>
          </a:p>
        </p:txBody>
      </p:sp>
    </p:spTree>
    <p:extLst>
      <p:ext uri="{BB962C8B-B14F-4D97-AF65-F5344CB8AC3E}">
        <p14:creationId xmlns:p14="http://schemas.microsoft.com/office/powerpoint/2010/main" val="323791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54668" y="692696"/>
            <a:ext cx="7024744" cy="67314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r-FR" sz="2800" dirty="0"/>
              <a:t>Principaux concepts de </a:t>
            </a:r>
            <a:r>
              <a:rPr lang="fr-FR" sz="2800" dirty="0" err="1"/>
              <a:t>Spring</a:t>
            </a:r>
            <a:r>
              <a:rPr lang="fr-FR" sz="2800" dirty="0"/>
              <a:t> Security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32899" y="1556793"/>
            <a:ext cx="8895549" cy="4275837"/>
          </a:xfrm>
        </p:spPr>
        <p:txBody>
          <a:bodyPr>
            <a:normAutofit/>
          </a:bodyPr>
          <a:lstStyle/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b="1" dirty="0" smtClean="0"/>
              <a:t>Authentification</a:t>
            </a:r>
          </a:p>
          <a:p>
            <a:pPr marL="82296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Qui est l'utilisateur </a:t>
            </a:r>
            <a:r>
              <a:rPr lang="fr-FR" sz="2000" dirty="0" smtClean="0"/>
              <a:t>?</a:t>
            </a:r>
          </a:p>
          <a:p>
            <a:pPr marL="109728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1800" dirty="0" err="1"/>
              <a:t>Spring</a:t>
            </a:r>
            <a:r>
              <a:rPr lang="fr-FR" sz="1800" dirty="0"/>
              <a:t> Security vérifie l'identité d'un utilisateur via un </a:t>
            </a:r>
            <a:r>
              <a:rPr lang="fr-FR" sz="1800" b="1" dirty="0"/>
              <a:t>login</a:t>
            </a:r>
            <a:r>
              <a:rPr lang="fr-FR" sz="1800" dirty="0"/>
              <a:t> et un </a:t>
            </a:r>
            <a:r>
              <a:rPr lang="fr-FR" sz="1800" b="1" dirty="0"/>
              <a:t>mot de passe</a:t>
            </a:r>
            <a:r>
              <a:rPr lang="fr-FR" sz="1800" dirty="0"/>
              <a:t>.</a:t>
            </a:r>
            <a:endParaRPr lang="fr-FR" sz="1800" dirty="0" smtClean="0"/>
          </a:p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400" b="1" dirty="0" smtClean="0"/>
              <a:t>Autorisation</a:t>
            </a:r>
          </a:p>
          <a:p>
            <a:pPr marL="822960" lvl="1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2000" dirty="0"/>
              <a:t>Que peut faire l'utilisateur </a:t>
            </a:r>
            <a:r>
              <a:rPr lang="fr-FR" sz="2000" dirty="0" smtClean="0"/>
              <a:t>?</a:t>
            </a:r>
          </a:p>
          <a:p>
            <a:pPr marL="1097280" lvl="2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fr-FR" sz="1800" dirty="0" err="1"/>
              <a:t>Spring</a:t>
            </a:r>
            <a:r>
              <a:rPr lang="fr-FR" sz="1800" dirty="0"/>
              <a:t> Security définit des </a:t>
            </a:r>
            <a:r>
              <a:rPr lang="fr-FR" sz="1800" b="1" dirty="0"/>
              <a:t>règles d'accès</a:t>
            </a:r>
            <a:r>
              <a:rPr lang="fr-FR" sz="1800" dirty="0"/>
              <a:t> aux différentes routes de l'application.</a:t>
            </a:r>
            <a:endParaRPr lang="fr-FR" sz="1800" dirty="0" smtClean="0"/>
          </a:p>
          <a:p>
            <a:pPr marL="525780" indent="-457200" algn="just">
              <a:lnSpc>
                <a:spcPct val="150000"/>
              </a:lnSpc>
              <a:buFont typeface="+mj-lt"/>
              <a:buAutoNum type="arabicPeriod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060814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Installation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Dans pom.xml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732925" y="3004664"/>
            <a:ext cx="7027523" cy="15570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34065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Comportement par défaut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b="1" dirty="0" err="1"/>
              <a:t>Spring</a:t>
            </a:r>
            <a:r>
              <a:rPr lang="fr-FR" sz="2800" b="1" dirty="0"/>
              <a:t> Security </a:t>
            </a:r>
            <a:r>
              <a:rPr lang="fr-FR" sz="2800" dirty="0"/>
              <a:t>bloque toutes les routes par défaut</a:t>
            </a:r>
            <a:r>
              <a:rPr lang="fr-FR" sz="2800" dirty="0" smtClean="0"/>
              <a:t>.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Un utilisateur par défaut (</a:t>
            </a:r>
            <a:r>
              <a:rPr lang="fr-FR" sz="2800" b="1" dirty="0"/>
              <a:t>user</a:t>
            </a:r>
            <a:r>
              <a:rPr lang="fr-FR" sz="2800" dirty="0"/>
              <a:t>) est créé avec un mot de passe aléatoire affiché dans la console.</a:t>
            </a:r>
          </a:p>
        </p:txBody>
      </p:sp>
    </p:spTree>
    <p:extLst>
      <p:ext uri="{BB962C8B-B14F-4D97-AF65-F5344CB8AC3E}">
        <p14:creationId xmlns:p14="http://schemas.microsoft.com/office/powerpoint/2010/main" val="3198488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27778"/>
            <a:ext cx="10058400" cy="51196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Configuration personnalisée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56832" y="1350846"/>
            <a:ext cx="10058400" cy="4050792"/>
          </a:xfrm>
        </p:spPr>
        <p:txBody>
          <a:bodyPr/>
          <a:lstStyle/>
          <a:p>
            <a:r>
              <a:rPr lang="fr-FR" dirty="0"/>
              <a:t>Créer une classe SecurityConfig.java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60" y="1939307"/>
            <a:ext cx="10331981" cy="39991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220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522235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200" dirty="0" err="1"/>
              <a:t>UserDetailsService</a:t>
            </a:r>
            <a:r>
              <a:rPr lang="fr-FR" sz="3200" dirty="0"/>
              <a:t> et </a:t>
            </a:r>
            <a:r>
              <a:rPr lang="fr-FR" sz="3200" dirty="0" err="1"/>
              <a:t>PasswordEncoder</a:t>
            </a:r>
            <a:endParaRPr lang="fr-FR" sz="32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97928" y="1361121"/>
            <a:ext cx="10058400" cy="4050792"/>
          </a:xfrm>
        </p:spPr>
        <p:txBody>
          <a:bodyPr/>
          <a:lstStyle/>
          <a:p>
            <a:r>
              <a:rPr lang="fr-FR" dirty="0"/>
              <a:t>Permet d’authentifier un utilisateur depuis la base de données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928" y="1970208"/>
            <a:ext cx="10058399" cy="44922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45071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JWT (JSON Web </a:t>
            </a:r>
            <a:r>
              <a:rPr lang="fr-FR" dirty="0" err="1"/>
              <a:t>Token</a:t>
            </a:r>
            <a:r>
              <a:rPr lang="fr-FR" dirty="0"/>
              <a:t>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 err="1"/>
              <a:t>Spring</a:t>
            </a:r>
            <a:r>
              <a:rPr lang="fr-FR" sz="2800" dirty="0"/>
              <a:t> Security avec </a:t>
            </a:r>
            <a:r>
              <a:rPr lang="fr-FR" sz="2800" b="1" dirty="0"/>
              <a:t>JWT</a:t>
            </a:r>
            <a:r>
              <a:rPr lang="fr-FR" sz="2800" dirty="0"/>
              <a:t> (</a:t>
            </a:r>
            <a:r>
              <a:rPr lang="fr-FR" sz="2800" b="1" dirty="0"/>
              <a:t>JSON</a:t>
            </a:r>
            <a:r>
              <a:rPr lang="fr-FR" sz="2800" dirty="0"/>
              <a:t> </a:t>
            </a:r>
            <a:r>
              <a:rPr lang="fr-FR" sz="2800" b="1" dirty="0"/>
              <a:t>Web</a:t>
            </a:r>
            <a:r>
              <a:rPr lang="fr-FR" sz="2800" dirty="0"/>
              <a:t> </a:t>
            </a:r>
            <a:r>
              <a:rPr lang="fr-FR" sz="2800" b="1" dirty="0" err="1"/>
              <a:t>Token</a:t>
            </a:r>
            <a:r>
              <a:rPr lang="fr-FR" sz="2800" dirty="0"/>
              <a:t>) est une approche populaire pour sécuriser les API en </a:t>
            </a:r>
            <a:r>
              <a:rPr lang="fr-FR" sz="2800" dirty="0" err="1"/>
              <a:t>Spring</a:t>
            </a:r>
            <a:r>
              <a:rPr lang="fr-FR" sz="2800" dirty="0"/>
              <a:t> Boot. Elle permet l'authentification et l'autorisation sans avoir besoin de stocker les sessions côté serveur.</a:t>
            </a:r>
          </a:p>
          <a:p>
            <a:pPr algn="just">
              <a:lnSpc>
                <a:spcPct val="200000"/>
              </a:lnSpc>
            </a:pP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770487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Pourquoi JWT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Alternative aux sessions côté serveur</a:t>
            </a:r>
            <a:r>
              <a:rPr lang="fr-F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JWT = jeton signé contenant les informations de l’utilisateur</a:t>
            </a:r>
            <a:r>
              <a:rPr lang="fr-FR" sz="2400" dirty="0" smtClean="0"/>
              <a:t>.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Transporté dans les en-têtes (</a:t>
            </a:r>
            <a:r>
              <a:rPr lang="fr-FR" sz="2400" dirty="0" err="1"/>
              <a:t>Authorization</a:t>
            </a:r>
            <a:r>
              <a:rPr lang="fr-FR" sz="2400" dirty="0"/>
              <a:t>: </a:t>
            </a:r>
            <a:r>
              <a:rPr lang="fr-FR" sz="2400" dirty="0" err="1"/>
              <a:t>Bearer</a:t>
            </a:r>
            <a:r>
              <a:rPr lang="fr-FR" sz="2400" dirty="0"/>
              <a:t> &lt;</a:t>
            </a:r>
            <a:r>
              <a:rPr lang="fr-FR" sz="2400" dirty="0" err="1"/>
              <a:t>token</a:t>
            </a:r>
            <a:r>
              <a:rPr lang="fr-FR" sz="2400" dirty="0"/>
              <a:t>&gt;).</a:t>
            </a:r>
          </a:p>
        </p:txBody>
      </p:sp>
    </p:spTree>
    <p:extLst>
      <p:ext uri="{BB962C8B-B14F-4D97-AF65-F5344CB8AC3E}">
        <p14:creationId xmlns:p14="http://schemas.microsoft.com/office/powerpoint/2010/main" val="4166645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fr-FR" sz="3600" dirty="0"/>
              <a:t>Structure du JWT</a:t>
            </a:r>
            <a:br>
              <a:rPr lang="fr-FR" sz="3600" dirty="0"/>
            </a:br>
            <a:r>
              <a:rPr lang="fr-FR" sz="3600" dirty="0" err="1"/>
              <a:t>JWT</a:t>
            </a:r>
            <a:r>
              <a:rPr lang="fr-FR" sz="3600" dirty="0"/>
              <a:t> = Header + </a:t>
            </a:r>
            <a:r>
              <a:rPr lang="fr-FR" sz="3600" dirty="0" err="1"/>
              <a:t>Payload</a:t>
            </a:r>
            <a:r>
              <a:rPr lang="fr-FR" sz="3600" dirty="0"/>
              <a:t> + Signature</a:t>
            </a:r>
            <a:br>
              <a:rPr lang="fr-FR" sz="3600" dirty="0"/>
            </a:b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fr-FR" dirty="0"/>
              <a:t>Un </a:t>
            </a:r>
            <a:r>
              <a:rPr lang="fr-FR" b="1" dirty="0"/>
              <a:t>JWT</a:t>
            </a:r>
            <a:r>
              <a:rPr lang="fr-FR" dirty="0"/>
              <a:t> est une </a:t>
            </a:r>
            <a:r>
              <a:rPr lang="fr-FR" b="1" dirty="0"/>
              <a:t>chaîne de caractères encodée</a:t>
            </a:r>
            <a:r>
              <a:rPr lang="fr-FR" dirty="0"/>
              <a:t> en </a:t>
            </a:r>
            <a:r>
              <a:rPr lang="fr-FR" b="1" dirty="0"/>
              <a:t>Base64: </a:t>
            </a:r>
            <a:r>
              <a:rPr lang="fr-FR" b="1" dirty="0" err="1" smtClean="0"/>
              <a:t>xxxxx.yyyyy.zzzzz</a:t>
            </a:r>
            <a:endParaRPr lang="fr-FR" b="1" dirty="0" smtClean="0"/>
          </a:p>
          <a:p>
            <a:pPr lvl="1">
              <a:lnSpc>
                <a:spcPct val="150000"/>
              </a:lnSpc>
            </a:pPr>
            <a:r>
              <a:rPr lang="fr-FR" b="1" dirty="0" err="1"/>
              <a:t>xxxxx</a:t>
            </a:r>
            <a:r>
              <a:rPr lang="fr-FR" dirty="0"/>
              <a:t> → </a:t>
            </a:r>
            <a:r>
              <a:rPr lang="fr-FR" dirty="0" smtClean="0"/>
              <a:t>Header</a:t>
            </a:r>
          </a:p>
          <a:p>
            <a:pPr lvl="1">
              <a:lnSpc>
                <a:spcPct val="150000"/>
              </a:lnSpc>
            </a:pPr>
            <a:r>
              <a:rPr lang="fr-FR" b="1" dirty="0" err="1"/>
              <a:t>yyyyy</a:t>
            </a:r>
            <a:r>
              <a:rPr lang="fr-FR" dirty="0"/>
              <a:t> → </a:t>
            </a:r>
            <a:r>
              <a:rPr lang="fr-FR" dirty="0" err="1" smtClean="0"/>
              <a:t>Payload</a:t>
            </a:r>
            <a:endParaRPr lang="fr-FR" dirty="0" smtClean="0"/>
          </a:p>
          <a:p>
            <a:pPr lvl="1">
              <a:lnSpc>
                <a:spcPct val="150000"/>
              </a:lnSpc>
            </a:pPr>
            <a:r>
              <a:rPr lang="fr-FR" b="1" dirty="0" err="1"/>
              <a:t>zzzzz</a:t>
            </a:r>
            <a:r>
              <a:rPr lang="fr-FR" dirty="0"/>
              <a:t> → </a:t>
            </a:r>
            <a:r>
              <a:rPr lang="fr-FR" dirty="0" smtClean="0"/>
              <a:t>Signature</a:t>
            </a:r>
          </a:p>
          <a:p>
            <a:pPr>
              <a:lnSpc>
                <a:spcPct val="150000"/>
              </a:lnSpc>
            </a:pPr>
            <a:r>
              <a:rPr lang="fr-FR" dirty="0"/>
              <a:t>Exemple :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380198" y="4465302"/>
            <a:ext cx="6554912" cy="15553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840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Header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36284" y="976044"/>
            <a:ext cx="10058400" cy="4702996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Le </a:t>
            </a:r>
            <a:r>
              <a:rPr lang="fr-FR" sz="2400" b="1" dirty="0"/>
              <a:t>Header</a:t>
            </a:r>
            <a:r>
              <a:rPr lang="fr-FR" sz="2400" dirty="0"/>
              <a:t> indique </a:t>
            </a:r>
            <a:r>
              <a:rPr lang="fr-FR" sz="2400" b="1" dirty="0"/>
              <a:t>le type de </a:t>
            </a:r>
            <a:r>
              <a:rPr lang="fr-FR" sz="2400" b="1" dirty="0" err="1"/>
              <a:t>token</a:t>
            </a:r>
            <a:r>
              <a:rPr lang="fr-FR" sz="2400" dirty="0"/>
              <a:t> et </a:t>
            </a:r>
            <a:r>
              <a:rPr lang="fr-FR" sz="2400" b="1" dirty="0"/>
              <a:t>l’algorithme de signature</a:t>
            </a:r>
            <a:r>
              <a:rPr lang="fr-FR" sz="2400" dirty="0"/>
              <a:t> utilisé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 smtClean="0"/>
              <a:t> </a:t>
            </a:r>
            <a:r>
              <a:rPr lang="fr-FR" sz="2400" dirty="0"/>
              <a:t>Exemple (en JSON) </a:t>
            </a:r>
            <a:r>
              <a:rPr lang="fr-FR" sz="2400" dirty="0" smtClean="0"/>
              <a:t>:	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{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  "</a:t>
            </a:r>
            <a:r>
              <a:rPr lang="fr-FR" sz="2000" b="1" dirty="0" err="1"/>
              <a:t>alg</a:t>
            </a:r>
            <a:r>
              <a:rPr lang="fr-FR" sz="2000" b="1" dirty="0"/>
              <a:t>": "HS256",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/>
              <a:t>  "</a:t>
            </a:r>
            <a:r>
              <a:rPr lang="fr-FR" sz="2000" b="1" dirty="0" err="1"/>
              <a:t>typ</a:t>
            </a:r>
            <a:r>
              <a:rPr lang="fr-FR" sz="2000" b="1" dirty="0"/>
              <a:t>": "JWT"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smtClean="0"/>
              <a:t>}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alg</a:t>
            </a:r>
            <a:r>
              <a:rPr lang="fr-FR" sz="2000" dirty="0"/>
              <a:t> → l’algorithme de signature (ici HMAC-SHA256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sz="2000" b="1" dirty="0" err="1"/>
              <a:t>typ</a:t>
            </a:r>
            <a:r>
              <a:rPr lang="fr-FR" sz="2000" dirty="0"/>
              <a:t> → le type du </a:t>
            </a:r>
            <a:r>
              <a:rPr lang="fr-FR" sz="2000" dirty="0" err="1"/>
              <a:t>token</a:t>
            </a:r>
            <a:r>
              <a:rPr lang="fr-FR" sz="2000" dirty="0"/>
              <a:t> (JWT</a:t>
            </a:r>
            <a:r>
              <a:rPr lang="fr-FR" sz="2000" dirty="0" smtClean="0"/>
              <a:t>)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Ce header est ensuite </a:t>
            </a:r>
            <a:r>
              <a:rPr lang="fr-FR" sz="2400" b="1" dirty="0"/>
              <a:t>encodé en Base64Url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361227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8662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Payload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89753"/>
            <a:ext cx="10058400" cy="4682447"/>
          </a:xfrm>
        </p:spPr>
        <p:txBody>
          <a:bodyPr>
            <a:normAutofit/>
          </a:bodyPr>
          <a:lstStyle/>
          <a:p>
            <a:r>
              <a:rPr lang="fr-FR" dirty="0"/>
              <a:t>Le </a:t>
            </a:r>
            <a:r>
              <a:rPr lang="fr-FR" b="1" dirty="0" err="1"/>
              <a:t>Payload</a:t>
            </a:r>
            <a:r>
              <a:rPr lang="fr-FR" dirty="0"/>
              <a:t> contient les </a:t>
            </a:r>
            <a:r>
              <a:rPr lang="fr-FR" b="1" dirty="0"/>
              <a:t>données (claims)</a:t>
            </a:r>
            <a:r>
              <a:rPr lang="fr-FR" dirty="0"/>
              <a:t>, c’est-à-dire les informations que le </a:t>
            </a:r>
            <a:r>
              <a:rPr lang="fr-FR" dirty="0" err="1"/>
              <a:t>token</a:t>
            </a:r>
            <a:r>
              <a:rPr lang="fr-FR" dirty="0"/>
              <a:t> transporte</a:t>
            </a:r>
            <a:r>
              <a:rPr lang="fr-FR" dirty="0" smtClean="0"/>
              <a:t>.</a:t>
            </a:r>
          </a:p>
          <a:p>
            <a:r>
              <a:rPr lang="fr-FR" dirty="0"/>
              <a:t>Exemple </a:t>
            </a:r>
            <a:r>
              <a:rPr lang="fr-FR" dirty="0" smtClean="0"/>
              <a:t>:</a:t>
            </a:r>
          </a:p>
          <a:p>
            <a:pPr lvl="1"/>
            <a:r>
              <a:rPr lang="fr-FR" b="1" dirty="0"/>
              <a:t>{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sub</a:t>
            </a:r>
            <a:r>
              <a:rPr lang="fr-FR" b="1" dirty="0"/>
              <a:t>": "1234567890",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name</a:t>
            </a:r>
            <a:r>
              <a:rPr lang="fr-FR" b="1" dirty="0"/>
              <a:t>": "Tarik",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role</a:t>
            </a:r>
            <a:r>
              <a:rPr lang="fr-FR" b="1" dirty="0"/>
              <a:t>": "admin",</a:t>
            </a:r>
          </a:p>
          <a:p>
            <a:pPr lvl="1"/>
            <a:r>
              <a:rPr lang="fr-FR" b="1" dirty="0"/>
              <a:t>  "</a:t>
            </a:r>
            <a:r>
              <a:rPr lang="fr-FR" b="1" dirty="0" err="1"/>
              <a:t>iat</a:t>
            </a:r>
            <a:r>
              <a:rPr lang="fr-FR" b="1" dirty="0"/>
              <a:t>": 1716049200</a:t>
            </a:r>
          </a:p>
          <a:p>
            <a:pPr lvl="1"/>
            <a:r>
              <a:rPr lang="fr-FR" b="1" dirty="0" smtClean="0"/>
              <a:t>}</a:t>
            </a:r>
          </a:p>
          <a:p>
            <a:pPr lvl="2"/>
            <a:r>
              <a:rPr lang="fr-FR" b="1" dirty="0" err="1"/>
              <a:t>sub</a:t>
            </a:r>
            <a:r>
              <a:rPr lang="fr-FR" dirty="0"/>
              <a:t> → identifiant du sujet (user ID, par ex</a:t>
            </a:r>
            <a:r>
              <a:rPr lang="fr-FR" dirty="0" smtClean="0"/>
              <a:t>.)</a:t>
            </a:r>
          </a:p>
          <a:p>
            <a:pPr lvl="2"/>
            <a:r>
              <a:rPr lang="fr-FR" b="1" dirty="0" err="1"/>
              <a:t>name</a:t>
            </a:r>
            <a:r>
              <a:rPr lang="fr-FR" dirty="0"/>
              <a:t> → nom de </a:t>
            </a:r>
            <a:r>
              <a:rPr lang="fr-FR" dirty="0" smtClean="0"/>
              <a:t>l’utilisateur</a:t>
            </a:r>
          </a:p>
          <a:p>
            <a:pPr lvl="2"/>
            <a:r>
              <a:rPr lang="fr-FR" b="1" dirty="0" err="1"/>
              <a:t>role</a:t>
            </a:r>
            <a:r>
              <a:rPr lang="fr-FR" dirty="0"/>
              <a:t> → rôle ou </a:t>
            </a:r>
            <a:r>
              <a:rPr lang="fr-FR" dirty="0" smtClean="0"/>
              <a:t>permissions</a:t>
            </a:r>
          </a:p>
          <a:p>
            <a:pPr lvl="2"/>
            <a:r>
              <a:rPr lang="fr-FR" b="1" dirty="0" err="1"/>
              <a:t>iat</a:t>
            </a:r>
            <a:r>
              <a:rPr lang="fr-FR" dirty="0"/>
              <a:t> → "</a:t>
            </a:r>
            <a:r>
              <a:rPr lang="fr-FR" dirty="0" err="1"/>
              <a:t>issued</a:t>
            </a:r>
            <a:r>
              <a:rPr lang="fr-FR" dirty="0"/>
              <a:t> at" (date de création du </a:t>
            </a:r>
            <a:r>
              <a:rPr lang="fr-FR" dirty="0" err="1"/>
              <a:t>token</a:t>
            </a:r>
            <a:r>
              <a:rPr lang="fr-FR" dirty="0" smtClean="0"/>
              <a:t>)</a:t>
            </a:r>
          </a:p>
          <a:p>
            <a:pPr lvl="1"/>
            <a:r>
              <a:rPr lang="fr-FR" dirty="0"/>
              <a:t>Ces données sont </a:t>
            </a:r>
            <a:r>
              <a:rPr lang="fr-FR" b="1" dirty="0"/>
              <a:t>visibles</a:t>
            </a:r>
            <a:r>
              <a:rPr lang="fr-FR" dirty="0"/>
              <a:t> (non chiffrées) — simplement encodées.</a:t>
            </a:r>
          </a:p>
        </p:txBody>
      </p:sp>
    </p:spTree>
    <p:extLst>
      <p:ext uri="{BB962C8B-B14F-4D97-AF65-F5344CB8AC3E}">
        <p14:creationId xmlns:p14="http://schemas.microsoft.com/office/powerpoint/2010/main" val="4226342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76407"/>
            <a:ext cx="10058400" cy="799638"/>
          </a:xfrm>
        </p:spPr>
        <p:txBody>
          <a:bodyPr/>
          <a:lstStyle/>
          <a:p>
            <a:pPr algn="ctr"/>
            <a:r>
              <a:rPr lang="fr-FR" dirty="0"/>
              <a:t>Signature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212351"/>
            <a:ext cx="10058400" cy="495984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La </a:t>
            </a:r>
            <a:r>
              <a:rPr lang="fr-FR" b="1" dirty="0"/>
              <a:t>Signature</a:t>
            </a:r>
            <a:r>
              <a:rPr lang="fr-FR" dirty="0"/>
              <a:t> sert à vérifier que le </a:t>
            </a:r>
            <a:r>
              <a:rPr lang="fr-FR" dirty="0" err="1"/>
              <a:t>token</a:t>
            </a:r>
            <a:r>
              <a:rPr lang="fr-FR" dirty="0"/>
              <a:t>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N’a </a:t>
            </a:r>
            <a:r>
              <a:rPr lang="fr-FR" b="1" dirty="0"/>
              <a:t>pas été modifié</a:t>
            </a:r>
            <a:r>
              <a:rPr lang="fr-FR" dirty="0" smtClean="0"/>
              <a:t>,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Et qu’il vient bien du </a:t>
            </a:r>
            <a:r>
              <a:rPr lang="fr-FR" b="1" dirty="0"/>
              <a:t>serveur de confiance</a:t>
            </a:r>
            <a:r>
              <a:rPr lang="fr-FR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Elle est créée à partir de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Signature = HMACSHA256(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    base64UrlEncode(header) + "." + base64UrlEncode(</a:t>
            </a:r>
            <a:r>
              <a:rPr lang="fr-FR" b="1" dirty="0" err="1"/>
              <a:t>payload</a:t>
            </a:r>
            <a:r>
              <a:rPr lang="fr-FR" b="1" dirty="0"/>
              <a:t>),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    secret</a:t>
            </a:r>
          </a:p>
          <a:p>
            <a:pPr lvl="1" algn="just">
              <a:lnSpc>
                <a:spcPct val="150000"/>
              </a:lnSpc>
            </a:pPr>
            <a:r>
              <a:rPr lang="fr-FR" b="1" dirty="0" smtClean="0"/>
              <a:t>)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Le </a:t>
            </a:r>
            <a:r>
              <a:rPr lang="fr-FR" b="1" dirty="0"/>
              <a:t>secret</a:t>
            </a:r>
            <a:r>
              <a:rPr lang="fr-FR" dirty="0"/>
              <a:t> est une clé connue uniquement du serveur.</a:t>
            </a:r>
          </a:p>
        </p:txBody>
      </p:sp>
    </p:spTree>
    <p:extLst>
      <p:ext uri="{BB962C8B-B14F-4D97-AF65-F5344CB8AC3E}">
        <p14:creationId xmlns:p14="http://schemas.microsoft.com/office/powerpoint/2010/main" val="9027126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En 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9" y="2270590"/>
            <a:ext cx="9687194" cy="350348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37584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40734"/>
          </a:xfrm>
        </p:spPr>
        <p:txBody>
          <a:bodyPr/>
          <a:lstStyle/>
          <a:p>
            <a:pPr algn="ctr"/>
            <a:r>
              <a:rPr lang="fr-FR" dirty="0" smtClean="0"/>
              <a:t>Les bonnes pratiques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1643864"/>
            <a:ext cx="9851581" cy="45103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6947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58541"/>
          </a:xfrm>
        </p:spPr>
        <p:txBody>
          <a:bodyPr/>
          <a:lstStyle/>
          <a:p>
            <a:pPr algn="ctr"/>
            <a:r>
              <a:rPr lang="fr-FR" dirty="0" smtClean="0"/>
              <a:t>Dépendances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10301" y="1469204"/>
            <a:ext cx="9709079" cy="45094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945633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Rôles 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7" y="2198670"/>
            <a:ext cx="9574179" cy="33904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79117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Résumé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b="1" dirty="0" err="1"/>
              <a:t>jjwt</a:t>
            </a:r>
            <a:r>
              <a:rPr lang="fr-FR" sz="2400" b="1" dirty="0"/>
              <a:t>-api</a:t>
            </a:r>
            <a:r>
              <a:rPr lang="fr-FR" sz="2400" dirty="0"/>
              <a:t> → je définis comment construire un </a:t>
            </a:r>
            <a:r>
              <a:rPr lang="fr-FR" sz="2400" dirty="0" smtClean="0"/>
              <a:t>JWT</a:t>
            </a:r>
          </a:p>
          <a:p>
            <a:pPr>
              <a:lnSpc>
                <a:spcPct val="200000"/>
              </a:lnSpc>
            </a:pPr>
            <a:r>
              <a:rPr lang="fr-FR" sz="2400" b="1" dirty="0" err="1"/>
              <a:t>jjwt-impl</a:t>
            </a:r>
            <a:r>
              <a:rPr lang="fr-FR" sz="2400" dirty="0"/>
              <a:t> → je sais faire le travail (signature, </a:t>
            </a:r>
            <a:r>
              <a:rPr lang="fr-FR" sz="2400" dirty="0" err="1"/>
              <a:t>parsing</a:t>
            </a:r>
            <a:r>
              <a:rPr lang="fr-FR" sz="2400" dirty="0"/>
              <a:t>, vérification</a:t>
            </a:r>
            <a:r>
              <a:rPr lang="fr-FR" sz="2400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fr-FR" sz="2400" b="1" dirty="0" err="1"/>
              <a:t>jjwt-jackson</a:t>
            </a:r>
            <a:r>
              <a:rPr lang="fr-FR" sz="2400" dirty="0"/>
              <a:t> → je sais lire et écrire le contenu JSON du </a:t>
            </a:r>
            <a:r>
              <a:rPr lang="fr-FR" sz="2400" dirty="0" smtClean="0"/>
              <a:t>JWT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Ces trois modules ensemble forment la </a:t>
            </a:r>
            <a:r>
              <a:rPr lang="fr-FR" sz="2400" b="1" dirty="0"/>
              <a:t>librairie complète et fonctionnelle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8630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99697"/>
            <a:ext cx="10058400" cy="696896"/>
          </a:xfrm>
        </p:spPr>
        <p:txBody>
          <a:bodyPr>
            <a:noAutofit/>
          </a:bodyPr>
          <a:lstStyle/>
          <a:p>
            <a:pPr algn="ctr"/>
            <a:r>
              <a:rPr lang="fr-FR" sz="2800" dirty="0"/>
              <a:t>Génération du </a:t>
            </a:r>
            <a:r>
              <a:rPr lang="fr-FR" sz="2800" dirty="0" err="1"/>
              <a:t>Token</a:t>
            </a:r>
            <a:r>
              <a:rPr lang="fr-FR" sz="2800" dirty="0"/>
              <a:t> (Back-end</a:t>
            </a:r>
            <a:r>
              <a:rPr lang="fr-FR" sz="2800" dirty="0" smtClean="0"/>
              <a:t>)</a:t>
            </a:r>
            <a:br>
              <a:rPr lang="fr-FR" sz="2800" dirty="0" smtClean="0"/>
            </a:br>
            <a:r>
              <a:rPr lang="fr-FR" sz="2800" dirty="0"/>
              <a:t>Classe utilitaire JwtUtils.java :</a:t>
            </a:r>
            <a:br>
              <a:rPr lang="fr-FR" sz="2800" dirty="0"/>
            </a:br>
            <a:endParaRPr lang="fr-FR" sz="2800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466" y="996593"/>
            <a:ext cx="10398782" cy="55891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97428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97929" y="207229"/>
            <a:ext cx="10058400" cy="501687"/>
          </a:xfrm>
        </p:spPr>
        <p:txBody>
          <a:bodyPr>
            <a:noAutofit/>
          </a:bodyPr>
          <a:lstStyle/>
          <a:p>
            <a:pPr algn="ctr"/>
            <a:r>
              <a:rPr lang="fr-FR" sz="2800" dirty="0"/>
              <a:t>Filtre </a:t>
            </a:r>
            <a:r>
              <a:rPr lang="fr-FR" sz="2800" dirty="0" smtClean="0"/>
              <a:t>d’authentification</a:t>
            </a:r>
            <a:r>
              <a:rPr lang="fr-FR" sz="2800" dirty="0"/>
              <a:t/>
            </a:r>
            <a:br>
              <a:rPr lang="fr-FR" sz="2800" dirty="0"/>
            </a:br>
            <a:r>
              <a:rPr lang="fr-FR" sz="2800" dirty="0"/>
              <a:t>Classe JwtAuthFilter.java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0836" y="976045"/>
            <a:ext cx="10376899" cy="55377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527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Mise à jour </a:t>
            </a:r>
            <a:r>
              <a:rPr lang="fr-FR" dirty="0"/>
              <a:t>de </a:t>
            </a:r>
            <a:r>
              <a:rPr lang="fr-FR" dirty="0" err="1"/>
              <a:t>SecurityConfig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Ajouter</a:t>
            </a:r>
          </a:p>
          <a:p>
            <a:endParaRPr lang="fr-FR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63699" y="2933621"/>
            <a:ext cx="8270697" cy="8575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3263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6000" dirty="0"/>
              <a:t>Intégration côté </a:t>
            </a:r>
            <a:r>
              <a:rPr lang="fr-FR" sz="6000" dirty="0" err="1"/>
              <a:t>Angular</a:t>
            </a:r>
            <a:endParaRPr lang="fr-FR" sz="60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3699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676348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600" dirty="0"/>
              <a:t>Création du service d’authentification</a:t>
            </a:r>
            <a:br>
              <a:rPr lang="fr-FR" sz="3600" dirty="0"/>
            </a:br>
            <a:r>
              <a:rPr lang="fr-FR" sz="3600" dirty="0" err="1"/>
              <a:t>auth.service.ts</a:t>
            </a:r>
            <a:endParaRPr lang="fr-FR" sz="36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1945" y="1479479"/>
            <a:ext cx="9339209" cy="49829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659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378397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Intercepteur HTTP</a:t>
            </a:r>
            <a:br>
              <a:rPr lang="fr-FR" dirty="0"/>
            </a:br>
            <a:r>
              <a:rPr lang="fr-FR" dirty="0" err="1"/>
              <a:t>auth.interceptor.ts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89893"/>
            <a:ext cx="10058400" cy="4050792"/>
          </a:xfrm>
        </p:spPr>
        <p:txBody>
          <a:bodyPr/>
          <a:lstStyle/>
          <a:p>
            <a:r>
              <a:rPr lang="fr-FR" dirty="0"/>
              <a:t>Permet d’ajouter automatiquement le </a:t>
            </a:r>
            <a:r>
              <a:rPr lang="fr-FR" dirty="0" err="1"/>
              <a:t>token</a:t>
            </a:r>
            <a:r>
              <a:rPr lang="fr-FR" dirty="0"/>
              <a:t> JWT dans chaque requête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738" y="2379598"/>
            <a:ext cx="8938516" cy="39903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2887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 smtClean="0"/>
              <a:t>Mise à jour </a:t>
            </a:r>
            <a:r>
              <a:rPr lang="fr-FR" sz="4000" dirty="0" err="1" smtClean="0"/>
              <a:t>app.module.ts</a:t>
            </a:r>
            <a:r>
              <a:rPr lang="fr-FR" sz="4000" dirty="0" smtClean="0"/>
              <a:t> ou </a:t>
            </a:r>
            <a:r>
              <a:rPr lang="fr-FR" sz="4000" dirty="0" err="1" smtClean="0"/>
              <a:t>main.ts</a:t>
            </a:r>
            <a:endParaRPr lang="fr-FR" sz="40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30626" y="2584174"/>
            <a:ext cx="9312965" cy="16165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036485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Guards</a:t>
            </a:r>
            <a:r>
              <a:rPr lang="fr-FR" dirty="0"/>
              <a:t>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Pourquoi les </a:t>
            </a:r>
            <a:r>
              <a:rPr lang="fr-FR" sz="2800" b="1" dirty="0" err="1" smtClean="0"/>
              <a:t>Guards</a:t>
            </a:r>
            <a:r>
              <a:rPr lang="fr-FR" sz="2800" dirty="0" smtClean="0"/>
              <a:t> ?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Ils permettent </a:t>
            </a:r>
            <a:r>
              <a:rPr lang="fr-FR" sz="2400" dirty="0" smtClean="0"/>
              <a:t>: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De bloquer l’accès à une route si l’utilisateur n’est pas authentifié</a:t>
            </a:r>
            <a:r>
              <a:rPr lang="fr-FR" sz="2000" dirty="0" smtClean="0"/>
              <a:t>.</a:t>
            </a:r>
          </a:p>
          <a:p>
            <a:pPr lvl="2" algn="just">
              <a:lnSpc>
                <a:spcPct val="200000"/>
              </a:lnSpc>
            </a:pPr>
            <a:r>
              <a:rPr lang="fr-FR" sz="2000" dirty="0"/>
              <a:t>De rediriger automatiquement vers /login.</a:t>
            </a:r>
          </a:p>
        </p:txBody>
      </p:sp>
    </p:spTree>
    <p:extLst>
      <p:ext uri="{BB962C8B-B14F-4D97-AF65-F5344CB8AC3E}">
        <p14:creationId xmlns:p14="http://schemas.microsoft.com/office/powerpoint/2010/main" val="29258624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6769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Exemple de </a:t>
            </a:r>
            <a:r>
              <a:rPr lang="fr-FR" dirty="0" err="1" smtClean="0"/>
              <a:t>Guard</a:t>
            </a:r>
            <a:r>
              <a:rPr lang="fr-FR" dirty="0"/>
              <a:t/>
            </a:r>
            <a:br>
              <a:rPr lang="fr-FR" dirty="0"/>
            </a:br>
            <a:r>
              <a:rPr lang="fr-FR" dirty="0" err="1"/>
              <a:t>auth.guard.ts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808922"/>
            <a:ext cx="9183757" cy="42141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872765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 smtClean="0"/>
              <a:t>Mise à jour </a:t>
            </a:r>
            <a:r>
              <a:rPr lang="fr-FR" dirty="0"/>
              <a:t>de </a:t>
            </a:r>
            <a:r>
              <a:rPr lang="fr-FR" dirty="0" err="1"/>
              <a:t>app-routing</a:t>
            </a:r>
            <a:r>
              <a:rPr lang="fr-FR" dirty="0" smtClean="0"/>
              <a:t>..</a:t>
            </a:r>
            <a:r>
              <a:rPr lang="fr-FR" dirty="0" err="1"/>
              <a:t>ts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01541" y="2598821"/>
            <a:ext cx="9519385" cy="199542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63829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Résumé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69848" y="2021305"/>
            <a:ext cx="10058400" cy="384048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715253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Wood Type">
      <a:majorFont>
        <a:latin typeface="Georgia" panose="020405020504050203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rebuchet MS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C6AE0645-98FF-411B-B0E9-59ABD78A0CC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92</TotalTime>
  <Words>571</Words>
  <Application>Microsoft Office PowerPoint</Application>
  <PresentationFormat>Grand écran</PresentationFormat>
  <Paragraphs>97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5" baseType="lpstr">
      <vt:lpstr>Arial</vt:lpstr>
      <vt:lpstr>Georgia</vt:lpstr>
      <vt:lpstr>Trebuchet MS</vt:lpstr>
      <vt:lpstr>Wingdings</vt:lpstr>
      <vt:lpstr>Type de bois</vt:lpstr>
      <vt:lpstr>Sécurité et Authentification</vt:lpstr>
      <vt:lpstr>Objectif global</vt:lpstr>
      <vt:lpstr>Introduction à Spring Security</vt:lpstr>
      <vt:lpstr>Principaux concepts de Spring Security</vt:lpstr>
      <vt:lpstr>Installation</vt:lpstr>
      <vt:lpstr>Comportement par défaut</vt:lpstr>
      <vt:lpstr>Configuration personnalisée</vt:lpstr>
      <vt:lpstr>UserDetailsService et PasswordEncoder</vt:lpstr>
      <vt:lpstr>JWT (JSON Web Token)</vt:lpstr>
      <vt:lpstr>Pourquoi JWT ?</vt:lpstr>
      <vt:lpstr>Structure du JWT JWT = Header + Payload + Signature </vt:lpstr>
      <vt:lpstr>Header</vt:lpstr>
      <vt:lpstr>Payload</vt:lpstr>
      <vt:lpstr>Signature</vt:lpstr>
      <vt:lpstr>En résumé</vt:lpstr>
      <vt:lpstr>Les bonnes pratiques</vt:lpstr>
      <vt:lpstr>Dépendances</vt:lpstr>
      <vt:lpstr>Rôles </vt:lpstr>
      <vt:lpstr>Résumé</vt:lpstr>
      <vt:lpstr>Génération du Token (Back-end) Classe utilitaire JwtUtils.java : </vt:lpstr>
      <vt:lpstr>Filtre d’authentification Classe JwtAuthFilter.java</vt:lpstr>
      <vt:lpstr>Mise à jour de SecurityConfig</vt:lpstr>
      <vt:lpstr>Intégration côté Angular</vt:lpstr>
      <vt:lpstr>Création du service d’authentification auth.service.ts</vt:lpstr>
      <vt:lpstr>Intercepteur HTTP auth.interceptor.ts</vt:lpstr>
      <vt:lpstr>Mise à jour app.module.ts ou main.ts</vt:lpstr>
      <vt:lpstr>Guards Angular</vt:lpstr>
      <vt:lpstr>Exemple de Guard auth.guard.ts</vt:lpstr>
      <vt:lpstr>Mise à jour de app-routing..ts</vt:lpstr>
      <vt:lpstr>Résumé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Sécurité et Authentification</dc:title>
  <dc:creator>admin</dc:creator>
  <cp:lastModifiedBy>admin</cp:lastModifiedBy>
  <cp:revision>32</cp:revision>
  <dcterms:created xsi:type="dcterms:W3CDTF">2025-10-30T05:11:34Z</dcterms:created>
  <dcterms:modified xsi:type="dcterms:W3CDTF">2025-10-30T06:44:08Z</dcterms:modified>
</cp:coreProperties>
</file>